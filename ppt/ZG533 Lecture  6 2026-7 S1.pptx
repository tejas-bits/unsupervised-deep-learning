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63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5-11-30T06:33:53.6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16034 6429 0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631436" y="4911852"/>
            <a:ext cx="2329180" cy="38100"/>
          </a:xfrm>
          <a:custGeom>
            <a:avLst/>
            <a:gdLst/>
            <a:ahLst/>
            <a:cxnLst/>
            <a:rect l="l" t="t" r="r" b="b"/>
            <a:pathLst>
              <a:path w="2329179" h="38100">
                <a:moveTo>
                  <a:pt x="2328671" y="0"/>
                </a:moveTo>
                <a:lnTo>
                  <a:pt x="0" y="0"/>
                </a:lnTo>
                <a:lnTo>
                  <a:pt x="0" y="38100"/>
                </a:lnTo>
                <a:lnTo>
                  <a:pt x="2328671" y="38100"/>
                </a:lnTo>
                <a:lnTo>
                  <a:pt x="2328671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908292" y="4911852"/>
            <a:ext cx="2235835" cy="35560"/>
          </a:xfrm>
          <a:custGeom>
            <a:avLst/>
            <a:gdLst/>
            <a:ahLst/>
            <a:cxnLst/>
            <a:rect l="l" t="t" r="r" b="b"/>
            <a:pathLst>
              <a:path w="2235834" h="35560">
                <a:moveTo>
                  <a:pt x="2235707" y="0"/>
                </a:moveTo>
                <a:lnTo>
                  <a:pt x="0" y="0"/>
                </a:lnTo>
                <a:lnTo>
                  <a:pt x="0" y="35052"/>
                </a:lnTo>
                <a:lnTo>
                  <a:pt x="2235707" y="35052"/>
                </a:lnTo>
                <a:lnTo>
                  <a:pt x="2235707" y="0"/>
                </a:lnTo>
                <a:close/>
              </a:path>
            </a:pathLst>
          </a:custGeom>
          <a:solidFill>
            <a:srgbClr val="E21C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55751" y="315595"/>
            <a:ext cx="2521585" cy="436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78787"/>
                </a:solidFill>
                <a:latin typeface="Arial"/>
                <a:cs typeface="Arial"/>
              </a:defRPr>
            </a:lvl1pPr>
          </a:lstStyle>
          <a:p>
            <a:pPr marL="1981835">
              <a:lnSpc>
                <a:spcPts val="940"/>
              </a:lnSpc>
              <a:spcBef>
                <a:spcPts val="15"/>
              </a:spcBef>
            </a:pPr>
            <a:r>
              <a:rPr spc="-50" dirty="0"/>
              <a:t>1</a:t>
            </a:r>
          </a:p>
          <a:p>
            <a:pPr marL="1146810">
              <a:lnSpc>
                <a:spcPts val="940"/>
              </a:lnSpc>
            </a:pPr>
            <a:r>
              <a:rPr sz="800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00" b="1" spc="1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0F1141"/>
                </a:solidFill>
              </a:rPr>
              <a:t>Pilani,</a:t>
            </a:r>
            <a:r>
              <a:rPr sz="800" spc="75" dirty="0">
                <a:solidFill>
                  <a:srgbClr val="0F1141"/>
                </a:solidFill>
              </a:rPr>
              <a:t> </a:t>
            </a:r>
            <a:r>
              <a:rPr sz="800" spc="-10" dirty="0">
                <a:solidFill>
                  <a:srgbClr val="0F1141"/>
                </a:solidFill>
              </a:rPr>
              <a:t>Pilani</a:t>
            </a:r>
            <a:fld id="{81D60167-4931-47E6-BA6A-407CBD079E47}" type="slidenum">
              <a:rPr sz="1350" spc="-15" baseline="-18518" dirty="0"/>
              <a:t>‹#›</a:t>
            </a:fld>
            <a:r>
              <a:rPr sz="800" spc="-10" dirty="0">
                <a:solidFill>
                  <a:srgbClr val="0F1141"/>
                </a:solidFill>
              </a:rPr>
              <a:t>Campus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78787"/>
                </a:solidFill>
                <a:latin typeface="Arial"/>
                <a:cs typeface="Arial"/>
              </a:defRPr>
            </a:lvl1pPr>
          </a:lstStyle>
          <a:p>
            <a:pPr marL="1981835">
              <a:lnSpc>
                <a:spcPts val="940"/>
              </a:lnSpc>
              <a:spcBef>
                <a:spcPts val="15"/>
              </a:spcBef>
            </a:pPr>
            <a:r>
              <a:rPr spc="-50" dirty="0"/>
              <a:t>1</a:t>
            </a:r>
          </a:p>
          <a:p>
            <a:pPr marL="1146810">
              <a:lnSpc>
                <a:spcPts val="940"/>
              </a:lnSpc>
            </a:pPr>
            <a:r>
              <a:rPr sz="800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00" b="1" spc="1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0F1141"/>
                </a:solidFill>
              </a:rPr>
              <a:t>Pilani,</a:t>
            </a:r>
            <a:r>
              <a:rPr sz="800" spc="75" dirty="0">
                <a:solidFill>
                  <a:srgbClr val="0F1141"/>
                </a:solidFill>
              </a:rPr>
              <a:t> </a:t>
            </a:r>
            <a:r>
              <a:rPr sz="800" spc="-10" dirty="0">
                <a:solidFill>
                  <a:srgbClr val="0F1141"/>
                </a:solidFill>
              </a:rPr>
              <a:t>Pilani</a:t>
            </a:r>
            <a:fld id="{81D60167-4931-47E6-BA6A-407CBD079E47}" type="slidenum">
              <a:rPr sz="1350" spc="-15" baseline="-18518" dirty="0"/>
              <a:t>‹#›</a:t>
            </a:fld>
            <a:r>
              <a:rPr sz="800" spc="-10" dirty="0">
                <a:solidFill>
                  <a:srgbClr val="0F1141"/>
                </a:solidFill>
              </a:rPr>
              <a:t>Campus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78787"/>
                </a:solidFill>
                <a:latin typeface="Arial"/>
                <a:cs typeface="Arial"/>
              </a:defRPr>
            </a:lvl1pPr>
          </a:lstStyle>
          <a:p>
            <a:pPr marL="1981835">
              <a:lnSpc>
                <a:spcPts val="940"/>
              </a:lnSpc>
              <a:spcBef>
                <a:spcPts val="15"/>
              </a:spcBef>
            </a:pPr>
            <a:r>
              <a:rPr spc="-50" dirty="0"/>
              <a:t>1</a:t>
            </a:r>
          </a:p>
          <a:p>
            <a:pPr marL="1146810">
              <a:lnSpc>
                <a:spcPts val="940"/>
              </a:lnSpc>
            </a:pPr>
            <a:r>
              <a:rPr sz="800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00" b="1" spc="1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0F1141"/>
                </a:solidFill>
              </a:rPr>
              <a:t>Pilani,</a:t>
            </a:r>
            <a:r>
              <a:rPr sz="800" spc="75" dirty="0">
                <a:solidFill>
                  <a:srgbClr val="0F1141"/>
                </a:solidFill>
              </a:rPr>
              <a:t> </a:t>
            </a:r>
            <a:r>
              <a:rPr sz="800" spc="-10" dirty="0">
                <a:solidFill>
                  <a:srgbClr val="0F1141"/>
                </a:solidFill>
              </a:rPr>
              <a:t>Pilani</a:t>
            </a:r>
            <a:fld id="{81D60167-4931-47E6-BA6A-407CBD079E47}" type="slidenum">
              <a:rPr sz="1350" spc="-15" baseline="-18518" dirty="0"/>
              <a:t>‹#›</a:t>
            </a:fld>
            <a:r>
              <a:rPr sz="800" spc="-10" dirty="0">
                <a:solidFill>
                  <a:srgbClr val="0F1141"/>
                </a:solidFill>
              </a:rPr>
              <a:t>Campus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78787"/>
                </a:solidFill>
                <a:latin typeface="Arial"/>
                <a:cs typeface="Arial"/>
              </a:defRPr>
            </a:lvl1pPr>
          </a:lstStyle>
          <a:p>
            <a:pPr marL="1981835">
              <a:lnSpc>
                <a:spcPts val="940"/>
              </a:lnSpc>
              <a:spcBef>
                <a:spcPts val="15"/>
              </a:spcBef>
            </a:pPr>
            <a:r>
              <a:rPr spc="-50" dirty="0"/>
              <a:t>1</a:t>
            </a:r>
          </a:p>
          <a:p>
            <a:pPr marL="1146810">
              <a:lnSpc>
                <a:spcPts val="940"/>
              </a:lnSpc>
            </a:pPr>
            <a:r>
              <a:rPr sz="800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00" b="1" spc="1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0F1141"/>
                </a:solidFill>
              </a:rPr>
              <a:t>Pilani,</a:t>
            </a:r>
            <a:r>
              <a:rPr sz="800" spc="75" dirty="0">
                <a:solidFill>
                  <a:srgbClr val="0F1141"/>
                </a:solidFill>
              </a:rPr>
              <a:t> </a:t>
            </a:r>
            <a:r>
              <a:rPr sz="800" spc="-10" dirty="0">
                <a:solidFill>
                  <a:srgbClr val="0F1141"/>
                </a:solidFill>
              </a:rPr>
              <a:t>Pilani</a:t>
            </a:r>
            <a:fld id="{81D60167-4931-47E6-BA6A-407CBD079E47}" type="slidenum">
              <a:rPr sz="1350" spc="-15" baseline="-18518" dirty="0"/>
              <a:t>‹#›</a:t>
            </a:fld>
            <a:r>
              <a:rPr sz="800" spc="-10" dirty="0">
                <a:solidFill>
                  <a:srgbClr val="0F1141"/>
                </a:solidFill>
              </a:rPr>
              <a:t>Campus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878787"/>
                </a:solidFill>
                <a:latin typeface="Arial"/>
                <a:cs typeface="Arial"/>
              </a:defRPr>
            </a:lvl1pPr>
          </a:lstStyle>
          <a:p>
            <a:pPr marL="1981835">
              <a:lnSpc>
                <a:spcPts val="940"/>
              </a:lnSpc>
              <a:spcBef>
                <a:spcPts val="15"/>
              </a:spcBef>
            </a:pPr>
            <a:r>
              <a:rPr spc="-50" dirty="0"/>
              <a:t>1</a:t>
            </a:r>
          </a:p>
          <a:p>
            <a:pPr marL="1146810">
              <a:lnSpc>
                <a:spcPts val="940"/>
              </a:lnSpc>
            </a:pPr>
            <a:r>
              <a:rPr sz="800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00" b="1" spc="1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0F1141"/>
                </a:solidFill>
              </a:rPr>
              <a:t>Pilani,</a:t>
            </a:r>
            <a:r>
              <a:rPr sz="800" spc="75" dirty="0">
                <a:solidFill>
                  <a:srgbClr val="0F1141"/>
                </a:solidFill>
              </a:rPr>
              <a:t> </a:t>
            </a:r>
            <a:r>
              <a:rPr sz="800" spc="-10" dirty="0">
                <a:solidFill>
                  <a:srgbClr val="0F1141"/>
                </a:solidFill>
              </a:rPr>
              <a:t>Pilani</a:t>
            </a:r>
            <a:fld id="{81D60167-4931-47E6-BA6A-407CBD079E47}" type="slidenum">
              <a:rPr sz="1350" spc="-15" baseline="-18518" dirty="0"/>
              <a:t>‹#›</a:t>
            </a:fld>
            <a:r>
              <a:rPr sz="800" spc="-10" dirty="0">
                <a:solidFill>
                  <a:srgbClr val="0F1141"/>
                </a:solidFill>
              </a:rPr>
              <a:t>Campus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631436" y="4911852"/>
            <a:ext cx="2329180" cy="38100"/>
          </a:xfrm>
          <a:custGeom>
            <a:avLst/>
            <a:gdLst/>
            <a:ahLst/>
            <a:cxnLst/>
            <a:rect l="l" t="t" r="r" b="b"/>
            <a:pathLst>
              <a:path w="2329179" h="38100">
                <a:moveTo>
                  <a:pt x="2328671" y="0"/>
                </a:moveTo>
                <a:lnTo>
                  <a:pt x="0" y="0"/>
                </a:lnTo>
                <a:lnTo>
                  <a:pt x="0" y="38100"/>
                </a:lnTo>
                <a:lnTo>
                  <a:pt x="2328671" y="38100"/>
                </a:lnTo>
                <a:lnTo>
                  <a:pt x="2328671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908291" y="4911852"/>
            <a:ext cx="2235835" cy="35560"/>
          </a:xfrm>
          <a:custGeom>
            <a:avLst/>
            <a:gdLst/>
            <a:ahLst/>
            <a:cxnLst/>
            <a:rect l="l" t="t" r="r" b="b"/>
            <a:pathLst>
              <a:path w="2235834" h="35560">
                <a:moveTo>
                  <a:pt x="2235707" y="0"/>
                </a:moveTo>
                <a:lnTo>
                  <a:pt x="0" y="0"/>
                </a:lnTo>
                <a:lnTo>
                  <a:pt x="0" y="35052"/>
                </a:lnTo>
                <a:lnTo>
                  <a:pt x="2235707" y="35052"/>
                </a:lnTo>
                <a:lnTo>
                  <a:pt x="2235707" y="0"/>
                </a:lnTo>
                <a:close/>
              </a:path>
            </a:pathLst>
          </a:custGeom>
          <a:solidFill>
            <a:srgbClr val="E21C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084832" y="4911852"/>
            <a:ext cx="2580640" cy="38100"/>
          </a:xfrm>
          <a:custGeom>
            <a:avLst/>
            <a:gdLst/>
            <a:ahLst/>
            <a:cxnLst/>
            <a:rect l="l" t="t" r="r" b="b"/>
            <a:pathLst>
              <a:path w="2580640" h="38100">
                <a:moveTo>
                  <a:pt x="2580132" y="0"/>
                </a:moveTo>
                <a:lnTo>
                  <a:pt x="0" y="0"/>
                </a:lnTo>
                <a:lnTo>
                  <a:pt x="0" y="38100"/>
                </a:lnTo>
                <a:lnTo>
                  <a:pt x="2580132" y="38100"/>
                </a:lnTo>
                <a:lnTo>
                  <a:pt x="2580132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4495800" y="4914900"/>
            <a:ext cx="2329180" cy="35560"/>
          </a:xfrm>
          <a:custGeom>
            <a:avLst/>
            <a:gdLst/>
            <a:ahLst/>
            <a:cxnLst/>
            <a:rect l="l" t="t" r="r" b="b"/>
            <a:pathLst>
              <a:path w="2329179" h="35560">
                <a:moveTo>
                  <a:pt x="2328672" y="0"/>
                </a:moveTo>
                <a:lnTo>
                  <a:pt x="0" y="0"/>
                </a:lnTo>
                <a:lnTo>
                  <a:pt x="0" y="35052"/>
                </a:lnTo>
                <a:lnTo>
                  <a:pt x="2328672" y="35052"/>
                </a:lnTo>
                <a:lnTo>
                  <a:pt x="2328672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2133600" y="4914900"/>
            <a:ext cx="2362200" cy="35560"/>
          </a:xfrm>
          <a:custGeom>
            <a:avLst/>
            <a:gdLst/>
            <a:ahLst/>
            <a:cxnLst/>
            <a:rect l="l" t="t" r="r" b="b"/>
            <a:pathLst>
              <a:path w="2362200" h="35560">
                <a:moveTo>
                  <a:pt x="2362200" y="0"/>
                </a:moveTo>
                <a:lnTo>
                  <a:pt x="0" y="0"/>
                </a:lnTo>
                <a:lnTo>
                  <a:pt x="0" y="35052"/>
                </a:lnTo>
                <a:lnTo>
                  <a:pt x="2362200" y="35052"/>
                </a:lnTo>
                <a:lnTo>
                  <a:pt x="2362200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6815328" y="4914900"/>
            <a:ext cx="2329180" cy="35560"/>
          </a:xfrm>
          <a:custGeom>
            <a:avLst/>
            <a:gdLst/>
            <a:ahLst/>
            <a:cxnLst/>
            <a:rect l="l" t="t" r="r" b="b"/>
            <a:pathLst>
              <a:path w="2329179" h="35560">
                <a:moveTo>
                  <a:pt x="2328672" y="0"/>
                </a:moveTo>
                <a:lnTo>
                  <a:pt x="0" y="0"/>
                </a:lnTo>
                <a:lnTo>
                  <a:pt x="0" y="35052"/>
                </a:lnTo>
                <a:lnTo>
                  <a:pt x="2328672" y="35052"/>
                </a:lnTo>
                <a:lnTo>
                  <a:pt x="232867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629400" y="0"/>
            <a:ext cx="2194559" cy="519684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2362200" y="972311"/>
            <a:ext cx="2329180" cy="33655"/>
          </a:xfrm>
          <a:custGeom>
            <a:avLst/>
            <a:gdLst/>
            <a:ahLst/>
            <a:cxnLst/>
            <a:rect l="l" t="t" r="r" b="b"/>
            <a:pathLst>
              <a:path w="2329179" h="33655">
                <a:moveTo>
                  <a:pt x="2328672" y="0"/>
                </a:moveTo>
                <a:lnTo>
                  <a:pt x="0" y="0"/>
                </a:lnTo>
                <a:lnTo>
                  <a:pt x="0" y="33527"/>
                </a:lnTo>
                <a:lnTo>
                  <a:pt x="2328672" y="33527"/>
                </a:lnTo>
                <a:lnTo>
                  <a:pt x="2328672" y="0"/>
                </a:lnTo>
                <a:close/>
              </a:path>
            </a:pathLst>
          </a:custGeom>
          <a:solidFill>
            <a:srgbClr val="76C2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0" y="972311"/>
            <a:ext cx="2362200" cy="33655"/>
          </a:xfrm>
          <a:custGeom>
            <a:avLst/>
            <a:gdLst/>
            <a:ahLst/>
            <a:cxnLst/>
            <a:rect l="l" t="t" r="r" b="b"/>
            <a:pathLst>
              <a:path w="2362200" h="33655">
                <a:moveTo>
                  <a:pt x="2362200" y="0"/>
                </a:moveTo>
                <a:lnTo>
                  <a:pt x="0" y="0"/>
                </a:lnTo>
                <a:lnTo>
                  <a:pt x="0" y="33527"/>
                </a:lnTo>
                <a:lnTo>
                  <a:pt x="2362200" y="33527"/>
                </a:lnTo>
                <a:lnTo>
                  <a:pt x="2362200" y="0"/>
                </a:lnTo>
                <a:close/>
              </a:path>
            </a:pathLst>
          </a:custGeom>
          <a:solidFill>
            <a:srgbClr val="FBAF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4681728" y="972311"/>
            <a:ext cx="2329180" cy="33655"/>
          </a:xfrm>
          <a:custGeom>
            <a:avLst/>
            <a:gdLst/>
            <a:ahLst/>
            <a:cxnLst/>
            <a:rect l="l" t="t" r="r" b="b"/>
            <a:pathLst>
              <a:path w="2329179" h="33655">
                <a:moveTo>
                  <a:pt x="2328672" y="0"/>
                </a:moveTo>
                <a:lnTo>
                  <a:pt x="0" y="0"/>
                </a:lnTo>
                <a:lnTo>
                  <a:pt x="0" y="33527"/>
                </a:lnTo>
                <a:lnTo>
                  <a:pt x="2328672" y="33527"/>
                </a:lnTo>
                <a:lnTo>
                  <a:pt x="232867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55751" y="125095"/>
            <a:ext cx="5871845" cy="7791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94461" y="1069594"/>
            <a:ext cx="7365365" cy="332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667881" y="4728221"/>
            <a:ext cx="2419476" cy="4384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878787"/>
                </a:solidFill>
                <a:latin typeface="Arial"/>
                <a:cs typeface="Arial"/>
              </a:defRPr>
            </a:lvl1pPr>
          </a:lstStyle>
          <a:p>
            <a:pPr marL="1981835">
              <a:lnSpc>
                <a:spcPts val="940"/>
              </a:lnSpc>
              <a:spcBef>
                <a:spcPts val="15"/>
              </a:spcBef>
            </a:pPr>
            <a:r>
              <a:rPr spc="-50" dirty="0"/>
              <a:t>1</a:t>
            </a:r>
          </a:p>
          <a:p>
            <a:pPr marL="1146810">
              <a:lnSpc>
                <a:spcPts val="940"/>
              </a:lnSpc>
            </a:pPr>
            <a:r>
              <a:rPr sz="800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00" b="1" spc="1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0F1141"/>
                </a:solidFill>
              </a:rPr>
              <a:t>Pilani,</a:t>
            </a:r>
            <a:r>
              <a:rPr sz="800" spc="75" dirty="0">
                <a:solidFill>
                  <a:srgbClr val="0F1141"/>
                </a:solidFill>
              </a:rPr>
              <a:t> </a:t>
            </a:r>
            <a:r>
              <a:rPr sz="800" spc="-10" dirty="0">
                <a:solidFill>
                  <a:srgbClr val="0F1141"/>
                </a:solidFill>
              </a:rPr>
              <a:t>Pilani</a:t>
            </a:r>
            <a:fld id="{81D60167-4931-47E6-BA6A-407CBD079E47}" type="slidenum">
              <a:rPr sz="1350" spc="-15" baseline="-18518" dirty="0"/>
              <a:t>‹#›</a:t>
            </a:fld>
            <a:r>
              <a:rPr sz="800" spc="-10" dirty="0">
                <a:solidFill>
                  <a:srgbClr val="0F1141"/>
                </a:solidFill>
              </a:rPr>
              <a:t>Campus</a:t>
            </a:r>
            <a:endParaRPr sz="800">
              <a:latin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udlbook/udlbook/tree/main/Notebooks/Chap16" TargetMode="External"/><Relationship Id="rId5" Type="http://schemas.openxmlformats.org/officeDocument/2006/relationships/hyperlink" Target="https://blog.evjang.com/2018/01/nf1.html" TargetMode="External"/><Relationship Id="rId4" Type="http://schemas.openxmlformats.org/officeDocument/2006/relationships/hyperlink" Target="https://lilianweng.github.io/posts/2018-10-13-flow-models/#linear-algebra-basics-recap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22.jp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.jpg"/><Relationship Id="rId5" Type="http://schemas.openxmlformats.org/officeDocument/2006/relationships/image" Target="../media/image20.jp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jpg"/><Relationship Id="rId3" Type="http://schemas.openxmlformats.org/officeDocument/2006/relationships/image" Target="../media/image23.jpg"/><Relationship Id="rId7" Type="http://schemas.openxmlformats.org/officeDocument/2006/relationships/image" Target="../media/image27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32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3.jpg"/><Relationship Id="rId7" Type="http://schemas.openxmlformats.org/officeDocument/2006/relationships/image" Target="../media/image36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.jpg"/><Relationship Id="rId11" Type="http://schemas.openxmlformats.org/officeDocument/2006/relationships/image" Target="../media/image40.png"/><Relationship Id="rId5" Type="http://schemas.openxmlformats.org/officeDocument/2006/relationships/image" Target="../media/image35.jpg"/><Relationship Id="rId10" Type="http://schemas.openxmlformats.org/officeDocument/2006/relationships/image" Target="../media/image39.png"/><Relationship Id="rId4" Type="http://schemas.openxmlformats.org/officeDocument/2006/relationships/image" Target="../media/image34.jpg"/><Relationship Id="rId9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44.jp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jpg"/><Relationship Id="rId4" Type="http://schemas.openxmlformats.org/officeDocument/2006/relationships/image" Target="../media/image4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7" Type="http://schemas.openxmlformats.org/officeDocument/2006/relationships/image" Target="../media/image22.jp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jpg"/><Relationship Id="rId5" Type="http://schemas.openxmlformats.org/officeDocument/2006/relationships/image" Target="../media/image47.jpg"/><Relationship Id="rId4" Type="http://schemas.openxmlformats.org/officeDocument/2006/relationships/image" Target="../media/image46.jp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jpg"/><Relationship Id="rId13" Type="http://schemas.openxmlformats.org/officeDocument/2006/relationships/image" Target="../media/image71.png"/><Relationship Id="rId3" Type="http://schemas.openxmlformats.org/officeDocument/2006/relationships/image" Target="../media/image48.jpg"/><Relationship Id="rId7" Type="http://schemas.openxmlformats.org/officeDocument/2006/relationships/image" Target="../media/image50.jp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g"/><Relationship Id="rId11" Type="http://schemas.openxmlformats.org/officeDocument/2006/relationships/customXml" Target="../ink/ink1.xml"/><Relationship Id="rId5" Type="http://schemas.openxmlformats.org/officeDocument/2006/relationships/image" Target="../media/image22.jpg"/><Relationship Id="rId10" Type="http://schemas.openxmlformats.org/officeDocument/2006/relationships/image" Target="../media/image53.jpg"/><Relationship Id="rId4" Type="http://schemas.openxmlformats.org/officeDocument/2006/relationships/image" Target="../media/image49.jpg"/><Relationship Id="rId9" Type="http://schemas.openxmlformats.org/officeDocument/2006/relationships/image" Target="../media/image5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44.jpg"/><Relationship Id="rId4" Type="http://schemas.openxmlformats.org/officeDocument/2006/relationships/image" Target="../media/image4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44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g"/><Relationship Id="rId5" Type="http://schemas.openxmlformats.org/officeDocument/2006/relationships/image" Target="../media/image22.jpg"/><Relationship Id="rId4" Type="http://schemas.openxmlformats.org/officeDocument/2006/relationships/image" Target="../media/image46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6.jpg"/><Relationship Id="rId4" Type="http://schemas.openxmlformats.org/officeDocument/2006/relationships/image" Target="../media/image21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jpg"/><Relationship Id="rId4" Type="http://schemas.openxmlformats.org/officeDocument/2006/relationships/image" Target="../media/image21.jp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0.png"/><Relationship Id="rId7" Type="http://schemas.openxmlformats.org/officeDocument/2006/relationships/image" Target="../media/image7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0.jp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8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jp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90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jp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3.jp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12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13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114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grpSp>
        <p:nvGrpSpPr>
          <p:cNvPr id="2" name="object 2"/>
          <p:cNvGrpSpPr/>
          <p:nvPr/>
        </p:nvGrpSpPr>
        <p:grpSpPr>
          <a:xfrm>
            <a:off x="-4572" y="0"/>
            <a:ext cx="9153525" cy="5148580"/>
            <a:chOff x="-4572" y="0"/>
            <a:chExt cx="9153525" cy="5148580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9144000" cy="514349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3211067"/>
              <a:ext cx="9144000" cy="1932939"/>
            </a:xfrm>
            <a:custGeom>
              <a:avLst/>
              <a:gdLst/>
              <a:ahLst/>
              <a:cxnLst/>
              <a:rect l="l" t="t" r="r" b="b"/>
              <a:pathLst>
                <a:path w="9144000" h="1932939">
                  <a:moveTo>
                    <a:pt x="9144000" y="0"/>
                  </a:moveTo>
                  <a:lnTo>
                    <a:pt x="0" y="0"/>
                  </a:lnTo>
                  <a:lnTo>
                    <a:pt x="0" y="1932432"/>
                  </a:lnTo>
                  <a:lnTo>
                    <a:pt x="9144000" y="193243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211067"/>
              <a:ext cx="9144000" cy="1932939"/>
            </a:xfrm>
            <a:custGeom>
              <a:avLst/>
              <a:gdLst/>
              <a:ahLst/>
              <a:cxnLst/>
              <a:rect l="l" t="t" r="r" b="b"/>
              <a:pathLst>
                <a:path w="9144000" h="1932939">
                  <a:moveTo>
                    <a:pt x="0" y="1932432"/>
                  </a:moveTo>
                  <a:lnTo>
                    <a:pt x="9144000" y="1932432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1932432"/>
                  </a:lnTo>
                  <a:close/>
                </a:path>
              </a:pathLst>
            </a:custGeom>
            <a:ln w="9144">
              <a:solidFill>
                <a:srgbClr val="497C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29399" y="0"/>
              <a:ext cx="2194559" cy="51968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883407" y="5081015"/>
              <a:ext cx="2895600" cy="58419"/>
            </a:xfrm>
            <a:custGeom>
              <a:avLst/>
              <a:gdLst/>
              <a:ahLst/>
              <a:cxnLst/>
              <a:rect l="l" t="t" r="r" b="b"/>
              <a:pathLst>
                <a:path w="2895600" h="58420">
                  <a:moveTo>
                    <a:pt x="2895599" y="0"/>
                  </a:moveTo>
                  <a:lnTo>
                    <a:pt x="0" y="0"/>
                  </a:lnTo>
                  <a:lnTo>
                    <a:pt x="0" y="57912"/>
                  </a:lnTo>
                  <a:lnTo>
                    <a:pt x="2895599" y="57912"/>
                  </a:lnTo>
                  <a:lnTo>
                    <a:pt x="2895599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5081015"/>
              <a:ext cx="2883535" cy="58419"/>
            </a:xfrm>
            <a:custGeom>
              <a:avLst/>
              <a:gdLst/>
              <a:ahLst/>
              <a:cxnLst/>
              <a:rect l="l" t="t" r="r" b="b"/>
              <a:pathLst>
                <a:path w="2883535" h="58420">
                  <a:moveTo>
                    <a:pt x="2883408" y="0"/>
                  </a:moveTo>
                  <a:lnTo>
                    <a:pt x="0" y="0"/>
                  </a:lnTo>
                  <a:lnTo>
                    <a:pt x="0" y="57912"/>
                  </a:lnTo>
                  <a:lnTo>
                    <a:pt x="2883408" y="57912"/>
                  </a:lnTo>
                  <a:lnTo>
                    <a:pt x="2883408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79007" y="5081015"/>
              <a:ext cx="2895600" cy="58419"/>
            </a:xfrm>
            <a:custGeom>
              <a:avLst/>
              <a:gdLst/>
              <a:ahLst/>
              <a:cxnLst/>
              <a:rect l="l" t="t" r="r" b="b"/>
              <a:pathLst>
                <a:path w="2895600" h="58420">
                  <a:moveTo>
                    <a:pt x="2895599" y="0"/>
                  </a:moveTo>
                  <a:lnTo>
                    <a:pt x="0" y="0"/>
                  </a:lnTo>
                  <a:lnTo>
                    <a:pt x="0" y="57912"/>
                  </a:lnTo>
                  <a:lnTo>
                    <a:pt x="2895599" y="57912"/>
                  </a:lnTo>
                  <a:lnTo>
                    <a:pt x="2895599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7143368" y="585292"/>
            <a:ext cx="1524000" cy="47498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30175">
              <a:lnSpc>
                <a:spcPts val="2505"/>
              </a:lnSpc>
              <a:spcBef>
                <a:spcPts val="125"/>
              </a:spcBef>
            </a:pPr>
            <a:r>
              <a:rPr sz="2150" dirty="0">
                <a:solidFill>
                  <a:srgbClr val="FFFFFF"/>
                </a:solidFill>
              </a:rPr>
              <a:t>BITS</a:t>
            </a:r>
            <a:r>
              <a:rPr sz="2150" spc="30" dirty="0">
                <a:solidFill>
                  <a:srgbClr val="FFFFFF"/>
                </a:solidFill>
              </a:rPr>
              <a:t> </a:t>
            </a:r>
            <a:r>
              <a:rPr sz="2150" b="0" spc="-10" dirty="0">
                <a:solidFill>
                  <a:srgbClr val="FFFFFF"/>
                </a:solidFill>
                <a:latin typeface="Arial"/>
                <a:cs typeface="Arial"/>
              </a:rPr>
              <a:t>Pilani</a:t>
            </a:r>
            <a:endParaRPr sz="2150">
              <a:latin typeface="Arial"/>
              <a:cs typeface="Arial"/>
            </a:endParaRPr>
          </a:p>
          <a:p>
            <a:pPr marL="12700">
              <a:lnSpc>
                <a:spcPts val="1005"/>
              </a:lnSpc>
            </a:pPr>
            <a:r>
              <a:rPr sz="900" b="0" dirty="0">
                <a:solidFill>
                  <a:srgbClr val="FFFFFF"/>
                </a:solidFill>
                <a:latin typeface="Arial"/>
                <a:cs typeface="Arial"/>
              </a:rPr>
              <a:t>Pilani</a:t>
            </a:r>
            <a:r>
              <a:rPr sz="900" b="0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b="0" spc="-10" dirty="0">
                <a:solidFill>
                  <a:srgbClr val="FFFFFF"/>
                </a:solidFill>
                <a:latin typeface="Arial"/>
                <a:cs typeface="Arial"/>
              </a:rPr>
              <a:t>Campus</a:t>
            </a:r>
            <a:endParaRPr sz="9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73143" y="3474863"/>
            <a:ext cx="5901055" cy="10615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0845" algn="ctr">
              <a:lnSpc>
                <a:spcPts val="2270"/>
              </a:lnSpc>
              <a:spcBef>
                <a:spcPts val="100"/>
              </a:spcBef>
            </a:pPr>
            <a:r>
              <a:rPr sz="2100" b="1" dirty="0">
                <a:latin typeface="Calibri"/>
                <a:cs typeface="Calibri"/>
              </a:rPr>
              <a:t>Session</a:t>
            </a:r>
            <a:r>
              <a:rPr sz="2100" b="1" spc="-25" dirty="0">
                <a:latin typeface="Calibri"/>
                <a:cs typeface="Calibri"/>
              </a:rPr>
              <a:t> </a:t>
            </a:r>
            <a:r>
              <a:rPr sz="2100" b="1" spc="-50" dirty="0">
                <a:latin typeface="Calibri"/>
                <a:cs typeface="Calibri"/>
              </a:rPr>
              <a:t>6</a:t>
            </a:r>
            <a:br>
              <a:rPr lang="en-US" sz="2100" b="1" spc="-50" dirty="0">
                <a:latin typeface="Calibri"/>
                <a:cs typeface="Calibri"/>
              </a:rPr>
            </a:br>
            <a:endParaRPr sz="2100" dirty="0">
              <a:latin typeface="Calibri"/>
              <a:cs typeface="Calibri"/>
            </a:endParaRPr>
          </a:p>
          <a:p>
            <a:pPr marL="12700" marR="5080">
              <a:lnSpc>
                <a:spcPct val="100699"/>
              </a:lnSpc>
            </a:pPr>
            <a:r>
              <a:rPr sz="1500" dirty="0">
                <a:latin typeface="Calibri"/>
                <a:cs typeface="Calibri"/>
              </a:rPr>
              <a:t>These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slides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are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prepared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by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instructor,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with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grateful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acknowledgement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many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others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who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made</a:t>
            </a:r>
            <a:r>
              <a:rPr sz="1500" spc="29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their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course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materials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freely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available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online.</a:t>
            </a:r>
            <a:endParaRPr sz="15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17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18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119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7802118" y="4967122"/>
            <a:ext cx="1285240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00" b="1" spc="1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0F1141"/>
                </a:solidFill>
                <a:latin typeface="Arial"/>
                <a:cs typeface="Arial"/>
              </a:rPr>
              <a:t>Pilani,</a:t>
            </a:r>
            <a:r>
              <a:rPr sz="800" spc="6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0F1141"/>
                </a:solidFill>
                <a:latin typeface="Arial"/>
                <a:cs typeface="Arial"/>
              </a:rPr>
              <a:t>Pilani</a:t>
            </a:r>
            <a:r>
              <a:rPr sz="800" spc="8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0F1141"/>
                </a:solidFill>
                <a:latin typeface="Arial"/>
                <a:cs typeface="Arial"/>
              </a:rPr>
              <a:t>Campus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084832" y="4911852"/>
            <a:ext cx="7059295" cy="38100"/>
            <a:chOff x="2084832" y="4911852"/>
            <a:chExt cx="7059295" cy="38100"/>
          </a:xfrm>
        </p:grpSpPr>
        <p:sp>
          <p:nvSpPr>
            <p:cNvPr id="4" name="object 4"/>
            <p:cNvSpPr/>
            <p:nvPr/>
          </p:nvSpPr>
          <p:spPr>
            <a:xfrm>
              <a:off x="4631436" y="4911852"/>
              <a:ext cx="2329180" cy="38100"/>
            </a:xfrm>
            <a:custGeom>
              <a:avLst/>
              <a:gdLst/>
              <a:ahLst/>
              <a:cxnLst/>
              <a:rect l="l" t="t" r="r" b="b"/>
              <a:pathLst>
                <a:path w="2329179" h="38100">
                  <a:moveTo>
                    <a:pt x="2328671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2328671" y="38100"/>
                  </a:lnTo>
                  <a:lnTo>
                    <a:pt x="2328671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908291" y="4911852"/>
              <a:ext cx="2235835" cy="35560"/>
            </a:xfrm>
            <a:custGeom>
              <a:avLst/>
              <a:gdLst/>
              <a:ahLst/>
              <a:cxnLst/>
              <a:rect l="l" t="t" r="r" b="b"/>
              <a:pathLst>
                <a:path w="2235834" h="35560">
                  <a:moveTo>
                    <a:pt x="2235707" y="0"/>
                  </a:moveTo>
                  <a:lnTo>
                    <a:pt x="0" y="0"/>
                  </a:lnTo>
                  <a:lnTo>
                    <a:pt x="0" y="35052"/>
                  </a:lnTo>
                  <a:lnTo>
                    <a:pt x="2235707" y="35052"/>
                  </a:lnTo>
                  <a:lnTo>
                    <a:pt x="2235707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84832" y="4911852"/>
              <a:ext cx="2580640" cy="38100"/>
            </a:xfrm>
            <a:custGeom>
              <a:avLst/>
              <a:gdLst/>
              <a:ahLst/>
              <a:cxnLst/>
              <a:rect l="l" t="t" r="r" b="b"/>
              <a:pathLst>
                <a:path w="2580640" h="38100">
                  <a:moveTo>
                    <a:pt x="2580132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2580132" y="38100"/>
                  </a:lnTo>
                  <a:lnTo>
                    <a:pt x="2580132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95800" y="4914900"/>
              <a:ext cx="2329180" cy="35560"/>
            </a:xfrm>
            <a:custGeom>
              <a:avLst/>
              <a:gdLst/>
              <a:ahLst/>
              <a:cxnLst/>
              <a:rect l="l" t="t" r="r" b="b"/>
              <a:pathLst>
                <a:path w="2329179" h="35560">
                  <a:moveTo>
                    <a:pt x="2328672" y="0"/>
                  </a:moveTo>
                  <a:lnTo>
                    <a:pt x="0" y="0"/>
                  </a:lnTo>
                  <a:lnTo>
                    <a:pt x="0" y="35052"/>
                  </a:lnTo>
                  <a:lnTo>
                    <a:pt x="2328672" y="35052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133600" y="4914900"/>
              <a:ext cx="2362200" cy="35560"/>
            </a:xfrm>
            <a:custGeom>
              <a:avLst/>
              <a:gdLst/>
              <a:ahLst/>
              <a:cxnLst/>
              <a:rect l="l" t="t" r="r" b="b"/>
              <a:pathLst>
                <a:path w="2362200" h="35560">
                  <a:moveTo>
                    <a:pt x="2362200" y="0"/>
                  </a:moveTo>
                  <a:lnTo>
                    <a:pt x="0" y="0"/>
                  </a:lnTo>
                  <a:lnTo>
                    <a:pt x="0" y="35052"/>
                  </a:lnTo>
                  <a:lnTo>
                    <a:pt x="2362200" y="35052"/>
                  </a:lnTo>
                  <a:lnTo>
                    <a:pt x="23622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815328" y="4914900"/>
              <a:ext cx="2329180" cy="35560"/>
            </a:xfrm>
            <a:custGeom>
              <a:avLst/>
              <a:gdLst/>
              <a:ahLst/>
              <a:cxnLst/>
              <a:rect l="l" t="t" r="r" b="b"/>
              <a:pathLst>
                <a:path w="2329179" h="35560">
                  <a:moveTo>
                    <a:pt x="2328672" y="0"/>
                  </a:moveTo>
                  <a:lnTo>
                    <a:pt x="0" y="0"/>
                  </a:lnTo>
                  <a:lnTo>
                    <a:pt x="0" y="35052"/>
                  </a:lnTo>
                  <a:lnTo>
                    <a:pt x="2328672" y="35052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29400" y="0"/>
            <a:ext cx="2194559" cy="519684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0" y="972311"/>
            <a:ext cx="7010400" cy="33655"/>
            <a:chOff x="0" y="972311"/>
            <a:chExt cx="7010400" cy="33655"/>
          </a:xfrm>
        </p:grpSpPr>
        <p:sp>
          <p:nvSpPr>
            <p:cNvPr id="12" name="object 12"/>
            <p:cNvSpPr/>
            <p:nvPr/>
          </p:nvSpPr>
          <p:spPr>
            <a:xfrm>
              <a:off x="2362200" y="972311"/>
              <a:ext cx="2329180" cy="33655"/>
            </a:xfrm>
            <a:custGeom>
              <a:avLst/>
              <a:gdLst/>
              <a:ahLst/>
              <a:cxnLst/>
              <a:rect l="l" t="t" r="r" b="b"/>
              <a:pathLst>
                <a:path w="2329179" h="33655">
                  <a:moveTo>
                    <a:pt x="2328672" y="0"/>
                  </a:moveTo>
                  <a:lnTo>
                    <a:pt x="0" y="0"/>
                  </a:lnTo>
                  <a:lnTo>
                    <a:pt x="0" y="33527"/>
                  </a:lnTo>
                  <a:lnTo>
                    <a:pt x="2328672" y="33527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972311"/>
              <a:ext cx="2362200" cy="33655"/>
            </a:xfrm>
            <a:custGeom>
              <a:avLst/>
              <a:gdLst/>
              <a:ahLst/>
              <a:cxnLst/>
              <a:rect l="l" t="t" r="r" b="b"/>
              <a:pathLst>
                <a:path w="2362200" h="33655">
                  <a:moveTo>
                    <a:pt x="2362200" y="0"/>
                  </a:moveTo>
                  <a:lnTo>
                    <a:pt x="0" y="0"/>
                  </a:lnTo>
                  <a:lnTo>
                    <a:pt x="0" y="33527"/>
                  </a:lnTo>
                  <a:lnTo>
                    <a:pt x="2362200" y="33527"/>
                  </a:lnTo>
                  <a:lnTo>
                    <a:pt x="23622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681728" y="972311"/>
              <a:ext cx="2329180" cy="33655"/>
            </a:xfrm>
            <a:custGeom>
              <a:avLst/>
              <a:gdLst/>
              <a:ahLst/>
              <a:cxnLst/>
              <a:rect l="l" t="t" r="r" b="b"/>
              <a:pathLst>
                <a:path w="2329179" h="33655">
                  <a:moveTo>
                    <a:pt x="2328672" y="0"/>
                  </a:moveTo>
                  <a:lnTo>
                    <a:pt x="0" y="0"/>
                  </a:lnTo>
                  <a:lnTo>
                    <a:pt x="0" y="33527"/>
                  </a:lnTo>
                  <a:lnTo>
                    <a:pt x="2328672" y="33527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679194" y="3285490"/>
            <a:ext cx="6450330" cy="12747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Readings:</a:t>
            </a:r>
            <a:endParaRPr sz="1800" dirty="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sz="1800" dirty="0">
                <a:latin typeface="Arial"/>
                <a:cs typeface="Arial"/>
              </a:rPr>
              <a:t>Simon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D.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Prince,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Understanding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Deep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Learning,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Chapter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16</a:t>
            </a:r>
            <a:endParaRPr sz="1800" dirty="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buClr>
                <a:srgbClr val="000000"/>
              </a:buClr>
              <a:buAutoNum type="arabicPeriod"/>
              <a:tabLst>
                <a:tab pos="354965" algn="l"/>
              </a:tabLst>
            </a:pPr>
            <a:r>
              <a:rPr sz="16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4"/>
              </a:rPr>
              <a:t>Normalizing</a:t>
            </a:r>
            <a:r>
              <a:rPr sz="1600" u="sng" spc="-3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sz="16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4"/>
              </a:rPr>
              <a:t>Flow</a:t>
            </a:r>
            <a:r>
              <a:rPr sz="1600" u="sng" spc="-4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sz="16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4"/>
              </a:rPr>
              <a:t>Blog</a:t>
            </a:r>
            <a:endParaRPr sz="1600" dirty="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buClr>
                <a:srgbClr val="000000"/>
              </a:buClr>
              <a:buAutoNum type="arabicPeriod"/>
              <a:tabLst>
                <a:tab pos="354965" algn="l"/>
              </a:tabLst>
            </a:pPr>
            <a:r>
              <a:rPr sz="16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5"/>
              </a:rPr>
              <a:t>Normalizing</a:t>
            </a:r>
            <a:r>
              <a:rPr sz="1600" u="sng" spc="-6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5"/>
              </a:rPr>
              <a:t> </a:t>
            </a:r>
            <a:r>
              <a:rPr sz="1600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5"/>
              </a:rPr>
              <a:t>Flow</a:t>
            </a:r>
            <a:r>
              <a:rPr sz="1600" u="sng" spc="-10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5"/>
              </a:rPr>
              <a:t> </a:t>
            </a:r>
            <a:r>
              <a:rPr sz="16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5"/>
              </a:rPr>
              <a:t>Tutorial</a:t>
            </a:r>
            <a:endParaRPr sz="1600" dirty="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Clr>
                <a:srgbClr val="000000"/>
              </a:buClr>
              <a:buAutoNum type="arabicPeriod"/>
              <a:tabLst>
                <a:tab pos="354965" algn="l"/>
              </a:tabLst>
            </a:pPr>
            <a:r>
              <a:rPr sz="1400" u="sng" spc="6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6"/>
              </a:rPr>
              <a:t>https://github.com/udlbook/udlbook/tree/main/Notebooks/Chap16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2148967" y="1912111"/>
            <a:ext cx="55213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Likelihood</a:t>
            </a:r>
            <a:r>
              <a:rPr sz="2400" spc="-60" dirty="0"/>
              <a:t> </a:t>
            </a:r>
            <a:r>
              <a:rPr sz="2400" dirty="0"/>
              <a:t>Based</a:t>
            </a:r>
            <a:r>
              <a:rPr sz="2400" spc="-20" dirty="0"/>
              <a:t> </a:t>
            </a:r>
            <a:r>
              <a:rPr sz="2400" dirty="0"/>
              <a:t>Model:</a:t>
            </a:r>
            <a:r>
              <a:rPr sz="2400" spc="-35" dirty="0"/>
              <a:t> </a:t>
            </a:r>
            <a:r>
              <a:rPr sz="2400" dirty="0"/>
              <a:t>Flow</a:t>
            </a:r>
            <a:r>
              <a:rPr sz="2400" spc="-40" dirty="0"/>
              <a:t> </a:t>
            </a:r>
            <a:r>
              <a:rPr sz="2400" spc="-10" dirty="0"/>
              <a:t>Models</a:t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06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07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108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5751" y="315595"/>
            <a:ext cx="282511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Lecture</a:t>
            </a:r>
            <a:r>
              <a:rPr spc="45" dirty="0"/>
              <a:t> </a:t>
            </a:r>
            <a:r>
              <a:rPr spc="-10" dirty="0"/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60130" y="4865014"/>
            <a:ext cx="89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878787"/>
                </a:solidFill>
                <a:latin typeface="Arial"/>
                <a:cs typeface="Arial"/>
              </a:rPr>
              <a:t>3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76718" y="4957978"/>
            <a:ext cx="133604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800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00" b="1" spc="1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0F1141"/>
                </a:solidFill>
                <a:latin typeface="Arial"/>
                <a:cs typeface="Arial"/>
              </a:rPr>
              <a:t>Pilani,</a:t>
            </a:r>
            <a:r>
              <a:rPr sz="800" spc="7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0F1141"/>
                </a:solidFill>
                <a:latin typeface="Arial"/>
                <a:cs typeface="Arial"/>
              </a:rPr>
              <a:t>Pilani</a:t>
            </a:r>
            <a:r>
              <a:rPr sz="800" spc="-3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1350" spc="-15" baseline="-21604" dirty="0">
                <a:solidFill>
                  <a:srgbClr val="878787"/>
                </a:solidFill>
                <a:latin typeface="Arial"/>
                <a:cs typeface="Arial"/>
              </a:rPr>
              <a:t>4</a:t>
            </a:r>
            <a:r>
              <a:rPr sz="800" spc="-10" dirty="0">
                <a:solidFill>
                  <a:srgbClr val="0F1141"/>
                </a:solidFill>
                <a:latin typeface="Arial"/>
                <a:cs typeface="Arial"/>
              </a:rPr>
              <a:t>Campus</a:t>
            </a:r>
            <a:endParaRPr sz="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9600" y="1087580"/>
            <a:ext cx="7546340" cy="3218815"/>
          </a:xfrm>
          <a:prstGeom prst="rect">
            <a:avLst/>
          </a:prstGeom>
        </p:spPr>
        <p:txBody>
          <a:bodyPr vert="horz" wrap="square" lIns="0" tIns="176530" rIns="0" bIns="0" rtlCol="0">
            <a:spAutoFit/>
          </a:bodyPr>
          <a:lstStyle/>
          <a:p>
            <a:pPr marL="183515" indent="-170815">
              <a:lnSpc>
                <a:spcPct val="100000"/>
              </a:lnSpc>
              <a:spcBef>
                <a:spcPts val="1390"/>
              </a:spcBef>
              <a:buFont typeface="Arial"/>
              <a:buChar char="•"/>
              <a:tabLst>
                <a:tab pos="183515" algn="l"/>
              </a:tabLst>
            </a:pPr>
            <a:r>
              <a:rPr sz="2100" dirty="0">
                <a:latin typeface="Trebuchet MS"/>
                <a:cs typeface="Trebuchet MS"/>
              </a:rPr>
              <a:t>Foundations</a:t>
            </a:r>
            <a:r>
              <a:rPr sz="2100" spc="-3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of</a:t>
            </a:r>
            <a:r>
              <a:rPr sz="2100" spc="-3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Flows</a:t>
            </a:r>
            <a:r>
              <a:rPr sz="2100" spc="50" dirty="0">
                <a:latin typeface="Trebuchet MS"/>
                <a:cs typeface="Trebuchet MS"/>
              </a:rPr>
              <a:t> </a:t>
            </a:r>
            <a:r>
              <a:rPr sz="2100" spc="-140" dirty="0">
                <a:latin typeface="Trebuchet MS"/>
                <a:cs typeface="Trebuchet MS"/>
              </a:rPr>
              <a:t>(1-</a:t>
            </a:r>
            <a:r>
              <a:rPr sz="2100" spc="-25" dirty="0">
                <a:latin typeface="Trebuchet MS"/>
                <a:cs typeface="Trebuchet MS"/>
              </a:rPr>
              <a:t>D)</a:t>
            </a:r>
            <a:endParaRPr sz="2100" dirty="0">
              <a:latin typeface="Trebuchet MS"/>
              <a:cs typeface="Trebuchet MS"/>
            </a:endParaRPr>
          </a:p>
          <a:p>
            <a:pPr marL="182880" indent="-170180">
              <a:lnSpc>
                <a:spcPct val="100000"/>
              </a:lnSpc>
              <a:spcBef>
                <a:spcPts val="1295"/>
              </a:spcBef>
              <a:buFont typeface="Arial"/>
              <a:buChar char="•"/>
              <a:tabLst>
                <a:tab pos="182880" algn="l"/>
              </a:tabLst>
            </a:pPr>
            <a:r>
              <a:rPr sz="2100" spc="-90" dirty="0">
                <a:latin typeface="Trebuchet MS"/>
                <a:cs typeface="Trebuchet MS"/>
              </a:rPr>
              <a:t>2-</a:t>
            </a:r>
            <a:r>
              <a:rPr sz="2100" dirty="0">
                <a:latin typeface="Trebuchet MS"/>
                <a:cs typeface="Trebuchet MS"/>
              </a:rPr>
              <a:t>D</a:t>
            </a:r>
            <a:r>
              <a:rPr sz="2100" spc="195" dirty="0">
                <a:latin typeface="Trebuchet MS"/>
                <a:cs typeface="Trebuchet MS"/>
              </a:rPr>
              <a:t> </a:t>
            </a:r>
            <a:r>
              <a:rPr sz="2100" spc="-20" dirty="0">
                <a:latin typeface="Trebuchet MS"/>
                <a:cs typeface="Trebuchet MS"/>
              </a:rPr>
              <a:t>Flows</a:t>
            </a:r>
            <a:endParaRPr sz="2100" dirty="0">
              <a:latin typeface="Trebuchet MS"/>
              <a:cs typeface="Trebuchet MS"/>
            </a:endParaRPr>
          </a:p>
          <a:p>
            <a:pPr marL="183515" indent="-170815">
              <a:lnSpc>
                <a:spcPct val="100000"/>
              </a:lnSpc>
              <a:spcBef>
                <a:spcPts val="1205"/>
              </a:spcBef>
              <a:buFont typeface="Arial"/>
              <a:buChar char="•"/>
              <a:tabLst>
                <a:tab pos="183515" algn="l"/>
              </a:tabLst>
            </a:pPr>
            <a:r>
              <a:rPr sz="2100" spc="85" dirty="0">
                <a:solidFill>
                  <a:schemeClr val="tx1"/>
                </a:solidFill>
                <a:latin typeface="Trebuchet MS"/>
                <a:cs typeface="Trebuchet MS"/>
              </a:rPr>
              <a:t>N-</a:t>
            </a:r>
            <a:r>
              <a:rPr sz="2100" dirty="0">
                <a:solidFill>
                  <a:schemeClr val="tx1"/>
                </a:solidFill>
                <a:latin typeface="Trebuchet MS"/>
                <a:cs typeface="Trebuchet MS"/>
              </a:rPr>
              <a:t>D</a:t>
            </a:r>
            <a:r>
              <a:rPr sz="2100" spc="170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2100" spc="60" dirty="0">
                <a:solidFill>
                  <a:schemeClr val="tx1"/>
                </a:solidFill>
                <a:latin typeface="Trebuchet MS"/>
                <a:cs typeface="Trebuchet MS"/>
              </a:rPr>
              <a:t>Flows</a:t>
            </a:r>
            <a:endParaRPr sz="2100" dirty="0">
              <a:solidFill>
                <a:schemeClr val="tx1"/>
              </a:solidFill>
              <a:latin typeface="Trebuchet MS"/>
              <a:cs typeface="Trebuchet MS"/>
            </a:endParaRPr>
          </a:p>
          <a:p>
            <a:pPr marL="527685" lvl="1" indent="-172085">
              <a:lnSpc>
                <a:spcPct val="100000"/>
              </a:lnSpc>
              <a:spcBef>
                <a:spcPts val="805"/>
              </a:spcBef>
              <a:buFont typeface="Calibri"/>
              <a:buChar char="–"/>
              <a:tabLst>
                <a:tab pos="527685" algn="l"/>
              </a:tabLst>
            </a:pPr>
            <a:r>
              <a:rPr sz="2100" spc="70" dirty="0">
                <a:solidFill>
                  <a:schemeClr val="tx1"/>
                </a:solidFill>
                <a:latin typeface="Trebuchet MS"/>
                <a:cs typeface="Trebuchet MS"/>
              </a:rPr>
              <a:t>Autoregressive</a:t>
            </a:r>
            <a:r>
              <a:rPr sz="2100" spc="6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2100" spc="80" dirty="0">
                <a:solidFill>
                  <a:schemeClr val="tx1"/>
                </a:solidFill>
                <a:latin typeface="Trebuchet MS"/>
                <a:cs typeface="Trebuchet MS"/>
              </a:rPr>
              <a:t>Flows</a:t>
            </a:r>
            <a:r>
              <a:rPr sz="2100" spc="7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2100" spc="50" dirty="0">
                <a:solidFill>
                  <a:schemeClr val="tx1"/>
                </a:solidFill>
                <a:latin typeface="Trebuchet MS"/>
                <a:cs typeface="Trebuchet MS"/>
              </a:rPr>
              <a:t>and</a:t>
            </a:r>
            <a:r>
              <a:rPr sz="2100" spc="8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2100" spc="50" dirty="0">
                <a:solidFill>
                  <a:schemeClr val="tx1"/>
                </a:solidFill>
                <a:latin typeface="Trebuchet MS"/>
                <a:cs typeface="Trebuchet MS"/>
              </a:rPr>
              <a:t>Inverse</a:t>
            </a:r>
            <a:r>
              <a:rPr sz="2100" spc="-6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2100" spc="65" dirty="0">
                <a:solidFill>
                  <a:schemeClr val="tx1"/>
                </a:solidFill>
                <a:latin typeface="Trebuchet MS"/>
                <a:cs typeface="Trebuchet MS"/>
              </a:rPr>
              <a:t>Autoregressive</a:t>
            </a:r>
            <a:r>
              <a:rPr sz="2100" spc="9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2100" spc="60" dirty="0">
                <a:solidFill>
                  <a:schemeClr val="tx1"/>
                </a:solidFill>
                <a:latin typeface="Trebuchet MS"/>
                <a:cs typeface="Trebuchet MS"/>
              </a:rPr>
              <a:t>Flows</a:t>
            </a:r>
            <a:endParaRPr sz="2100" dirty="0">
              <a:solidFill>
                <a:schemeClr val="tx1"/>
              </a:solidFill>
              <a:latin typeface="Trebuchet MS"/>
              <a:cs typeface="Trebuchet MS"/>
            </a:endParaRPr>
          </a:p>
          <a:p>
            <a:pPr marL="527050" lvl="1" indent="-171450">
              <a:lnSpc>
                <a:spcPct val="100000"/>
              </a:lnSpc>
              <a:spcBef>
                <a:spcPts val="900"/>
              </a:spcBef>
              <a:buFont typeface="Calibri"/>
              <a:buChar char="–"/>
              <a:tabLst>
                <a:tab pos="527050" algn="l"/>
              </a:tabLst>
            </a:pPr>
            <a:r>
              <a:rPr sz="2100" dirty="0">
                <a:solidFill>
                  <a:schemeClr val="tx1"/>
                </a:solidFill>
                <a:latin typeface="Trebuchet MS"/>
                <a:cs typeface="Trebuchet MS"/>
              </a:rPr>
              <a:t>RealNVP</a:t>
            </a:r>
            <a:r>
              <a:rPr sz="2100" spc="2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2100" spc="-114" dirty="0">
                <a:solidFill>
                  <a:schemeClr val="tx1"/>
                </a:solidFill>
                <a:latin typeface="Trebuchet MS"/>
                <a:cs typeface="Trebuchet MS"/>
              </a:rPr>
              <a:t>(like)</a:t>
            </a:r>
            <a:r>
              <a:rPr sz="2100" spc="-80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2100" spc="-10" dirty="0">
                <a:solidFill>
                  <a:schemeClr val="tx1"/>
                </a:solidFill>
                <a:latin typeface="Trebuchet MS"/>
                <a:cs typeface="Trebuchet MS"/>
              </a:rPr>
              <a:t>architectures</a:t>
            </a:r>
            <a:endParaRPr sz="2100" dirty="0">
              <a:solidFill>
                <a:schemeClr val="tx1"/>
              </a:solidFill>
              <a:latin typeface="Trebuchet MS"/>
              <a:cs typeface="Trebuchet MS"/>
            </a:endParaRPr>
          </a:p>
          <a:p>
            <a:pPr marL="527685" lvl="1" indent="-172085">
              <a:lnSpc>
                <a:spcPct val="100000"/>
              </a:lnSpc>
              <a:spcBef>
                <a:spcPts val="805"/>
              </a:spcBef>
              <a:buFont typeface="Calibri"/>
              <a:buChar char="–"/>
              <a:tabLst>
                <a:tab pos="527685" algn="l"/>
              </a:tabLst>
            </a:pPr>
            <a:r>
              <a:rPr sz="2100" spc="-45" dirty="0">
                <a:solidFill>
                  <a:schemeClr val="tx1"/>
                </a:solidFill>
                <a:latin typeface="Trebuchet MS"/>
                <a:cs typeface="Trebuchet MS"/>
              </a:rPr>
              <a:t>Glow,</a:t>
            </a:r>
            <a:r>
              <a:rPr sz="2100" spc="-85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2100" spc="45" dirty="0">
                <a:solidFill>
                  <a:schemeClr val="tx1"/>
                </a:solidFill>
                <a:latin typeface="Trebuchet MS"/>
                <a:cs typeface="Trebuchet MS"/>
              </a:rPr>
              <a:t>Flow++,</a:t>
            </a:r>
            <a:r>
              <a:rPr sz="2100" spc="10" dirty="0">
                <a:solidFill>
                  <a:schemeClr val="tx1"/>
                </a:solidFill>
                <a:latin typeface="Trebuchet MS"/>
                <a:cs typeface="Trebuchet MS"/>
              </a:rPr>
              <a:t> </a:t>
            </a:r>
            <a:r>
              <a:rPr sz="2100" spc="70" dirty="0">
                <a:solidFill>
                  <a:schemeClr val="tx1"/>
                </a:solidFill>
                <a:latin typeface="Trebuchet MS"/>
                <a:cs typeface="Trebuchet MS"/>
              </a:rPr>
              <a:t>FFJORD</a:t>
            </a:r>
            <a:endParaRPr sz="2100" dirty="0">
              <a:solidFill>
                <a:schemeClr val="tx1"/>
              </a:solidFill>
              <a:latin typeface="Trebuchet MS"/>
              <a:cs typeface="Trebuchet MS"/>
            </a:endParaRPr>
          </a:p>
          <a:p>
            <a:pPr marL="182880" indent="-170180"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182880" algn="l"/>
              </a:tabLst>
            </a:pPr>
            <a:r>
              <a:rPr sz="2100" spc="-10" dirty="0">
                <a:solidFill>
                  <a:schemeClr val="tx1"/>
                </a:solidFill>
                <a:latin typeface="Trebuchet MS"/>
                <a:cs typeface="Trebuchet MS"/>
              </a:rPr>
              <a:t>Dequantization</a:t>
            </a:r>
            <a:endParaRPr sz="2100" dirty="0">
              <a:solidFill>
                <a:schemeClr val="tx1"/>
              </a:solidFill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25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26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127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7802118" y="4967122"/>
            <a:ext cx="1285240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00" b="1" spc="1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0F1141"/>
                </a:solidFill>
                <a:latin typeface="Arial"/>
                <a:cs typeface="Arial"/>
              </a:rPr>
              <a:t>Pilani,</a:t>
            </a:r>
            <a:r>
              <a:rPr sz="800" spc="6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0F1141"/>
                </a:solidFill>
                <a:latin typeface="Arial"/>
                <a:cs typeface="Arial"/>
              </a:rPr>
              <a:t>Pilani</a:t>
            </a:r>
            <a:r>
              <a:rPr sz="800" spc="8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0F1141"/>
                </a:solidFill>
                <a:latin typeface="Arial"/>
                <a:cs typeface="Arial"/>
              </a:rPr>
              <a:t>Campus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084832" y="4911852"/>
            <a:ext cx="7059295" cy="38100"/>
            <a:chOff x="2084832" y="4911852"/>
            <a:chExt cx="7059295" cy="38100"/>
          </a:xfrm>
        </p:grpSpPr>
        <p:sp>
          <p:nvSpPr>
            <p:cNvPr id="4" name="object 4"/>
            <p:cNvSpPr/>
            <p:nvPr/>
          </p:nvSpPr>
          <p:spPr>
            <a:xfrm>
              <a:off x="4631436" y="4911852"/>
              <a:ext cx="2329180" cy="38100"/>
            </a:xfrm>
            <a:custGeom>
              <a:avLst/>
              <a:gdLst/>
              <a:ahLst/>
              <a:cxnLst/>
              <a:rect l="l" t="t" r="r" b="b"/>
              <a:pathLst>
                <a:path w="2329179" h="38100">
                  <a:moveTo>
                    <a:pt x="2328671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2328671" y="38100"/>
                  </a:lnTo>
                  <a:lnTo>
                    <a:pt x="2328671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908291" y="4911852"/>
              <a:ext cx="2235835" cy="35560"/>
            </a:xfrm>
            <a:custGeom>
              <a:avLst/>
              <a:gdLst/>
              <a:ahLst/>
              <a:cxnLst/>
              <a:rect l="l" t="t" r="r" b="b"/>
              <a:pathLst>
                <a:path w="2235834" h="35560">
                  <a:moveTo>
                    <a:pt x="2235707" y="0"/>
                  </a:moveTo>
                  <a:lnTo>
                    <a:pt x="0" y="0"/>
                  </a:lnTo>
                  <a:lnTo>
                    <a:pt x="0" y="35052"/>
                  </a:lnTo>
                  <a:lnTo>
                    <a:pt x="2235707" y="35052"/>
                  </a:lnTo>
                  <a:lnTo>
                    <a:pt x="2235707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84832" y="4911852"/>
              <a:ext cx="2580640" cy="38100"/>
            </a:xfrm>
            <a:custGeom>
              <a:avLst/>
              <a:gdLst/>
              <a:ahLst/>
              <a:cxnLst/>
              <a:rect l="l" t="t" r="r" b="b"/>
              <a:pathLst>
                <a:path w="2580640" h="38100">
                  <a:moveTo>
                    <a:pt x="2580132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2580132" y="38100"/>
                  </a:lnTo>
                  <a:lnTo>
                    <a:pt x="2580132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95800" y="4914900"/>
              <a:ext cx="2329180" cy="35560"/>
            </a:xfrm>
            <a:custGeom>
              <a:avLst/>
              <a:gdLst/>
              <a:ahLst/>
              <a:cxnLst/>
              <a:rect l="l" t="t" r="r" b="b"/>
              <a:pathLst>
                <a:path w="2329179" h="35560">
                  <a:moveTo>
                    <a:pt x="2328672" y="0"/>
                  </a:moveTo>
                  <a:lnTo>
                    <a:pt x="0" y="0"/>
                  </a:lnTo>
                  <a:lnTo>
                    <a:pt x="0" y="35052"/>
                  </a:lnTo>
                  <a:lnTo>
                    <a:pt x="2328672" y="35052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133600" y="4914900"/>
              <a:ext cx="2362200" cy="35560"/>
            </a:xfrm>
            <a:custGeom>
              <a:avLst/>
              <a:gdLst/>
              <a:ahLst/>
              <a:cxnLst/>
              <a:rect l="l" t="t" r="r" b="b"/>
              <a:pathLst>
                <a:path w="2362200" h="35560">
                  <a:moveTo>
                    <a:pt x="2362200" y="0"/>
                  </a:moveTo>
                  <a:lnTo>
                    <a:pt x="0" y="0"/>
                  </a:lnTo>
                  <a:lnTo>
                    <a:pt x="0" y="35052"/>
                  </a:lnTo>
                  <a:lnTo>
                    <a:pt x="2362200" y="35052"/>
                  </a:lnTo>
                  <a:lnTo>
                    <a:pt x="23622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815328" y="4914900"/>
              <a:ext cx="2329180" cy="35560"/>
            </a:xfrm>
            <a:custGeom>
              <a:avLst/>
              <a:gdLst/>
              <a:ahLst/>
              <a:cxnLst/>
              <a:rect l="l" t="t" r="r" b="b"/>
              <a:pathLst>
                <a:path w="2329179" h="35560">
                  <a:moveTo>
                    <a:pt x="2328672" y="0"/>
                  </a:moveTo>
                  <a:lnTo>
                    <a:pt x="0" y="0"/>
                  </a:lnTo>
                  <a:lnTo>
                    <a:pt x="0" y="35052"/>
                  </a:lnTo>
                  <a:lnTo>
                    <a:pt x="2328672" y="35052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29400" y="0"/>
            <a:ext cx="2194559" cy="519684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76200" y="972311"/>
            <a:ext cx="7010400" cy="33655"/>
            <a:chOff x="0" y="972311"/>
            <a:chExt cx="7010400" cy="33655"/>
          </a:xfrm>
        </p:grpSpPr>
        <p:sp>
          <p:nvSpPr>
            <p:cNvPr id="12" name="object 12"/>
            <p:cNvSpPr/>
            <p:nvPr/>
          </p:nvSpPr>
          <p:spPr>
            <a:xfrm>
              <a:off x="2362200" y="972311"/>
              <a:ext cx="2329180" cy="33655"/>
            </a:xfrm>
            <a:custGeom>
              <a:avLst/>
              <a:gdLst/>
              <a:ahLst/>
              <a:cxnLst/>
              <a:rect l="l" t="t" r="r" b="b"/>
              <a:pathLst>
                <a:path w="2329179" h="33655">
                  <a:moveTo>
                    <a:pt x="2328672" y="0"/>
                  </a:moveTo>
                  <a:lnTo>
                    <a:pt x="0" y="0"/>
                  </a:lnTo>
                  <a:lnTo>
                    <a:pt x="0" y="33527"/>
                  </a:lnTo>
                  <a:lnTo>
                    <a:pt x="2328672" y="33527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972311"/>
              <a:ext cx="2362200" cy="33655"/>
            </a:xfrm>
            <a:custGeom>
              <a:avLst/>
              <a:gdLst/>
              <a:ahLst/>
              <a:cxnLst/>
              <a:rect l="l" t="t" r="r" b="b"/>
              <a:pathLst>
                <a:path w="2362200" h="33655">
                  <a:moveTo>
                    <a:pt x="2362200" y="0"/>
                  </a:moveTo>
                  <a:lnTo>
                    <a:pt x="0" y="0"/>
                  </a:lnTo>
                  <a:lnTo>
                    <a:pt x="0" y="33527"/>
                  </a:lnTo>
                  <a:lnTo>
                    <a:pt x="2362200" y="33527"/>
                  </a:lnTo>
                  <a:lnTo>
                    <a:pt x="23622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681728" y="972311"/>
              <a:ext cx="2329180" cy="33655"/>
            </a:xfrm>
            <a:custGeom>
              <a:avLst/>
              <a:gdLst/>
              <a:ahLst/>
              <a:cxnLst/>
              <a:rect l="l" t="t" r="r" b="b"/>
              <a:pathLst>
                <a:path w="2329179" h="33655">
                  <a:moveTo>
                    <a:pt x="2328672" y="0"/>
                  </a:moveTo>
                  <a:lnTo>
                    <a:pt x="0" y="0"/>
                  </a:lnTo>
                  <a:lnTo>
                    <a:pt x="0" y="33527"/>
                  </a:lnTo>
                  <a:lnTo>
                    <a:pt x="2328672" y="33527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319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Overview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614409" y="4857699"/>
            <a:ext cx="895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solidFill>
                  <a:srgbClr val="878787"/>
                </a:solidFill>
                <a:latin typeface="Arial"/>
                <a:cs typeface="Arial"/>
              </a:rPr>
              <a:t>5</a:t>
            </a:r>
            <a:endParaRPr sz="9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61492" y="1020393"/>
            <a:ext cx="7101840" cy="321945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320040" indent="-307340">
              <a:lnSpc>
                <a:spcPct val="100000"/>
              </a:lnSpc>
              <a:spcBef>
                <a:spcPts val="640"/>
              </a:spcBef>
              <a:buClr>
                <a:srgbClr val="333399"/>
              </a:buClr>
              <a:buSzPct val="52500"/>
              <a:buFont typeface="Arial"/>
              <a:buChar char="■"/>
              <a:tabLst>
                <a:tab pos="320040" algn="l"/>
              </a:tabLst>
            </a:pPr>
            <a:r>
              <a:rPr sz="2000" dirty="0">
                <a:latin typeface="Calibri"/>
                <a:cs typeface="Calibri"/>
              </a:rPr>
              <a:t>What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want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35" dirty="0">
                <a:latin typeface="Calibri"/>
                <a:cs typeface="Calibri"/>
              </a:rPr>
              <a:t>generative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model?</a:t>
            </a:r>
            <a:endParaRPr sz="2000" dirty="0">
              <a:latin typeface="Calibri"/>
              <a:cs typeface="Calibri"/>
            </a:endParaRPr>
          </a:p>
          <a:p>
            <a:pPr marL="777240" lvl="1" indent="-281940">
              <a:lnSpc>
                <a:spcPct val="100000"/>
              </a:lnSpc>
              <a:spcBef>
                <a:spcPts val="425"/>
              </a:spcBef>
              <a:buClr>
                <a:srgbClr val="FF0000"/>
              </a:buClr>
              <a:buSzPct val="43750"/>
              <a:buFont typeface="Arial"/>
              <a:buChar char="■"/>
              <a:tabLst>
                <a:tab pos="777240" algn="l"/>
              </a:tabLst>
            </a:pPr>
            <a:r>
              <a:rPr sz="1600" dirty="0">
                <a:latin typeface="Calibri"/>
                <a:cs typeface="Calibri"/>
              </a:rPr>
              <a:t>Good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fit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training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data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spc="-45" dirty="0">
                <a:latin typeface="Calibri"/>
                <a:cs typeface="Calibri"/>
              </a:rPr>
              <a:t>(really,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underlying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distribution!)</a:t>
            </a:r>
            <a:endParaRPr sz="1600" dirty="0">
              <a:latin typeface="Calibri"/>
              <a:cs typeface="Calibri"/>
            </a:endParaRPr>
          </a:p>
          <a:p>
            <a:pPr marL="777240" lvl="1" indent="-281940">
              <a:lnSpc>
                <a:spcPct val="100000"/>
              </a:lnSpc>
              <a:spcBef>
                <a:spcPts val="315"/>
              </a:spcBef>
              <a:buClr>
                <a:srgbClr val="FF0000"/>
              </a:buClr>
              <a:buSzPct val="43750"/>
              <a:buFont typeface="Arial"/>
              <a:buChar char="■"/>
              <a:tabLst>
                <a:tab pos="777240" algn="l"/>
              </a:tabLst>
            </a:pPr>
            <a:r>
              <a:rPr sz="1600" dirty="0">
                <a:latin typeface="Calibri"/>
                <a:cs typeface="Calibri"/>
              </a:rPr>
              <a:t>For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new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x</a:t>
            </a:r>
            <a:r>
              <a:rPr sz="1600" dirty="0">
                <a:latin typeface="Calibri"/>
                <a:cs typeface="Calibri"/>
              </a:rPr>
              <a:t>,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ability</a:t>
            </a:r>
            <a:r>
              <a:rPr sz="1600" spc="-9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evaluate</a:t>
            </a:r>
            <a:endParaRPr sz="1600" dirty="0">
              <a:latin typeface="Calibri"/>
              <a:cs typeface="Calibri"/>
            </a:endParaRPr>
          </a:p>
          <a:p>
            <a:pPr marL="777240" lvl="1" indent="-281940">
              <a:lnSpc>
                <a:spcPct val="100000"/>
              </a:lnSpc>
              <a:spcBef>
                <a:spcPts val="285"/>
              </a:spcBef>
              <a:buClr>
                <a:srgbClr val="FF0000"/>
              </a:buClr>
              <a:buSzPct val="43750"/>
              <a:buFont typeface="Arial"/>
              <a:buChar char="■"/>
              <a:tabLst>
                <a:tab pos="777240" algn="l"/>
              </a:tabLst>
            </a:pPr>
            <a:r>
              <a:rPr sz="1600" dirty="0">
                <a:latin typeface="Calibri"/>
                <a:cs typeface="Calibri"/>
              </a:rPr>
              <a:t>Ability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sample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from</a:t>
            </a:r>
            <a:endParaRPr sz="1600" dirty="0">
              <a:latin typeface="Calibri"/>
              <a:cs typeface="Calibri"/>
            </a:endParaRPr>
          </a:p>
          <a:p>
            <a:pPr marL="777240" lvl="1" indent="-281940">
              <a:lnSpc>
                <a:spcPct val="100000"/>
              </a:lnSpc>
              <a:spcBef>
                <a:spcPts val="300"/>
              </a:spcBef>
              <a:buClr>
                <a:srgbClr val="FF0000"/>
              </a:buClr>
              <a:buSzPct val="43750"/>
              <a:buFont typeface="Arial"/>
              <a:buChar char="■"/>
              <a:tabLst>
                <a:tab pos="777240" algn="l"/>
              </a:tabLst>
            </a:pPr>
            <a:r>
              <a:rPr sz="1600" dirty="0">
                <a:latin typeface="Calibri"/>
                <a:cs typeface="Calibri"/>
              </a:rPr>
              <a:t>A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latent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representation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/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embedding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space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that’s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meaningful</a:t>
            </a:r>
            <a:endParaRPr sz="1600" dirty="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540"/>
              </a:spcBef>
              <a:buClr>
                <a:srgbClr val="FF0000"/>
              </a:buClr>
              <a:buFont typeface="Arial"/>
              <a:buChar char="■"/>
            </a:pPr>
            <a:endParaRPr sz="1600" dirty="0">
              <a:latin typeface="Calibri"/>
              <a:cs typeface="Calibri"/>
            </a:endParaRPr>
          </a:p>
          <a:p>
            <a:pPr marL="320040" indent="-307340">
              <a:lnSpc>
                <a:spcPct val="100000"/>
              </a:lnSpc>
              <a:buClr>
                <a:srgbClr val="333399"/>
              </a:buClr>
              <a:buSzPct val="52500"/>
              <a:buFont typeface="Arial"/>
              <a:buChar char="■"/>
              <a:tabLst>
                <a:tab pos="320040" algn="l"/>
              </a:tabLst>
            </a:pPr>
            <a:r>
              <a:rPr sz="2000" spc="-10" dirty="0">
                <a:latin typeface="Calibri"/>
                <a:cs typeface="Calibri"/>
              </a:rPr>
              <a:t>Recall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L2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35" dirty="0">
                <a:latin typeface="Calibri"/>
                <a:cs typeface="Calibri"/>
              </a:rPr>
              <a:t>Autoregressive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Models?</a:t>
            </a:r>
            <a:endParaRPr sz="2000" dirty="0">
              <a:latin typeface="Calibri"/>
              <a:cs typeface="Calibri"/>
            </a:endParaRPr>
          </a:p>
          <a:p>
            <a:pPr marL="777240" lvl="1" indent="-281940">
              <a:lnSpc>
                <a:spcPct val="100000"/>
              </a:lnSpc>
              <a:spcBef>
                <a:spcPts val="439"/>
              </a:spcBef>
              <a:buClr>
                <a:srgbClr val="FF0000"/>
              </a:buClr>
              <a:buSzPct val="43750"/>
              <a:buFont typeface="Arial"/>
              <a:buChar char="■"/>
              <a:tabLst>
                <a:tab pos="777240" algn="l"/>
              </a:tabLst>
            </a:pPr>
            <a:r>
              <a:rPr sz="1600" dirty="0">
                <a:latin typeface="Calibri"/>
                <a:cs typeface="Calibri"/>
              </a:rPr>
              <a:t>Check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many</a:t>
            </a:r>
            <a:r>
              <a:rPr sz="1600" spc="-8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boxes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except</a:t>
            </a:r>
            <a:endParaRPr sz="1600" dirty="0">
              <a:latin typeface="Calibri"/>
              <a:cs typeface="Calibri"/>
            </a:endParaRPr>
          </a:p>
          <a:p>
            <a:pPr marL="1235075" lvl="2" indent="-281940">
              <a:lnSpc>
                <a:spcPct val="100000"/>
              </a:lnSpc>
              <a:spcBef>
                <a:spcPts val="305"/>
              </a:spcBef>
              <a:buClr>
                <a:srgbClr val="3333CC"/>
              </a:buClr>
              <a:buSzPct val="50000"/>
              <a:buFont typeface="Arial"/>
              <a:buChar char="■"/>
              <a:tabLst>
                <a:tab pos="1235075" algn="l"/>
              </a:tabLst>
            </a:pPr>
            <a:r>
              <a:rPr sz="1400" spc="-20" dirty="0">
                <a:latin typeface="Calibri"/>
                <a:cs typeface="Calibri"/>
              </a:rPr>
              <a:t>Sampling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serial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(hence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slow)</a:t>
            </a:r>
            <a:endParaRPr sz="1400" dirty="0">
              <a:latin typeface="Calibri"/>
              <a:cs typeface="Calibri"/>
            </a:endParaRPr>
          </a:p>
          <a:p>
            <a:pPr marL="1235075" lvl="2" indent="-281940">
              <a:lnSpc>
                <a:spcPct val="100000"/>
              </a:lnSpc>
              <a:spcBef>
                <a:spcPts val="300"/>
              </a:spcBef>
              <a:buClr>
                <a:srgbClr val="3333CC"/>
              </a:buClr>
              <a:buSzPct val="50000"/>
              <a:buFont typeface="Arial"/>
              <a:buChar char="■"/>
              <a:tabLst>
                <a:tab pos="1235075" algn="l"/>
              </a:tabLst>
            </a:pPr>
            <a:r>
              <a:rPr sz="1400" dirty="0">
                <a:latin typeface="Calibri"/>
                <a:cs typeface="Calibri"/>
              </a:rPr>
              <a:t>Lacks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latent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35" dirty="0">
                <a:latin typeface="Calibri"/>
                <a:cs typeface="Calibri"/>
              </a:rPr>
              <a:t>representation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/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embedding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space</a:t>
            </a:r>
            <a:endParaRPr sz="1400" dirty="0">
              <a:latin typeface="Calibri"/>
              <a:cs typeface="Calibri"/>
            </a:endParaRPr>
          </a:p>
          <a:p>
            <a:pPr marL="1235075" lvl="2" indent="-266700">
              <a:lnSpc>
                <a:spcPct val="100000"/>
              </a:lnSpc>
              <a:spcBef>
                <a:spcPts val="305"/>
              </a:spcBef>
              <a:buClr>
                <a:srgbClr val="3333CC"/>
              </a:buClr>
              <a:buSzPct val="35714"/>
              <a:buFont typeface="Arial"/>
              <a:buChar char="■"/>
              <a:tabLst>
                <a:tab pos="1235075" algn="l"/>
              </a:tabLst>
            </a:pPr>
            <a:r>
              <a:rPr sz="1400" spc="-20" dirty="0">
                <a:latin typeface="Calibri"/>
                <a:cs typeface="Calibri"/>
              </a:rPr>
              <a:t>Limited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discrete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data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(at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least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terms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where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experimental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success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has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been)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8904" y="4395558"/>
            <a:ext cx="86950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8765" indent="-266065">
              <a:lnSpc>
                <a:spcPct val="100000"/>
              </a:lnSpc>
              <a:spcBef>
                <a:spcPts val="100"/>
              </a:spcBef>
              <a:buClr>
                <a:srgbClr val="333399"/>
              </a:buClr>
              <a:buSzPts val="500"/>
              <a:buFont typeface="Arial"/>
              <a:buChar char="■"/>
              <a:tabLst>
                <a:tab pos="278765" algn="l"/>
              </a:tabLst>
            </a:pPr>
            <a:r>
              <a:rPr sz="2000" dirty="0">
                <a:latin typeface="Calibri"/>
                <a:cs typeface="Calibri"/>
              </a:rPr>
              <a:t>Flow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Models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will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check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40" dirty="0">
                <a:latin typeface="Calibri"/>
                <a:cs typeface="Calibri"/>
              </a:rPr>
              <a:t>boxes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(but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performance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not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good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other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models</a:t>
            </a:r>
            <a:r>
              <a:rPr sz="2000" spc="-10" dirty="0">
                <a:latin typeface="Arial"/>
                <a:cs typeface="Arial"/>
              </a:rPr>
              <a:t>…</a:t>
            </a:r>
            <a:r>
              <a:rPr sz="2000" spc="-10" dirty="0">
                <a:latin typeface="Calibri"/>
                <a:cs typeface="Calibri"/>
              </a:rPr>
              <a:t>)</a:t>
            </a:r>
            <a:endParaRPr sz="2000" dirty="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352800" y="1734311"/>
            <a:ext cx="1141730" cy="563880"/>
            <a:chOff x="2667000" y="1734311"/>
            <a:chExt cx="1141730" cy="563880"/>
          </a:xfrm>
        </p:grpSpPr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44595" y="1734311"/>
              <a:ext cx="563880" cy="252983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67000" y="1941575"/>
              <a:ext cx="597408" cy="35661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09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10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111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319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75" dirty="0"/>
              <a:t>Our</a:t>
            </a:r>
            <a:r>
              <a:rPr spc="125" dirty="0"/>
              <a:t> </a:t>
            </a:r>
            <a:r>
              <a:rPr dirty="0"/>
              <a:t>Goal</a:t>
            </a:r>
            <a:r>
              <a:rPr spc="65" dirty="0"/>
              <a:t> </a:t>
            </a:r>
            <a:r>
              <a:rPr spc="-20" dirty="0"/>
              <a:t>Today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2262" y="1029970"/>
            <a:ext cx="7879080" cy="3295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3515" indent="-170815">
              <a:lnSpc>
                <a:spcPct val="100000"/>
              </a:lnSpc>
              <a:spcBef>
                <a:spcPts val="100"/>
              </a:spcBef>
              <a:buClr>
                <a:srgbClr val="44536A"/>
              </a:buClr>
              <a:buFont typeface="Arial"/>
              <a:buChar char="•"/>
              <a:tabLst>
                <a:tab pos="183515" algn="l"/>
                <a:tab pos="4129404" algn="l"/>
              </a:tabLst>
            </a:pPr>
            <a:r>
              <a:rPr sz="2100" spc="65" dirty="0">
                <a:latin typeface="Trebuchet MS"/>
                <a:cs typeface="Trebuchet MS"/>
              </a:rPr>
              <a:t>How</a:t>
            </a:r>
            <a:r>
              <a:rPr sz="2100" spc="-6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to</a:t>
            </a:r>
            <a:r>
              <a:rPr sz="2100" spc="-114" dirty="0">
                <a:latin typeface="Trebuchet MS"/>
                <a:cs typeface="Trebuchet MS"/>
              </a:rPr>
              <a:t> </a:t>
            </a:r>
            <a:r>
              <a:rPr sz="2100" spc="-100" dirty="0">
                <a:latin typeface="Trebuchet MS"/>
                <a:cs typeface="Trebuchet MS"/>
              </a:rPr>
              <a:t>fit</a:t>
            </a:r>
            <a:r>
              <a:rPr sz="2100" spc="-17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a</a:t>
            </a:r>
            <a:r>
              <a:rPr sz="2100" spc="-100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density</a:t>
            </a:r>
            <a:r>
              <a:rPr sz="2100" spc="-75" dirty="0">
                <a:latin typeface="Trebuchet MS"/>
                <a:cs typeface="Trebuchet MS"/>
              </a:rPr>
              <a:t> </a:t>
            </a:r>
            <a:r>
              <a:rPr sz="2100" spc="-20" dirty="0">
                <a:latin typeface="Trebuchet MS"/>
                <a:cs typeface="Trebuchet MS"/>
              </a:rPr>
              <a:t>model</a:t>
            </a:r>
            <a:r>
              <a:rPr sz="2100" dirty="0">
                <a:latin typeface="Trebuchet MS"/>
                <a:cs typeface="Trebuchet MS"/>
              </a:rPr>
              <a:t>	</a:t>
            </a:r>
            <a:r>
              <a:rPr sz="2100" spc="-20" dirty="0">
                <a:latin typeface="Trebuchet MS"/>
                <a:cs typeface="Trebuchet MS"/>
              </a:rPr>
              <a:t>with</a:t>
            </a:r>
            <a:r>
              <a:rPr sz="2100" spc="-114" dirty="0">
                <a:latin typeface="Trebuchet MS"/>
                <a:cs typeface="Trebuchet MS"/>
              </a:rPr>
              <a:t> </a:t>
            </a:r>
            <a:r>
              <a:rPr sz="2100" spc="55" dirty="0">
                <a:solidFill>
                  <a:srgbClr val="0431FF"/>
                </a:solidFill>
                <a:latin typeface="Trebuchet MS"/>
                <a:cs typeface="Trebuchet MS"/>
              </a:rPr>
              <a:t>continuous</a:t>
            </a:r>
            <a:endParaRPr sz="21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85"/>
              </a:spcBef>
              <a:buClr>
                <a:srgbClr val="44536A"/>
              </a:buClr>
              <a:buFont typeface="Arial"/>
              <a:buChar char="•"/>
            </a:pPr>
            <a:endParaRPr sz="2100" dirty="0">
              <a:latin typeface="Trebuchet MS"/>
              <a:cs typeface="Trebuchet MS"/>
            </a:endParaRPr>
          </a:p>
          <a:p>
            <a:pPr marL="183515" indent="-170815">
              <a:lnSpc>
                <a:spcPct val="100000"/>
              </a:lnSpc>
              <a:buClr>
                <a:srgbClr val="44536A"/>
              </a:buClr>
              <a:buFont typeface="Arial"/>
              <a:buChar char="•"/>
              <a:tabLst>
                <a:tab pos="183515" algn="l"/>
              </a:tabLst>
            </a:pPr>
            <a:r>
              <a:rPr sz="2100" dirty="0">
                <a:latin typeface="Trebuchet MS"/>
                <a:cs typeface="Trebuchet MS"/>
              </a:rPr>
              <a:t>What</a:t>
            </a:r>
            <a:r>
              <a:rPr sz="2100" spc="-8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do</a:t>
            </a:r>
            <a:r>
              <a:rPr sz="2100" spc="-8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we</a:t>
            </a:r>
            <a:r>
              <a:rPr sz="2100" spc="2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want</a:t>
            </a:r>
            <a:r>
              <a:rPr sz="2100" spc="-8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from</a:t>
            </a:r>
            <a:r>
              <a:rPr sz="2100" spc="-9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this</a:t>
            </a:r>
            <a:r>
              <a:rPr sz="2100" spc="-65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model?</a:t>
            </a:r>
            <a:endParaRPr sz="2100" dirty="0">
              <a:latin typeface="Trebuchet MS"/>
              <a:cs typeface="Trebuchet MS"/>
            </a:endParaRPr>
          </a:p>
          <a:p>
            <a:pPr marL="525780" lvl="1" indent="-170815">
              <a:lnSpc>
                <a:spcPct val="100000"/>
              </a:lnSpc>
              <a:spcBef>
                <a:spcPts val="409"/>
              </a:spcBef>
              <a:buFont typeface="Calibri"/>
              <a:buChar char="–"/>
              <a:tabLst>
                <a:tab pos="525780" algn="l"/>
              </a:tabLst>
            </a:pPr>
            <a:r>
              <a:rPr sz="1800" dirty="0">
                <a:latin typeface="Trebuchet MS"/>
                <a:cs typeface="Trebuchet MS"/>
              </a:rPr>
              <a:t>Good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fit</a:t>
            </a:r>
            <a:r>
              <a:rPr sz="1800" spc="-1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to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the</a:t>
            </a:r>
            <a:r>
              <a:rPr sz="1800" spc="-55" dirty="0">
                <a:latin typeface="Trebuchet MS"/>
                <a:cs typeface="Trebuchet MS"/>
              </a:rPr>
              <a:t> training</a:t>
            </a:r>
            <a:r>
              <a:rPr sz="1800" spc="-114" dirty="0">
                <a:latin typeface="Trebuchet MS"/>
                <a:cs typeface="Trebuchet MS"/>
              </a:rPr>
              <a:t> </a:t>
            </a:r>
            <a:r>
              <a:rPr sz="1800" spc="-45" dirty="0">
                <a:latin typeface="Trebuchet MS"/>
                <a:cs typeface="Trebuchet MS"/>
              </a:rPr>
              <a:t>data</a:t>
            </a:r>
            <a:r>
              <a:rPr sz="1800" spc="-110" dirty="0">
                <a:latin typeface="Trebuchet MS"/>
                <a:cs typeface="Trebuchet MS"/>
              </a:rPr>
              <a:t> </a:t>
            </a:r>
            <a:r>
              <a:rPr sz="1800" spc="-125" dirty="0">
                <a:latin typeface="Trebuchet MS"/>
                <a:cs typeface="Trebuchet MS"/>
              </a:rPr>
              <a:t>(really,</a:t>
            </a:r>
            <a:r>
              <a:rPr sz="1800" spc="-19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the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underlying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distribution!)</a:t>
            </a:r>
            <a:endParaRPr sz="1800" dirty="0">
              <a:latin typeface="Trebuchet MS"/>
              <a:cs typeface="Trebuchet MS"/>
            </a:endParaRPr>
          </a:p>
          <a:p>
            <a:pPr marL="525780" lvl="1" indent="-170815">
              <a:lnSpc>
                <a:spcPct val="100000"/>
              </a:lnSpc>
              <a:spcBef>
                <a:spcPts val="290"/>
              </a:spcBef>
              <a:buFont typeface="Calibri"/>
              <a:buChar char="–"/>
              <a:tabLst>
                <a:tab pos="525780" algn="l"/>
              </a:tabLst>
            </a:pPr>
            <a:r>
              <a:rPr sz="1800" dirty="0">
                <a:latin typeface="Trebuchet MS"/>
                <a:cs typeface="Trebuchet MS"/>
              </a:rPr>
              <a:t>For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new</a:t>
            </a:r>
            <a:r>
              <a:rPr sz="1800" spc="20" dirty="0">
                <a:latin typeface="Trebuchet MS"/>
                <a:cs typeface="Trebuchet MS"/>
              </a:rPr>
              <a:t> </a:t>
            </a:r>
            <a:r>
              <a:rPr sz="1800" i="1" spc="-55" dirty="0">
                <a:latin typeface="Times New Roman"/>
                <a:cs typeface="Times New Roman"/>
              </a:rPr>
              <a:t>x</a:t>
            </a:r>
            <a:r>
              <a:rPr sz="1800" spc="-55" dirty="0">
                <a:latin typeface="Trebuchet MS"/>
                <a:cs typeface="Trebuchet MS"/>
              </a:rPr>
              <a:t>,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ability</a:t>
            </a:r>
            <a:r>
              <a:rPr sz="1800" spc="-10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to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evaluate</a:t>
            </a:r>
            <a:endParaRPr sz="1800" dirty="0">
              <a:latin typeface="Trebuchet MS"/>
              <a:cs typeface="Trebuchet MS"/>
            </a:endParaRPr>
          </a:p>
          <a:p>
            <a:pPr marL="525780" lvl="1" indent="-170815">
              <a:lnSpc>
                <a:spcPct val="100000"/>
              </a:lnSpc>
              <a:spcBef>
                <a:spcPts val="310"/>
              </a:spcBef>
              <a:buFont typeface="Calibri"/>
              <a:buChar char="–"/>
              <a:tabLst>
                <a:tab pos="525780" algn="l"/>
              </a:tabLst>
            </a:pPr>
            <a:r>
              <a:rPr sz="1800" spc="-50" dirty="0">
                <a:latin typeface="Trebuchet MS"/>
                <a:cs typeface="Trebuchet MS"/>
              </a:rPr>
              <a:t>Ability</a:t>
            </a:r>
            <a:r>
              <a:rPr sz="1800" spc="-1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to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sample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from</a:t>
            </a:r>
            <a:endParaRPr sz="1800" dirty="0">
              <a:latin typeface="Trebuchet MS"/>
              <a:cs typeface="Trebuchet MS"/>
            </a:endParaRPr>
          </a:p>
          <a:p>
            <a:pPr marL="525780" lvl="1" indent="-170815">
              <a:lnSpc>
                <a:spcPct val="100000"/>
              </a:lnSpc>
              <a:spcBef>
                <a:spcPts val="300"/>
              </a:spcBef>
              <a:buFont typeface="Calibri"/>
              <a:buChar char="–"/>
              <a:tabLst>
                <a:tab pos="525780" algn="l"/>
              </a:tabLst>
            </a:pPr>
            <a:r>
              <a:rPr sz="1800" dirty="0">
                <a:latin typeface="Trebuchet MS"/>
                <a:cs typeface="Trebuchet MS"/>
              </a:rPr>
              <a:t>And,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105" dirty="0">
                <a:latin typeface="Trebuchet MS"/>
                <a:cs typeface="Trebuchet MS"/>
              </a:rPr>
              <a:t>ideally,</a:t>
            </a:r>
            <a:r>
              <a:rPr sz="1800" spc="-80" dirty="0"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0431FF"/>
                </a:solidFill>
                <a:latin typeface="Trebuchet MS"/>
                <a:cs typeface="Trebuchet MS"/>
              </a:rPr>
              <a:t>a</a:t>
            </a:r>
            <a:r>
              <a:rPr sz="1800" spc="20" dirty="0">
                <a:solidFill>
                  <a:srgbClr val="0431FF"/>
                </a:solidFill>
                <a:latin typeface="Trebuchet MS"/>
                <a:cs typeface="Trebuchet MS"/>
              </a:rPr>
              <a:t> </a:t>
            </a:r>
            <a:r>
              <a:rPr sz="1800" dirty="0">
                <a:solidFill>
                  <a:srgbClr val="0431FF"/>
                </a:solidFill>
                <a:latin typeface="Trebuchet MS"/>
                <a:cs typeface="Trebuchet MS"/>
              </a:rPr>
              <a:t>latent</a:t>
            </a:r>
            <a:r>
              <a:rPr sz="1800" spc="-10" dirty="0">
                <a:solidFill>
                  <a:srgbClr val="0431FF"/>
                </a:solidFill>
                <a:latin typeface="Trebuchet MS"/>
                <a:cs typeface="Trebuchet MS"/>
              </a:rPr>
              <a:t> representation</a:t>
            </a:r>
            <a:r>
              <a:rPr sz="1800" spc="-40" dirty="0">
                <a:solidFill>
                  <a:srgbClr val="0431FF"/>
                </a:solidFill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that’s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meaningful</a:t>
            </a: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8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800" dirty="0">
              <a:latin typeface="Trebuchet MS"/>
              <a:cs typeface="Trebuchet MS"/>
            </a:endParaRPr>
          </a:p>
          <a:p>
            <a:pPr marL="698500">
              <a:lnSpc>
                <a:spcPct val="100000"/>
              </a:lnSpc>
              <a:spcBef>
                <a:spcPts val="5"/>
              </a:spcBef>
            </a:pPr>
            <a:r>
              <a:rPr sz="2100" dirty="0">
                <a:solidFill>
                  <a:srgbClr val="0431FF"/>
                </a:solidFill>
                <a:latin typeface="Trebuchet MS"/>
                <a:cs typeface="Trebuchet MS"/>
              </a:rPr>
              <a:t>Differences</a:t>
            </a:r>
            <a:r>
              <a:rPr sz="2100" spc="65" dirty="0">
                <a:solidFill>
                  <a:srgbClr val="0431FF"/>
                </a:solidFill>
                <a:latin typeface="Trebuchet MS"/>
                <a:cs typeface="Trebuchet MS"/>
              </a:rPr>
              <a:t> </a:t>
            </a:r>
            <a:r>
              <a:rPr sz="2100" spc="50" dirty="0">
                <a:solidFill>
                  <a:srgbClr val="0431FF"/>
                </a:solidFill>
                <a:latin typeface="Trebuchet MS"/>
                <a:cs typeface="Trebuchet MS"/>
              </a:rPr>
              <a:t>from</a:t>
            </a:r>
            <a:r>
              <a:rPr sz="2100" spc="-45" dirty="0">
                <a:solidFill>
                  <a:srgbClr val="0431FF"/>
                </a:solidFill>
                <a:latin typeface="Trebuchet MS"/>
                <a:cs typeface="Trebuchet MS"/>
              </a:rPr>
              <a:t> </a:t>
            </a:r>
            <a:r>
              <a:rPr sz="2100" spc="65" dirty="0">
                <a:solidFill>
                  <a:srgbClr val="0431FF"/>
                </a:solidFill>
                <a:latin typeface="Trebuchet MS"/>
                <a:cs typeface="Trebuchet MS"/>
              </a:rPr>
              <a:t>Autoregressive</a:t>
            </a:r>
            <a:r>
              <a:rPr sz="2100" spc="130" dirty="0">
                <a:solidFill>
                  <a:srgbClr val="0431FF"/>
                </a:solidFill>
                <a:latin typeface="Trebuchet MS"/>
                <a:cs typeface="Trebuchet MS"/>
              </a:rPr>
              <a:t> </a:t>
            </a:r>
            <a:r>
              <a:rPr sz="2100" spc="114" dirty="0">
                <a:solidFill>
                  <a:srgbClr val="0431FF"/>
                </a:solidFill>
                <a:latin typeface="Trebuchet MS"/>
                <a:cs typeface="Trebuchet MS"/>
              </a:rPr>
              <a:t>Models</a:t>
            </a:r>
            <a:r>
              <a:rPr sz="2100" spc="175" dirty="0">
                <a:solidFill>
                  <a:srgbClr val="0431FF"/>
                </a:solidFill>
                <a:latin typeface="Trebuchet MS"/>
                <a:cs typeface="Trebuchet MS"/>
              </a:rPr>
              <a:t> </a:t>
            </a:r>
            <a:r>
              <a:rPr sz="2100" spc="50" dirty="0">
                <a:solidFill>
                  <a:srgbClr val="0431FF"/>
                </a:solidFill>
                <a:latin typeface="Trebuchet MS"/>
                <a:cs typeface="Trebuchet MS"/>
              </a:rPr>
              <a:t>from</a:t>
            </a:r>
            <a:r>
              <a:rPr sz="2100" spc="85" dirty="0">
                <a:solidFill>
                  <a:srgbClr val="0431FF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0431FF"/>
                </a:solidFill>
                <a:latin typeface="Trebuchet MS"/>
                <a:cs typeface="Trebuchet MS"/>
              </a:rPr>
              <a:t>last</a:t>
            </a:r>
            <a:r>
              <a:rPr sz="2100" spc="15" dirty="0">
                <a:solidFill>
                  <a:srgbClr val="0431FF"/>
                </a:solidFill>
                <a:latin typeface="Trebuchet MS"/>
                <a:cs typeface="Trebuchet MS"/>
              </a:rPr>
              <a:t> </a:t>
            </a:r>
            <a:r>
              <a:rPr sz="2100" spc="-10" dirty="0">
                <a:solidFill>
                  <a:srgbClr val="0431FF"/>
                </a:solidFill>
                <a:latin typeface="Trebuchet MS"/>
                <a:cs typeface="Trebuchet MS"/>
              </a:rPr>
              <a:t>lecture</a:t>
            </a:r>
            <a:endParaRPr sz="2100" dirty="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91711" y="1088136"/>
            <a:ext cx="655320" cy="35204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48628" y="1083563"/>
            <a:ext cx="1002792" cy="33832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857244" y="2438400"/>
            <a:ext cx="598931" cy="35966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186683" y="2758439"/>
            <a:ext cx="598932" cy="35966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802118" y="4936192"/>
            <a:ext cx="1285240" cy="18415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800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00" b="1" spc="1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0F1141"/>
                </a:solidFill>
                <a:latin typeface="Arial"/>
                <a:cs typeface="Arial"/>
              </a:rPr>
              <a:t>Pilani,</a:t>
            </a:r>
            <a:r>
              <a:rPr sz="800" spc="7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0F1141"/>
                </a:solidFill>
                <a:latin typeface="Arial"/>
                <a:cs typeface="Arial"/>
              </a:rPr>
              <a:t>Pilani</a:t>
            </a:r>
            <a:r>
              <a:rPr sz="1350" spc="-15" baseline="15432" dirty="0">
                <a:solidFill>
                  <a:srgbClr val="878787"/>
                </a:solidFill>
                <a:latin typeface="Arial"/>
                <a:cs typeface="Arial"/>
              </a:rPr>
              <a:t>8</a:t>
            </a:r>
            <a:r>
              <a:rPr sz="800" spc="-10" dirty="0">
                <a:solidFill>
                  <a:srgbClr val="0F1141"/>
                </a:solidFill>
                <a:latin typeface="Arial"/>
                <a:cs typeface="Arial"/>
              </a:rPr>
              <a:t>Campus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09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10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111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grpSp>
        <p:nvGrpSpPr>
          <p:cNvPr id="2" name="object 2"/>
          <p:cNvGrpSpPr/>
          <p:nvPr/>
        </p:nvGrpSpPr>
        <p:grpSpPr>
          <a:xfrm>
            <a:off x="0" y="972311"/>
            <a:ext cx="7010400" cy="3281679"/>
            <a:chOff x="0" y="972311"/>
            <a:chExt cx="7010400" cy="3281679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77467" y="1129283"/>
              <a:ext cx="4210811" cy="31242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8055" y="992123"/>
              <a:ext cx="630936" cy="516636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55751" y="109854"/>
            <a:ext cx="6097270" cy="80772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82880" marR="5080" indent="-170815">
              <a:lnSpc>
                <a:spcPts val="2920"/>
              </a:lnSpc>
              <a:spcBef>
                <a:spcPts val="459"/>
              </a:spcBef>
            </a:pPr>
            <a:r>
              <a:rPr spc="50" dirty="0"/>
              <a:t>Quick</a:t>
            </a:r>
            <a:r>
              <a:rPr spc="15" dirty="0"/>
              <a:t> </a:t>
            </a:r>
            <a:r>
              <a:rPr spc="-10" dirty="0"/>
              <a:t>Refresher:</a:t>
            </a:r>
            <a:r>
              <a:rPr spc="-65" dirty="0"/>
              <a:t> </a:t>
            </a:r>
            <a:r>
              <a:rPr spc="55" dirty="0"/>
              <a:t>Probability</a:t>
            </a:r>
            <a:r>
              <a:rPr spc="-35" dirty="0"/>
              <a:t> </a:t>
            </a:r>
            <a:r>
              <a:rPr spc="-10" dirty="0"/>
              <a:t>Density </a:t>
            </a:r>
            <a:r>
              <a:rPr spc="45" dirty="0"/>
              <a:t>Models</a:t>
            </a:r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86984" y="2075688"/>
            <a:ext cx="3311652" cy="9921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118104" y="4302252"/>
            <a:ext cx="257556" cy="26517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802118" y="4867612"/>
            <a:ext cx="1285240" cy="29083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847725">
              <a:lnSpc>
                <a:spcPts val="940"/>
              </a:lnSpc>
              <a:spcBef>
                <a:spcPts val="15"/>
              </a:spcBef>
            </a:pPr>
            <a:r>
              <a:rPr sz="900" spc="-50" dirty="0">
                <a:solidFill>
                  <a:srgbClr val="878787"/>
                </a:solidFill>
                <a:latin typeface="Arial"/>
                <a:cs typeface="Arial"/>
              </a:rPr>
              <a:t>1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940"/>
              </a:lnSpc>
            </a:pPr>
            <a:r>
              <a:rPr sz="800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00" b="1" spc="1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0F1141"/>
                </a:solidFill>
                <a:latin typeface="Arial"/>
                <a:cs typeface="Arial"/>
              </a:rPr>
              <a:t>Pilani,</a:t>
            </a:r>
            <a:r>
              <a:rPr sz="800" spc="7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0F1141"/>
                </a:solidFill>
                <a:latin typeface="Arial"/>
                <a:cs typeface="Arial"/>
              </a:rPr>
              <a:t>Pilani</a:t>
            </a:r>
            <a:r>
              <a:rPr sz="1350" spc="-15" baseline="-18518" dirty="0">
                <a:solidFill>
                  <a:srgbClr val="878787"/>
                </a:solidFill>
                <a:latin typeface="Arial"/>
                <a:cs typeface="Arial"/>
              </a:rPr>
              <a:t>0</a:t>
            </a:r>
            <a:r>
              <a:rPr sz="800" spc="-10" dirty="0">
                <a:solidFill>
                  <a:srgbClr val="0F1141"/>
                </a:solidFill>
                <a:latin typeface="Arial"/>
                <a:cs typeface="Arial"/>
              </a:rPr>
              <a:t>Campus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09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10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111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319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60" dirty="0"/>
              <a:t> </a:t>
            </a:r>
            <a:r>
              <a:rPr spc="65" dirty="0"/>
              <a:t>to</a:t>
            </a:r>
            <a:r>
              <a:rPr spc="150" dirty="0"/>
              <a:t> </a:t>
            </a:r>
            <a:r>
              <a:rPr spc="105" dirty="0"/>
              <a:t>fit</a:t>
            </a:r>
            <a:r>
              <a:rPr spc="16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density</a:t>
            </a:r>
            <a:r>
              <a:rPr spc="55" dirty="0"/>
              <a:t> model?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2262" y="1098931"/>
            <a:ext cx="6506845" cy="2946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4179570" algn="l"/>
              </a:tabLst>
            </a:pPr>
            <a:r>
              <a:rPr sz="1750" b="1" dirty="0">
                <a:latin typeface="Trebuchet MS"/>
                <a:cs typeface="Trebuchet MS"/>
              </a:rPr>
              <a:t>Continuous</a:t>
            </a:r>
            <a:r>
              <a:rPr sz="1750" b="1" spc="434" dirty="0">
                <a:latin typeface="Trebuchet MS"/>
                <a:cs typeface="Trebuchet MS"/>
              </a:rPr>
              <a:t> </a:t>
            </a:r>
            <a:r>
              <a:rPr sz="1750" b="1" spc="-20" dirty="0">
                <a:latin typeface="Trebuchet MS"/>
                <a:cs typeface="Trebuchet MS"/>
              </a:rPr>
              <a:t>data</a:t>
            </a:r>
            <a:r>
              <a:rPr sz="1750" b="1" dirty="0">
                <a:latin typeface="Trebuchet MS"/>
                <a:cs typeface="Trebuchet MS"/>
              </a:rPr>
              <a:t>	</a:t>
            </a:r>
            <a:r>
              <a:rPr sz="1750" b="1" spc="95" dirty="0">
                <a:latin typeface="Trebuchet MS"/>
                <a:cs typeface="Trebuchet MS"/>
              </a:rPr>
              <a:t>Maximum</a:t>
            </a:r>
            <a:r>
              <a:rPr sz="1750" b="1" spc="120" dirty="0">
                <a:latin typeface="Trebuchet MS"/>
                <a:cs typeface="Trebuchet MS"/>
              </a:rPr>
              <a:t> </a:t>
            </a:r>
            <a:r>
              <a:rPr sz="1750" b="1" spc="-10" dirty="0">
                <a:latin typeface="Trebuchet MS"/>
                <a:cs typeface="Trebuchet MS"/>
              </a:rPr>
              <a:t>Likelihood:</a:t>
            </a:r>
            <a:endParaRPr sz="1750">
              <a:latin typeface="Trebuchet MS"/>
              <a:cs typeface="Trebuchet MS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05535" y="1544700"/>
          <a:ext cx="3440429" cy="31013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7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24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8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31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9730">
                <a:tc>
                  <a:txBody>
                    <a:bodyPr/>
                    <a:lstStyle/>
                    <a:p>
                      <a:pPr marL="31750">
                        <a:lnSpc>
                          <a:spcPts val="765"/>
                        </a:lnSpc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0.22159854,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65"/>
                        </a:lnSpc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0.84525919,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2545" algn="ctr">
                        <a:lnSpc>
                          <a:spcPts val="765"/>
                        </a:lnSpc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0.09121633,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ts val="765"/>
                        </a:lnSpc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0.364252</a:t>
                      </a:r>
                      <a:endParaRPr sz="8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90805" algn="ctr">
                        <a:lnSpc>
                          <a:spcPct val="100000"/>
                        </a:lnSpc>
                      </a:pPr>
                      <a:r>
                        <a:rPr sz="800" spc="-50" dirty="0">
                          <a:latin typeface="Calibri"/>
                          <a:cs typeface="Calibri"/>
                        </a:rPr>
                        <a:t>,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6675" algn="ctr">
                        <a:lnSpc>
                          <a:spcPts val="765"/>
                        </a:lnSpc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0.30738086,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070">
                <a:tc>
                  <a:txBody>
                    <a:bodyPr/>
                    <a:lstStyle/>
                    <a:p>
                      <a:pPr marL="31750">
                        <a:lnSpc>
                          <a:spcPts val="960"/>
                        </a:lnSpc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0.32240615,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0.24371194,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2545" algn="ctr">
                        <a:lnSpc>
                          <a:spcPts val="960"/>
                        </a:lnSpc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0.22400792,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6360" algn="ctr">
                        <a:lnSpc>
                          <a:spcPts val="960"/>
                        </a:lnSpc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0.39181847,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6675" algn="ctr">
                        <a:lnSpc>
                          <a:spcPts val="960"/>
                        </a:lnSpc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0.16407012,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0.84685229,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0.15944969,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4254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0.79142357,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8953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0.6505366,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 marL="66675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0.33123603,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273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0.81409325,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0.74042126,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L="425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0.67950372,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L="8636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0.74073271,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L="666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0.37091554,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0.83476616,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0.38346571,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4254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0.33561352,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8636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0.74100048,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6667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0.32061713,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0.09172335,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0.39037131,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4254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0.80496586,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8636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0.80301971,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6667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0.32048452,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608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0.79428266,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0.6961708,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4254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0.20183965,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8636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0.82621227,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R="260350" algn="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0.367292</a:t>
                      </a:r>
                      <a:endParaRPr sz="8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R="288290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800" spc="-50" dirty="0">
                          <a:latin typeface="Calibri"/>
                          <a:cs typeface="Calibri"/>
                        </a:rPr>
                        <a:t>,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245">
                <a:tc>
                  <a:txBody>
                    <a:bodyPr/>
                    <a:lstStyle/>
                    <a:p>
                      <a:pPr marL="31750">
                        <a:lnSpc>
                          <a:spcPts val="935"/>
                        </a:lnSpc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0.76095756,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35"/>
                        </a:lnSpc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0.10125199,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2545" algn="ctr">
                        <a:lnSpc>
                          <a:spcPts val="935"/>
                        </a:lnSpc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0.41495427,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6360" algn="ctr">
                        <a:lnSpc>
                          <a:spcPts val="935"/>
                        </a:lnSpc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0.85999877,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6675" algn="ctr">
                        <a:lnSpc>
                          <a:spcPts val="935"/>
                        </a:lnSpc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0.23004346,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0.28881973,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0.41211802,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4254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0.24764836,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8636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0.72743029,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6667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0.20749136,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0.29877091,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0.75781455,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4254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0.29219608,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8636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0.79681589,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6667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0.86823823,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0.29936483,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0.02948181,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4254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0.78528968,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8636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0.84015573,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6667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0.40391632,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241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0.77816356,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0.75039186,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4254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0.84709016,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8636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0.76950307,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6667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0.29772759,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3990">
                <a:tc>
                  <a:txBody>
                    <a:bodyPr/>
                    <a:lstStyle/>
                    <a:p>
                      <a:pPr marL="31750">
                        <a:lnSpc>
                          <a:spcPts val="900"/>
                        </a:lnSpc>
                        <a:spcBef>
                          <a:spcPts val="37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0.41163966,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699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  <a:spcBef>
                          <a:spcPts val="37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0.24862007,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6990" marB="0"/>
                </a:tc>
                <a:tc>
                  <a:txBody>
                    <a:bodyPr/>
                    <a:lstStyle/>
                    <a:p>
                      <a:pPr marL="42545" algn="ctr">
                        <a:lnSpc>
                          <a:spcPts val="900"/>
                        </a:lnSpc>
                        <a:spcBef>
                          <a:spcPts val="37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0.34249207,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6990" marB="0"/>
                </a:tc>
                <a:tc>
                  <a:txBody>
                    <a:bodyPr/>
                    <a:lstStyle/>
                    <a:p>
                      <a:pPr marL="86360" algn="ctr">
                        <a:lnSpc>
                          <a:spcPts val="900"/>
                        </a:lnSpc>
                        <a:spcBef>
                          <a:spcPts val="37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0.74363912,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6990" marB="0"/>
                </a:tc>
                <a:tc>
                  <a:txBody>
                    <a:bodyPr/>
                    <a:lstStyle/>
                    <a:p>
                      <a:pPr marL="66675" algn="ctr">
                        <a:lnSpc>
                          <a:spcPts val="900"/>
                        </a:lnSpc>
                        <a:spcBef>
                          <a:spcPts val="370"/>
                        </a:spcBef>
                      </a:pPr>
                      <a:r>
                        <a:rPr sz="800" spc="-10" dirty="0">
                          <a:latin typeface="Calibri"/>
                          <a:cs typeface="Calibri"/>
                        </a:rPr>
                        <a:t>0.38303383,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699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ts val="900"/>
                        </a:lnSpc>
                        <a:spcBef>
                          <a:spcPts val="370"/>
                        </a:spcBef>
                      </a:pPr>
                      <a:r>
                        <a:rPr sz="800" spc="-50" dirty="0">
                          <a:latin typeface="Calibri"/>
                          <a:cs typeface="Calibri"/>
                        </a:rPr>
                        <a:t>…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4699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62371" y="1627632"/>
            <a:ext cx="3023616" cy="82753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539488" y="2797810"/>
            <a:ext cx="1385570" cy="2946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750" b="1" spc="-10" dirty="0">
                <a:latin typeface="Trebuchet MS"/>
                <a:cs typeface="Trebuchet MS"/>
              </a:rPr>
              <a:t>Equivalently:</a:t>
            </a:r>
            <a:endParaRPr sz="1750">
              <a:latin typeface="Trebuchet MS"/>
              <a:cs typeface="Trebuchet MS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94376" y="3325367"/>
            <a:ext cx="2667000" cy="49377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41295" rIns="0" bIns="0" rtlCol="0">
            <a:spAutoFit/>
          </a:bodyPr>
          <a:lstStyle/>
          <a:p>
            <a:pPr marL="1981835">
              <a:lnSpc>
                <a:spcPts val="940"/>
              </a:lnSpc>
              <a:spcBef>
                <a:spcPts val="15"/>
              </a:spcBef>
            </a:pPr>
            <a:r>
              <a:rPr spc="-50" dirty="0"/>
              <a:t>1</a:t>
            </a:r>
          </a:p>
          <a:p>
            <a:pPr marL="1146810">
              <a:lnSpc>
                <a:spcPts val="940"/>
              </a:lnSpc>
            </a:pPr>
            <a:r>
              <a:rPr sz="800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00" b="1" spc="1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0F1141"/>
                </a:solidFill>
              </a:rPr>
              <a:t>Pilani,</a:t>
            </a:r>
            <a:r>
              <a:rPr sz="800" spc="75" dirty="0">
                <a:solidFill>
                  <a:srgbClr val="0F1141"/>
                </a:solidFill>
              </a:rPr>
              <a:t> </a:t>
            </a:r>
            <a:r>
              <a:rPr sz="800" spc="-10" dirty="0">
                <a:solidFill>
                  <a:srgbClr val="0F1141"/>
                </a:solidFill>
              </a:rPr>
              <a:t>Pilani</a:t>
            </a:r>
            <a:r>
              <a:rPr sz="1350" spc="-15" baseline="-18518" dirty="0"/>
              <a:t>1</a:t>
            </a:r>
            <a:r>
              <a:rPr sz="800" spc="-10" dirty="0">
                <a:solidFill>
                  <a:srgbClr val="0F1141"/>
                </a:solidFill>
              </a:rPr>
              <a:t>Campus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08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09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110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82880" marR="5080" indent="-170815">
              <a:lnSpc>
                <a:spcPts val="2810"/>
              </a:lnSpc>
              <a:spcBef>
                <a:spcPts val="455"/>
              </a:spcBef>
            </a:pPr>
            <a:r>
              <a:rPr sz="2600" dirty="0"/>
              <a:t>Example</a:t>
            </a:r>
            <a:r>
              <a:rPr sz="2600" spc="-20" dirty="0"/>
              <a:t> </a:t>
            </a:r>
            <a:r>
              <a:rPr sz="2600" dirty="0"/>
              <a:t>Density</a:t>
            </a:r>
            <a:r>
              <a:rPr sz="2600" spc="-10" dirty="0"/>
              <a:t> </a:t>
            </a:r>
            <a:r>
              <a:rPr sz="2600" spc="70" dirty="0"/>
              <a:t>Model:</a:t>
            </a:r>
            <a:r>
              <a:rPr sz="2600" spc="85" dirty="0"/>
              <a:t> </a:t>
            </a:r>
            <a:r>
              <a:rPr sz="2600" spc="50" dirty="0"/>
              <a:t>Mixtures</a:t>
            </a:r>
            <a:r>
              <a:rPr sz="2600" spc="95" dirty="0"/>
              <a:t> </a:t>
            </a:r>
            <a:r>
              <a:rPr sz="2600" spc="120" dirty="0"/>
              <a:t>of </a:t>
            </a:r>
            <a:r>
              <a:rPr sz="2600" spc="-10" dirty="0"/>
              <a:t>Gaussians</a:t>
            </a:r>
            <a:endParaRPr sz="2600"/>
          </a:p>
        </p:txBody>
      </p:sp>
      <p:sp>
        <p:nvSpPr>
          <p:cNvPr id="3" name="object 3"/>
          <p:cNvSpPr txBox="1"/>
          <p:nvPr/>
        </p:nvSpPr>
        <p:spPr>
          <a:xfrm>
            <a:off x="372262" y="2946603"/>
            <a:ext cx="37871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71240" algn="l"/>
              </a:tabLst>
            </a:pPr>
            <a:r>
              <a:rPr sz="1800" spc="-35" dirty="0">
                <a:latin typeface="Trebuchet MS"/>
                <a:cs typeface="Trebuchet MS"/>
              </a:rPr>
              <a:t>Parameters: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means</a:t>
            </a:r>
            <a:r>
              <a:rPr sz="1800" spc="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variances</a:t>
            </a:r>
            <a:r>
              <a:rPr sz="1800" dirty="0">
                <a:latin typeface="Trebuchet MS"/>
                <a:cs typeface="Trebuchet MS"/>
              </a:rPr>
              <a:t>	</a:t>
            </a:r>
            <a:r>
              <a:rPr sz="1800" spc="-25" dirty="0">
                <a:latin typeface="Trebuchet MS"/>
                <a:cs typeface="Trebuchet MS"/>
              </a:rPr>
              <a:t>of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Trebuchet MS"/>
                <a:cs typeface="Trebuchet MS"/>
              </a:rPr>
              <a:t>components,</a:t>
            </a:r>
            <a:r>
              <a:rPr sz="1800" spc="-90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mixture</a:t>
            </a:r>
            <a:r>
              <a:rPr sz="1800" spc="-11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weights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00600" y="1133855"/>
            <a:ext cx="4014215" cy="304038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78408" y="1421891"/>
            <a:ext cx="3154679" cy="82448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56615" y="3808476"/>
            <a:ext cx="4215384" cy="3429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41295" rIns="0" bIns="0" rtlCol="0">
            <a:spAutoFit/>
          </a:bodyPr>
          <a:lstStyle/>
          <a:p>
            <a:pPr marL="1981835">
              <a:lnSpc>
                <a:spcPts val="940"/>
              </a:lnSpc>
              <a:spcBef>
                <a:spcPts val="15"/>
              </a:spcBef>
            </a:pPr>
            <a:r>
              <a:rPr spc="-50" dirty="0"/>
              <a:t>1</a:t>
            </a:r>
          </a:p>
          <a:p>
            <a:pPr marL="1146810">
              <a:lnSpc>
                <a:spcPts val="940"/>
              </a:lnSpc>
            </a:pPr>
            <a:r>
              <a:rPr sz="800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00" b="1" spc="1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0F1141"/>
                </a:solidFill>
              </a:rPr>
              <a:t>Pilani,</a:t>
            </a:r>
            <a:r>
              <a:rPr sz="800" spc="75" dirty="0">
                <a:solidFill>
                  <a:srgbClr val="0F1141"/>
                </a:solidFill>
              </a:rPr>
              <a:t> </a:t>
            </a:r>
            <a:r>
              <a:rPr sz="800" spc="-10" dirty="0">
                <a:solidFill>
                  <a:srgbClr val="0F1141"/>
                </a:solidFill>
              </a:rPr>
              <a:t>Pilani</a:t>
            </a:r>
            <a:r>
              <a:rPr sz="1350" spc="-15" baseline="-18518" dirty="0"/>
              <a:t>2</a:t>
            </a:r>
            <a:r>
              <a:rPr sz="800" spc="-10" dirty="0">
                <a:solidFill>
                  <a:srgbClr val="0F1141"/>
                </a:solidFill>
              </a:rPr>
              <a:t>Campus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53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54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155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grpSp>
        <p:nvGrpSpPr>
          <p:cNvPr id="2" name="object 2"/>
          <p:cNvGrpSpPr/>
          <p:nvPr/>
        </p:nvGrpSpPr>
        <p:grpSpPr>
          <a:xfrm>
            <a:off x="2084832" y="4911852"/>
            <a:ext cx="7059295" cy="38100"/>
            <a:chOff x="2084832" y="4911852"/>
            <a:chExt cx="7059295" cy="38100"/>
          </a:xfrm>
        </p:grpSpPr>
        <p:sp>
          <p:nvSpPr>
            <p:cNvPr id="3" name="object 3"/>
            <p:cNvSpPr/>
            <p:nvPr/>
          </p:nvSpPr>
          <p:spPr>
            <a:xfrm>
              <a:off x="4631436" y="4911852"/>
              <a:ext cx="2329180" cy="38100"/>
            </a:xfrm>
            <a:custGeom>
              <a:avLst/>
              <a:gdLst/>
              <a:ahLst/>
              <a:cxnLst/>
              <a:rect l="l" t="t" r="r" b="b"/>
              <a:pathLst>
                <a:path w="2329179" h="38100">
                  <a:moveTo>
                    <a:pt x="2328671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2328671" y="38100"/>
                  </a:lnTo>
                  <a:lnTo>
                    <a:pt x="2328671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908291" y="4911852"/>
              <a:ext cx="2235835" cy="35560"/>
            </a:xfrm>
            <a:custGeom>
              <a:avLst/>
              <a:gdLst/>
              <a:ahLst/>
              <a:cxnLst/>
              <a:rect l="l" t="t" r="r" b="b"/>
              <a:pathLst>
                <a:path w="2235834" h="35560">
                  <a:moveTo>
                    <a:pt x="2235707" y="0"/>
                  </a:moveTo>
                  <a:lnTo>
                    <a:pt x="0" y="0"/>
                  </a:lnTo>
                  <a:lnTo>
                    <a:pt x="0" y="35052"/>
                  </a:lnTo>
                  <a:lnTo>
                    <a:pt x="2235707" y="35052"/>
                  </a:lnTo>
                  <a:lnTo>
                    <a:pt x="2235707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084832" y="4911852"/>
              <a:ext cx="2580640" cy="38100"/>
            </a:xfrm>
            <a:custGeom>
              <a:avLst/>
              <a:gdLst/>
              <a:ahLst/>
              <a:cxnLst/>
              <a:rect l="l" t="t" r="r" b="b"/>
              <a:pathLst>
                <a:path w="2580640" h="38100">
                  <a:moveTo>
                    <a:pt x="2580132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2580132" y="38100"/>
                  </a:lnTo>
                  <a:lnTo>
                    <a:pt x="2580132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95800" y="4914900"/>
              <a:ext cx="2329180" cy="35560"/>
            </a:xfrm>
            <a:custGeom>
              <a:avLst/>
              <a:gdLst/>
              <a:ahLst/>
              <a:cxnLst/>
              <a:rect l="l" t="t" r="r" b="b"/>
              <a:pathLst>
                <a:path w="2329179" h="35560">
                  <a:moveTo>
                    <a:pt x="2328672" y="0"/>
                  </a:moveTo>
                  <a:lnTo>
                    <a:pt x="0" y="0"/>
                  </a:lnTo>
                  <a:lnTo>
                    <a:pt x="0" y="35052"/>
                  </a:lnTo>
                  <a:lnTo>
                    <a:pt x="2328672" y="35052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33600" y="4914900"/>
              <a:ext cx="2362200" cy="35560"/>
            </a:xfrm>
            <a:custGeom>
              <a:avLst/>
              <a:gdLst/>
              <a:ahLst/>
              <a:cxnLst/>
              <a:rect l="l" t="t" r="r" b="b"/>
              <a:pathLst>
                <a:path w="2362200" h="35560">
                  <a:moveTo>
                    <a:pt x="2362200" y="0"/>
                  </a:moveTo>
                  <a:lnTo>
                    <a:pt x="0" y="0"/>
                  </a:lnTo>
                  <a:lnTo>
                    <a:pt x="0" y="35052"/>
                  </a:lnTo>
                  <a:lnTo>
                    <a:pt x="2362200" y="35052"/>
                  </a:lnTo>
                  <a:lnTo>
                    <a:pt x="23622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15328" y="4914900"/>
              <a:ext cx="2329180" cy="35560"/>
            </a:xfrm>
            <a:custGeom>
              <a:avLst/>
              <a:gdLst/>
              <a:ahLst/>
              <a:cxnLst/>
              <a:rect l="l" t="t" r="r" b="b"/>
              <a:pathLst>
                <a:path w="2329179" h="35560">
                  <a:moveTo>
                    <a:pt x="2328672" y="0"/>
                  </a:moveTo>
                  <a:lnTo>
                    <a:pt x="0" y="0"/>
                  </a:lnTo>
                  <a:lnTo>
                    <a:pt x="0" y="35052"/>
                  </a:lnTo>
                  <a:lnTo>
                    <a:pt x="2328672" y="35052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29400" y="0"/>
            <a:ext cx="2194559" cy="519684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0" y="972311"/>
            <a:ext cx="7010400" cy="33655"/>
            <a:chOff x="0" y="972311"/>
            <a:chExt cx="7010400" cy="33655"/>
          </a:xfrm>
        </p:grpSpPr>
        <p:sp>
          <p:nvSpPr>
            <p:cNvPr id="11" name="object 11"/>
            <p:cNvSpPr/>
            <p:nvPr/>
          </p:nvSpPr>
          <p:spPr>
            <a:xfrm>
              <a:off x="2362200" y="972311"/>
              <a:ext cx="2329180" cy="33655"/>
            </a:xfrm>
            <a:custGeom>
              <a:avLst/>
              <a:gdLst/>
              <a:ahLst/>
              <a:cxnLst/>
              <a:rect l="l" t="t" r="r" b="b"/>
              <a:pathLst>
                <a:path w="2329179" h="33655">
                  <a:moveTo>
                    <a:pt x="2328672" y="0"/>
                  </a:moveTo>
                  <a:lnTo>
                    <a:pt x="0" y="0"/>
                  </a:lnTo>
                  <a:lnTo>
                    <a:pt x="0" y="33527"/>
                  </a:lnTo>
                  <a:lnTo>
                    <a:pt x="2328672" y="33527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972311"/>
              <a:ext cx="2362200" cy="33655"/>
            </a:xfrm>
            <a:custGeom>
              <a:avLst/>
              <a:gdLst/>
              <a:ahLst/>
              <a:cxnLst/>
              <a:rect l="l" t="t" r="r" b="b"/>
              <a:pathLst>
                <a:path w="2362200" h="33655">
                  <a:moveTo>
                    <a:pt x="2362200" y="0"/>
                  </a:moveTo>
                  <a:lnTo>
                    <a:pt x="0" y="0"/>
                  </a:lnTo>
                  <a:lnTo>
                    <a:pt x="0" y="33527"/>
                  </a:lnTo>
                  <a:lnTo>
                    <a:pt x="2362200" y="33527"/>
                  </a:lnTo>
                  <a:lnTo>
                    <a:pt x="23622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81728" y="972311"/>
              <a:ext cx="2329180" cy="33655"/>
            </a:xfrm>
            <a:custGeom>
              <a:avLst/>
              <a:gdLst/>
              <a:ahLst/>
              <a:cxnLst/>
              <a:rect l="l" t="t" r="r" b="b"/>
              <a:pathLst>
                <a:path w="2329179" h="33655">
                  <a:moveTo>
                    <a:pt x="2328672" y="0"/>
                  </a:moveTo>
                  <a:lnTo>
                    <a:pt x="0" y="0"/>
                  </a:lnTo>
                  <a:lnTo>
                    <a:pt x="0" y="33527"/>
                  </a:lnTo>
                  <a:lnTo>
                    <a:pt x="2328672" y="33527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760567" y="2728135"/>
            <a:ext cx="853440" cy="114300"/>
            <a:chOff x="760567" y="2728135"/>
            <a:chExt cx="853440" cy="114300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0567" y="2728135"/>
              <a:ext cx="853240" cy="113948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94004" y="2766059"/>
              <a:ext cx="733425" cy="0"/>
            </a:xfrm>
            <a:custGeom>
              <a:avLst/>
              <a:gdLst/>
              <a:ahLst/>
              <a:cxnLst/>
              <a:rect l="l" t="t" r="r" b="b"/>
              <a:pathLst>
                <a:path w="733425">
                  <a:moveTo>
                    <a:pt x="0" y="0"/>
                  </a:moveTo>
                  <a:lnTo>
                    <a:pt x="733043" y="0"/>
                  </a:lnTo>
                </a:path>
              </a:pathLst>
            </a:custGeom>
            <a:ln w="9144">
              <a:solidFill>
                <a:srgbClr val="33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527048" y="2749295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0"/>
                  </a:moveTo>
                  <a:lnTo>
                    <a:pt x="0" y="31750"/>
                  </a:lnTo>
                  <a:lnTo>
                    <a:pt x="43561" y="158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27048" y="2749295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750"/>
                  </a:moveTo>
                  <a:lnTo>
                    <a:pt x="43561" y="15875"/>
                  </a:lnTo>
                  <a:lnTo>
                    <a:pt x="0" y="0"/>
                  </a:lnTo>
                  <a:lnTo>
                    <a:pt x="0" y="31750"/>
                  </a:lnTo>
                  <a:close/>
                </a:path>
              </a:pathLst>
            </a:custGeom>
            <a:ln w="9144">
              <a:solidFill>
                <a:srgbClr val="33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954024" y="2029777"/>
            <a:ext cx="7174865" cy="2143125"/>
            <a:chOff x="954024" y="2029777"/>
            <a:chExt cx="7174865" cy="2143125"/>
          </a:xfrm>
        </p:grpSpPr>
        <p:sp>
          <p:nvSpPr>
            <p:cNvPr id="20" name="object 20"/>
            <p:cNvSpPr/>
            <p:nvPr/>
          </p:nvSpPr>
          <p:spPr>
            <a:xfrm>
              <a:off x="1735836" y="2034539"/>
              <a:ext cx="4536440" cy="1468755"/>
            </a:xfrm>
            <a:custGeom>
              <a:avLst/>
              <a:gdLst/>
              <a:ahLst/>
              <a:cxnLst/>
              <a:rect l="l" t="t" r="r" b="b"/>
              <a:pathLst>
                <a:path w="4536440" h="1468754">
                  <a:moveTo>
                    <a:pt x="0" y="1468627"/>
                  </a:moveTo>
                  <a:lnTo>
                    <a:pt x="412419" y="1468627"/>
                  </a:lnTo>
                  <a:lnTo>
                    <a:pt x="412419" y="6095"/>
                  </a:lnTo>
                  <a:lnTo>
                    <a:pt x="0" y="6095"/>
                  </a:lnTo>
                  <a:lnTo>
                    <a:pt x="0" y="1468627"/>
                  </a:lnTo>
                  <a:close/>
                </a:path>
                <a:path w="4536440" h="1468754">
                  <a:moveTo>
                    <a:pt x="1421891" y="1468627"/>
                  </a:moveTo>
                  <a:lnTo>
                    <a:pt x="1834311" y="1468627"/>
                  </a:lnTo>
                  <a:lnTo>
                    <a:pt x="1834311" y="6095"/>
                  </a:lnTo>
                  <a:lnTo>
                    <a:pt x="1421891" y="6095"/>
                  </a:lnTo>
                  <a:lnTo>
                    <a:pt x="1421891" y="1468627"/>
                  </a:lnTo>
                  <a:close/>
                </a:path>
                <a:path w="4536440" h="1468754">
                  <a:moveTo>
                    <a:pt x="4123943" y="1462532"/>
                  </a:moveTo>
                  <a:lnTo>
                    <a:pt x="4536363" y="1462532"/>
                  </a:lnTo>
                  <a:lnTo>
                    <a:pt x="4536363" y="0"/>
                  </a:lnTo>
                  <a:lnTo>
                    <a:pt x="4123943" y="0"/>
                  </a:lnTo>
                  <a:lnTo>
                    <a:pt x="4123943" y="1462532"/>
                  </a:lnTo>
                  <a:close/>
                </a:path>
              </a:pathLst>
            </a:custGeom>
            <a:ln w="9144">
              <a:solidFill>
                <a:srgbClr val="33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34156" y="3782567"/>
              <a:ext cx="1450848" cy="390144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973074" y="3216401"/>
              <a:ext cx="7136765" cy="575945"/>
            </a:xfrm>
            <a:custGeom>
              <a:avLst/>
              <a:gdLst/>
              <a:ahLst/>
              <a:cxnLst/>
              <a:rect l="l" t="t" r="r" b="b"/>
              <a:pathLst>
                <a:path w="7136765" h="575945">
                  <a:moveTo>
                    <a:pt x="45961" y="79629"/>
                  </a:moveTo>
                  <a:lnTo>
                    <a:pt x="90347" y="101346"/>
                  </a:lnTo>
                  <a:lnTo>
                    <a:pt x="135000" y="122300"/>
                  </a:lnTo>
                  <a:lnTo>
                    <a:pt x="179920" y="142367"/>
                  </a:lnTo>
                  <a:lnTo>
                    <a:pt x="225107" y="161671"/>
                  </a:lnTo>
                  <a:lnTo>
                    <a:pt x="270548" y="180086"/>
                  </a:lnTo>
                  <a:lnTo>
                    <a:pt x="316229" y="197866"/>
                  </a:lnTo>
                  <a:lnTo>
                    <a:pt x="362203" y="214884"/>
                  </a:lnTo>
                  <a:lnTo>
                    <a:pt x="408304" y="231140"/>
                  </a:lnTo>
                  <a:lnTo>
                    <a:pt x="454787" y="246761"/>
                  </a:lnTo>
                  <a:lnTo>
                    <a:pt x="501395" y="261620"/>
                  </a:lnTo>
                  <a:lnTo>
                    <a:pt x="548259" y="275844"/>
                  </a:lnTo>
                  <a:lnTo>
                    <a:pt x="595248" y="289433"/>
                  </a:lnTo>
                  <a:lnTo>
                    <a:pt x="642492" y="302260"/>
                  </a:lnTo>
                  <a:lnTo>
                    <a:pt x="689990" y="314579"/>
                  </a:lnTo>
                  <a:lnTo>
                    <a:pt x="737615" y="326263"/>
                  </a:lnTo>
                  <a:lnTo>
                    <a:pt x="785494" y="337312"/>
                  </a:lnTo>
                  <a:lnTo>
                    <a:pt x="833501" y="347853"/>
                  </a:lnTo>
                  <a:lnTo>
                    <a:pt x="881761" y="357886"/>
                  </a:lnTo>
                  <a:lnTo>
                    <a:pt x="930020" y="367284"/>
                  </a:lnTo>
                  <a:lnTo>
                    <a:pt x="978662" y="376174"/>
                  </a:lnTo>
                  <a:lnTo>
                    <a:pt x="1027302" y="384556"/>
                  </a:lnTo>
                  <a:lnTo>
                    <a:pt x="1076070" y="392430"/>
                  </a:lnTo>
                  <a:lnTo>
                    <a:pt x="1125093" y="399923"/>
                  </a:lnTo>
                  <a:lnTo>
                    <a:pt x="1174242" y="406908"/>
                  </a:lnTo>
                  <a:lnTo>
                    <a:pt x="1223518" y="413385"/>
                  </a:lnTo>
                  <a:lnTo>
                    <a:pt x="1272920" y="419481"/>
                  </a:lnTo>
                  <a:lnTo>
                    <a:pt x="1322324" y="425323"/>
                  </a:lnTo>
                  <a:lnTo>
                    <a:pt x="1371981" y="430657"/>
                  </a:lnTo>
                  <a:lnTo>
                    <a:pt x="1421764" y="435610"/>
                  </a:lnTo>
                  <a:lnTo>
                    <a:pt x="1471549" y="440182"/>
                  </a:lnTo>
                  <a:lnTo>
                    <a:pt x="1521459" y="444500"/>
                  </a:lnTo>
                  <a:lnTo>
                    <a:pt x="1571498" y="448437"/>
                  </a:lnTo>
                  <a:lnTo>
                    <a:pt x="1621536" y="452120"/>
                  </a:lnTo>
                  <a:lnTo>
                    <a:pt x="1671701" y="455549"/>
                  </a:lnTo>
                  <a:lnTo>
                    <a:pt x="1721993" y="458597"/>
                  </a:lnTo>
                  <a:lnTo>
                    <a:pt x="1772284" y="461518"/>
                  </a:lnTo>
                  <a:lnTo>
                    <a:pt x="1822703" y="464185"/>
                  </a:lnTo>
                  <a:lnTo>
                    <a:pt x="1873123" y="466598"/>
                  </a:lnTo>
                  <a:lnTo>
                    <a:pt x="1923542" y="468884"/>
                  </a:lnTo>
                  <a:lnTo>
                    <a:pt x="1974088" y="470916"/>
                  </a:lnTo>
                  <a:lnTo>
                    <a:pt x="2024633" y="472821"/>
                  </a:lnTo>
                  <a:lnTo>
                    <a:pt x="2075180" y="474599"/>
                  </a:lnTo>
                  <a:lnTo>
                    <a:pt x="2125726" y="476123"/>
                  </a:lnTo>
                  <a:lnTo>
                    <a:pt x="2176399" y="477647"/>
                  </a:lnTo>
                  <a:lnTo>
                    <a:pt x="2226945" y="479044"/>
                  </a:lnTo>
                  <a:lnTo>
                    <a:pt x="2277618" y="480441"/>
                  </a:lnTo>
                  <a:lnTo>
                    <a:pt x="2328164" y="481711"/>
                  </a:lnTo>
                  <a:lnTo>
                    <a:pt x="2378837" y="482981"/>
                  </a:lnTo>
                  <a:lnTo>
                    <a:pt x="2429383" y="484124"/>
                  </a:lnTo>
                  <a:lnTo>
                    <a:pt x="2479929" y="485394"/>
                  </a:lnTo>
                  <a:lnTo>
                    <a:pt x="2530475" y="486537"/>
                  </a:lnTo>
                  <a:lnTo>
                    <a:pt x="2581021" y="487807"/>
                  </a:lnTo>
                  <a:lnTo>
                    <a:pt x="2631566" y="489077"/>
                  </a:lnTo>
                  <a:lnTo>
                    <a:pt x="2681986" y="490474"/>
                  </a:lnTo>
                  <a:lnTo>
                    <a:pt x="2732278" y="491871"/>
                  </a:lnTo>
                  <a:lnTo>
                    <a:pt x="2782570" y="493395"/>
                  </a:lnTo>
                  <a:lnTo>
                    <a:pt x="2832862" y="495046"/>
                  </a:lnTo>
                  <a:lnTo>
                    <a:pt x="2883027" y="496697"/>
                  </a:lnTo>
                  <a:lnTo>
                    <a:pt x="2933191" y="498602"/>
                  </a:lnTo>
                  <a:lnTo>
                    <a:pt x="2983229" y="500634"/>
                  </a:lnTo>
                  <a:lnTo>
                    <a:pt x="3033141" y="502920"/>
                  </a:lnTo>
                  <a:lnTo>
                    <a:pt x="3082925" y="505333"/>
                  </a:lnTo>
                  <a:lnTo>
                    <a:pt x="3132709" y="508000"/>
                  </a:lnTo>
                  <a:lnTo>
                    <a:pt x="3182366" y="510921"/>
                  </a:lnTo>
                  <a:lnTo>
                    <a:pt x="3231896" y="513969"/>
                  </a:lnTo>
                  <a:lnTo>
                    <a:pt x="3281299" y="517398"/>
                  </a:lnTo>
                  <a:lnTo>
                    <a:pt x="3331210" y="520954"/>
                  </a:lnTo>
                  <a:lnTo>
                    <a:pt x="3381248" y="524510"/>
                  </a:lnTo>
                  <a:lnTo>
                    <a:pt x="3431413" y="528066"/>
                  </a:lnTo>
                  <a:lnTo>
                    <a:pt x="3481704" y="531495"/>
                  </a:lnTo>
                  <a:lnTo>
                    <a:pt x="3531997" y="534924"/>
                  </a:lnTo>
                  <a:lnTo>
                    <a:pt x="3582416" y="538353"/>
                  </a:lnTo>
                  <a:lnTo>
                    <a:pt x="3632962" y="541655"/>
                  </a:lnTo>
                  <a:lnTo>
                    <a:pt x="3683508" y="544830"/>
                  </a:lnTo>
                  <a:lnTo>
                    <a:pt x="3734054" y="548005"/>
                  </a:lnTo>
                  <a:lnTo>
                    <a:pt x="3784854" y="551053"/>
                  </a:lnTo>
                  <a:lnTo>
                    <a:pt x="3835527" y="553974"/>
                  </a:lnTo>
                  <a:lnTo>
                    <a:pt x="3886327" y="556768"/>
                  </a:lnTo>
                  <a:lnTo>
                    <a:pt x="3937254" y="559308"/>
                  </a:lnTo>
                  <a:lnTo>
                    <a:pt x="3988054" y="561848"/>
                  </a:lnTo>
                  <a:lnTo>
                    <a:pt x="4038980" y="564134"/>
                  </a:lnTo>
                  <a:lnTo>
                    <a:pt x="4089908" y="566293"/>
                  </a:lnTo>
                  <a:lnTo>
                    <a:pt x="4140962" y="568325"/>
                  </a:lnTo>
                  <a:lnTo>
                    <a:pt x="4191889" y="570103"/>
                  </a:lnTo>
                  <a:lnTo>
                    <a:pt x="4242943" y="571627"/>
                  </a:lnTo>
                  <a:lnTo>
                    <a:pt x="4293997" y="572897"/>
                  </a:lnTo>
                  <a:lnTo>
                    <a:pt x="4344924" y="574040"/>
                  </a:lnTo>
                  <a:lnTo>
                    <a:pt x="4395978" y="574929"/>
                  </a:lnTo>
                  <a:lnTo>
                    <a:pt x="4447032" y="575564"/>
                  </a:lnTo>
                  <a:lnTo>
                    <a:pt x="4497959" y="575818"/>
                  </a:lnTo>
                  <a:lnTo>
                    <a:pt x="4549013" y="575945"/>
                  </a:lnTo>
                  <a:lnTo>
                    <a:pt x="4599940" y="575691"/>
                  </a:lnTo>
                  <a:lnTo>
                    <a:pt x="4650867" y="575183"/>
                  </a:lnTo>
                  <a:lnTo>
                    <a:pt x="4701667" y="574294"/>
                  </a:lnTo>
                  <a:lnTo>
                    <a:pt x="4752594" y="573151"/>
                  </a:lnTo>
                  <a:lnTo>
                    <a:pt x="4803394" y="571627"/>
                  </a:lnTo>
                  <a:lnTo>
                    <a:pt x="4854067" y="569849"/>
                  </a:lnTo>
                  <a:lnTo>
                    <a:pt x="4904867" y="567690"/>
                  </a:lnTo>
                  <a:lnTo>
                    <a:pt x="4955413" y="565023"/>
                  </a:lnTo>
                  <a:lnTo>
                    <a:pt x="5006086" y="562102"/>
                  </a:lnTo>
                  <a:lnTo>
                    <a:pt x="5056505" y="558800"/>
                  </a:lnTo>
                  <a:lnTo>
                    <a:pt x="5106924" y="554990"/>
                  </a:lnTo>
                  <a:lnTo>
                    <a:pt x="5157343" y="550926"/>
                  </a:lnTo>
                  <a:lnTo>
                    <a:pt x="5207508" y="546227"/>
                  </a:lnTo>
                  <a:lnTo>
                    <a:pt x="5257673" y="541274"/>
                  </a:lnTo>
                  <a:lnTo>
                    <a:pt x="5307711" y="535813"/>
                  </a:lnTo>
                  <a:lnTo>
                    <a:pt x="5357749" y="529844"/>
                  </a:lnTo>
                  <a:lnTo>
                    <a:pt x="5407533" y="523494"/>
                  </a:lnTo>
                  <a:lnTo>
                    <a:pt x="5457317" y="516509"/>
                  </a:lnTo>
                  <a:lnTo>
                    <a:pt x="5506974" y="509143"/>
                  </a:lnTo>
                  <a:lnTo>
                    <a:pt x="5556377" y="501269"/>
                  </a:lnTo>
                  <a:lnTo>
                    <a:pt x="5605780" y="492887"/>
                  </a:lnTo>
                  <a:lnTo>
                    <a:pt x="5655056" y="483997"/>
                  </a:lnTo>
                  <a:lnTo>
                    <a:pt x="5704078" y="474472"/>
                  </a:lnTo>
                  <a:lnTo>
                    <a:pt x="5752973" y="464439"/>
                  </a:lnTo>
                  <a:lnTo>
                    <a:pt x="5801868" y="453898"/>
                  </a:lnTo>
                  <a:lnTo>
                    <a:pt x="5850382" y="442722"/>
                  </a:lnTo>
                  <a:lnTo>
                    <a:pt x="5898896" y="430911"/>
                  </a:lnTo>
                  <a:lnTo>
                    <a:pt x="5947156" y="418592"/>
                  </a:lnTo>
                  <a:lnTo>
                    <a:pt x="5995289" y="405638"/>
                  </a:lnTo>
                  <a:lnTo>
                    <a:pt x="6043295" y="392049"/>
                  </a:lnTo>
                  <a:lnTo>
                    <a:pt x="6091047" y="377825"/>
                  </a:lnTo>
                  <a:lnTo>
                    <a:pt x="6138672" y="362966"/>
                  </a:lnTo>
                  <a:lnTo>
                    <a:pt x="6186043" y="347472"/>
                  </a:lnTo>
                  <a:lnTo>
                    <a:pt x="6233159" y="331216"/>
                  </a:lnTo>
                  <a:lnTo>
                    <a:pt x="6280150" y="314452"/>
                  </a:lnTo>
                  <a:lnTo>
                    <a:pt x="6326885" y="296799"/>
                  </a:lnTo>
                  <a:lnTo>
                    <a:pt x="6373495" y="278638"/>
                  </a:lnTo>
                  <a:lnTo>
                    <a:pt x="6418580" y="262000"/>
                  </a:lnTo>
                  <a:lnTo>
                    <a:pt x="6464808" y="247269"/>
                  </a:lnTo>
                  <a:lnTo>
                    <a:pt x="6511925" y="234187"/>
                  </a:lnTo>
                  <a:lnTo>
                    <a:pt x="6559804" y="222377"/>
                  </a:lnTo>
                  <a:lnTo>
                    <a:pt x="6608191" y="211328"/>
                  </a:lnTo>
                  <a:lnTo>
                    <a:pt x="6656705" y="200660"/>
                  </a:lnTo>
                  <a:lnTo>
                    <a:pt x="6705219" y="190119"/>
                  </a:lnTo>
                  <a:lnTo>
                    <a:pt x="6753606" y="179197"/>
                  </a:lnTo>
                  <a:lnTo>
                    <a:pt x="6801358" y="167512"/>
                  </a:lnTo>
                  <a:lnTo>
                    <a:pt x="6848348" y="154686"/>
                  </a:lnTo>
                  <a:lnTo>
                    <a:pt x="6894449" y="140208"/>
                  </a:lnTo>
                  <a:lnTo>
                    <a:pt x="6939280" y="123952"/>
                  </a:lnTo>
                  <a:lnTo>
                    <a:pt x="6982714" y="105410"/>
                  </a:lnTo>
                  <a:lnTo>
                    <a:pt x="7024370" y="84074"/>
                  </a:lnTo>
                  <a:lnTo>
                    <a:pt x="7063994" y="59690"/>
                  </a:lnTo>
                  <a:lnTo>
                    <a:pt x="7101585" y="31750"/>
                  </a:lnTo>
                  <a:lnTo>
                    <a:pt x="7136637" y="0"/>
                  </a:lnTo>
                </a:path>
                <a:path w="7136765" h="575945">
                  <a:moveTo>
                    <a:pt x="93662" y="222885"/>
                  </a:moveTo>
                  <a:lnTo>
                    <a:pt x="68300" y="182499"/>
                  </a:lnTo>
                  <a:lnTo>
                    <a:pt x="37363" y="139827"/>
                  </a:lnTo>
                  <a:lnTo>
                    <a:pt x="11163" y="97281"/>
                  </a:lnTo>
                  <a:lnTo>
                    <a:pt x="0" y="57785"/>
                  </a:lnTo>
                  <a:lnTo>
                    <a:pt x="14160" y="23875"/>
                  </a:lnTo>
                  <a:lnTo>
                    <a:pt x="45859" y="5461"/>
                  </a:lnTo>
                  <a:lnTo>
                    <a:pt x="83324" y="2921"/>
                  </a:lnTo>
                  <a:lnTo>
                    <a:pt x="124650" y="10668"/>
                  </a:lnTo>
                  <a:lnTo>
                    <a:pt x="167932" y="23114"/>
                  </a:lnTo>
                  <a:lnTo>
                    <a:pt x="211226" y="34671"/>
                  </a:lnTo>
                  <a:lnTo>
                    <a:pt x="252653" y="3975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2225131" y="2728135"/>
            <a:ext cx="853440" cy="114300"/>
            <a:chOff x="2225131" y="2728135"/>
            <a:chExt cx="853440" cy="114300"/>
          </a:xfrm>
        </p:grpSpPr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25131" y="2728135"/>
              <a:ext cx="853240" cy="113948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2260091" y="2766059"/>
              <a:ext cx="731520" cy="0"/>
            </a:xfrm>
            <a:custGeom>
              <a:avLst/>
              <a:gdLst/>
              <a:ahLst/>
              <a:cxnLst/>
              <a:rect l="l" t="t" r="r" b="b"/>
              <a:pathLst>
                <a:path w="731519">
                  <a:moveTo>
                    <a:pt x="0" y="0"/>
                  </a:moveTo>
                  <a:lnTo>
                    <a:pt x="731519" y="0"/>
                  </a:lnTo>
                </a:path>
              </a:pathLst>
            </a:custGeom>
            <a:ln w="9144">
              <a:solidFill>
                <a:srgbClr val="33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991611" y="2749295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0"/>
                  </a:moveTo>
                  <a:lnTo>
                    <a:pt x="0" y="31750"/>
                  </a:lnTo>
                  <a:lnTo>
                    <a:pt x="43561" y="158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991611" y="2749295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750"/>
                  </a:moveTo>
                  <a:lnTo>
                    <a:pt x="43561" y="15875"/>
                  </a:lnTo>
                  <a:lnTo>
                    <a:pt x="0" y="0"/>
                  </a:lnTo>
                  <a:lnTo>
                    <a:pt x="0" y="31750"/>
                  </a:lnTo>
                  <a:close/>
                </a:path>
              </a:pathLst>
            </a:custGeom>
            <a:ln w="9144">
              <a:solidFill>
                <a:srgbClr val="33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3628735" y="2728135"/>
            <a:ext cx="853440" cy="114300"/>
            <a:chOff x="3628735" y="2728135"/>
            <a:chExt cx="853440" cy="114300"/>
          </a:xfrm>
        </p:grpSpPr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28735" y="2728135"/>
              <a:ext cx="853240" cy="113948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3663695" y="2766059"/>
              <a:ext cx="731520" cy="0"/>
            </a:xfrm>
            <a:custGeom>
              <a:avLst/>
              <a:gdLst/>
              <a:ahLst/>
              <a:cxnLst/>
              <a:rect l="l" t="t" r="r" b="b"/>
              <a:pathLst>
                <a:path w="731520">
                  <a:moveTo>
                    <a:pt x="0" y="0"/>
                  </a:moveTo>
                  <a:lnTo>
                    <a:pt x="731519" y="0"/>
                  </a:lnTo>
                </a:path>
              </a:pathLst>
            </a:custGeom>
            <a:ln w="9144">
              <a:solidFill>
                <a:srgbClr val="33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395215" y="2749295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0"/>
                  </a:moveTo>
                  <a:lnTo>
                    <a:pt x="0" y="31750"/>
                  </a:lnTo>
                  <a:lnTo>
                    <a:pt x="43561" y="158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395215" y="2749295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750"/>
                  </a:moveTo>
                  <a:lnTo>
                    <a:pt x="43561" y="15875"/>
                  </a:lnTo>
                  <a:lnTo>
                    <a:pt x="0" y="0"/>
                  </a:lnTo>
                  <a:lnTo>
                    <a:pt x="0" y="31750"/>
                  </a:lnTo>
                  <a:close/>
                </a:path>
              </a:pathLst>
            </a:custGeom>
            <a:ln w="9144">
              <a:solidFill>
                <a:srgbClr val="33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4511802" y="2458973"/>
            <a:ext cx="3048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25" dirty="0">
                <a:latin typeface="Calibri"/>
                <a:cs typeface="Calibri"/>
              </a:rPr>
              <a:t>...</a:t>
            </a:r>
            <a:endParaRPr sz="300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881464" y="2728135"/>
            <a:ext cx="853440" cy="114300"/>
            <a:chOff x="4881464" y="2728135"/>
            <a:chExt cx="853440" cy="114300"/>
          </a:xfrm>
        </p:grpSpPr>
        <p:pic>
          <p:nvPicPr>
            <p:cNvPr id="35" name="object 3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81464" y="2728135"/>
              <a:ext cx="853240" cy="113948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4914900" y="2766059"/>
              <a:ext cx="733425" cy="0"/>
            </a:xfrm>
            <a:custGeom>
              <a:avLst/>
              <a:gdLst/>
              <a:ahLst/>
              <a:cxnLst/>
              <a:rect l="l" t="t" r="r" b="b"/>
              <a:pathLst>
                <a:path w="733425">
                  <a:moveTo>
                    <a:pt x="0" y="0"/>
                  </a:moveTo>
                  <a:lnTo>
                    <a:pt x="733044" y="0"/>
                  </a:lnTo>
                </a:path>
              </a:pathLst>
            </a:custGeom>
            <a:ln w="9144">
              <a:solidFill>
                <a:srgbClr val="33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647944" y="2749295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0"/>
                  </a:moveTo>
                  <a:lnTo>
                    <a:pt x="0" y="31750"/>
                  </a:lnTo>
                  <a:lnTo>
                    <a:pt x="43560" y="158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647944" y="2749295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750"/>
                  </a:moveTo>
                  <a:lnTo>
                    <a:pt x="43560" y="15875"/>
                  </a:lnTo>
                  <a:lnTo>
                    <a:pt x="0" y="0"/>
                  </a:lnTo>
                  <a:lnTo>
                    <a:pt x="0" y="31750"/>
                  </a:lnTo>
                  <a:close/>
                </a:path>
              </a:pathLst>
            </a:custGeom>
            <a:ln w="9144">
              <a:solidFill>
                <a:srgbClr val="33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9" name="object 39"/>
          <p:cNvGrpSpPr/>
          <p:nvPr/>
        </p:nvGrpSpPr>
        <p:grpSpPr>
          <a:xfrm>
            <a:off x="6399367" y="2728135"/>
            <a:ext cx="853440" cy="114300"/>
            <a:chOff x="6399367" y="2728135"/>
            <a:chExt cx="853440" cy="114300"/>
          </a:xfrm>
        </p:grpSpPr>
        <p:pic>
          <p:nvPicPr>
            <p:cNvPr id="40" name="object 4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99367" y="2728135"/>
              <a:ext cx="853240" cy="113948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6434328" y="2766059"/>
              <a:ext cx="731520" cy="0"/>
            </a:xfrm>
            <a:custGeom>
              <a:avLst/>
              <a:gdLst/>
              <a:ahLst/>
              <a:cxnLst/>
              <a:rect l="l" t="t" r="r" b="b"/>
              <a:pathLst>
                <a:path w="731520">
                  <a:moveTo>
                    <a:pt x="0" y="0"/>
                  </a:moveTo>
                  <a:lnTo>
                    <a:pt x="731520" y="0"/>
                  </a:lnTo>
                </a:path>
              </a:pathLst>
            </a:custGeom>
            <a:ln w="9144">
              <a:solidFill>
                <a:srgbClr val="33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165848" y="2749295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0"/>
                  </a:moveTo>
                  <a:lnTo>
                    <a:pt x="0" y="31750"/>
                  </a:lnTo>
                  <a:lnTo>
                    <a:pt x="43560" y="158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165848" y="2749295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750"/>
                  </a:moveTo>
                  <a:lnTo>
                    <a:pt x="43560" y="15875"/>
                  </a:lnTo>
                  <a:lnTo>
                    <a:pt x="0" y="0"/>
                  </a:lnTo>
                  <a:lnTo>
                    <a:pt x="0" y="31750"/>
                  </a:lnTo>
                  <a:close/>
                </a:path>
              </a:pathLst>
            </a:custGeom>
            <a:ln w="9144">
              <a:solidFill>
                <a:srgbClr val="3333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4" name="object 4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395971" y="2494788"/>
            <a:ext cx="1549907" cy="455675"/>
          </a:xfrm>
          <a:prstGeom prst="rect">
            <a:avLst/>
          </a:prstGeom>
        </p:spPr>
      </p:pic>
      <p:sp>
        <p:nvSpPr>
          <p:cNvPr id="45" name="object 45"/>
          <p:cNvSpPr txBox="1"/>
          <p:nvPr/>
        </p:nvSpPr>
        <p:spPr>
          <a:xfrm>
            <a:off x="71424" y="1282953"/>
            <a:ext cx="1801495" cy="53975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 indent="39370">
              <a:lnSpc>
                <a:spcPts val="2000"/>
              </a:lnSpc>
              <a:spcBef>
                <a:spcPts val="204"/>
              </a:spcBef>
            </a:pPr>
            <a:r>
              <a:rPr sz="1700" dirty="0">
                <a:solidFill>
                  <a:srgbClr val="FF0000"/>
                </a:solidFill>
                <a:latin typeface="Calibri"/>
                <a:cs typeface="Calibri"/>
              </a:rPr>
              <a:t>Original</a:t>
            </a:r>
            <a:r>
              <a:rPr sz="1700" spc="-1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FF0000"/>
                </a:solidFill>
                <a:latin typeface="Calibri"/>
                <a:cs typeface="Calibri"/>
              </a:rPr>
              <a:t>data</a:t>
            </a:r>
            <a:r>
              <a:rPr sz="1700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FF0000"/>
                </a:solidFill>
                <a:latin typeface="Calibri"/>
                <a:cs typeface="Calibri"/>
              </a:rPr>
              <a:t>space, </a:t>
            </a:r>
            <a:r>
              <a:rPr sz="1700" spc="-25" dirty="0">
                <a:solidFill>
                  <a:srgbClr val="FF0000"/>
                </a:solidFill>
                <a:latin typeface="Calibri"/>
                <a:cs typeface="Calibri"/>
              </a:rPr>
              <a:t>complex</a:t>
            </a:r>
            <a:r>
              <a:rPr sz="17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FF0000"/>
                </a:solidFill>
                <a:latin typeface="Calibri"/>
                <a:cs typeface="Calibri"/>
              </a:rPr>
              <a:t>distribution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78002" y="1792935"/>
            <a:ext cx="80708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1700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FF0000"/>
                </a:solidFill>
                <a:latin typeface="Calibri"/>
                <a:cs typeface="Calibri"/>
              </a:rPr>
              <a:t>model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03072" y="2386025"/>
            <a:ext cx="212090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i="1" spc="-50" dirty="0">
                <a:solidFill>
                  <a:srgbClr val="FF0000"/>
                </a:solidFill>
                <a:latin typeface="Times New Roman"/>
                <a:cs typeface="Times New Roman"/>
              </a:rPr>
              <a:t>x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642607" y="1322273"/>
            <a:ext cx="1909445" cy="8045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5"/>
              </a:spcBef>
            </a:pPr>
            <a:r>
              <a:rPr sz="1700" dirty="0">
                <a:latin typeface="Calibri"/>
                <a:cs typeface="Calibri"/>
              </a:rPr>
              <a:t>Embedding</a:t>
            </a:r>
            <a:r>
              <a:rPr sz="1700" spc="-9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space,</a:t>
            </a:r>
            <a:r>
              <a:rPr sz="1700" spc="-80" dirty="0">
                <a:latin typeface="Calibri"/>
                <a:cs typeface="Calibri"/>
              </a:rPr>
              <a:t> </a:t>
            </a:r>
            <a:r>
              <a:rPr sz="1700" spc="-25" dirty="0">
                <a:latin typeface="Calibri"/>
                <a:cs typeface="Calibri"/>
              </a:rPr>
              <a:t>we enforce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simpler distribution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429127" y="4480052"/>
            <a:ext cx="54832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Calibri"/>
                <a:cs typeface="Calibri"/>
              </a:rPr>
              <a:t>Note: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spc="-10" dirty="0">
                <a:latin typeface="Calibri"/>
                <a:cs typeface="Calibri"/>
              </a:rPr>
              <a:t>VAE</a:t>
            </a:r>
            <a:r>
              <a:rPr sz="1000" spc="-3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has</a:t>
            </a:r>
            <a:r>
              <a:rPr sz="1000" spc="-3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very similar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spc="-20" dirty="0">
                <a:latin typeface="Calibri"/>
                <a:cs typeface="Calibri"/>
              </a:rPr>
              <a:t>diagram,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but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learns</a:t>
            </a:r>
            <a:r>
              <a:rPr sz="1000" spc="-2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both</a:t>
            </a:r>
            <a:r>
              <a:rPr sz="1000" spc="-30" dirty="0">
                <a:latin typeface="Calibri"/>
                <a:cs typeface="Calibri"/>
              </a:rPr>
              <a:t> </a:t>
            </a:r>
            <a:r>
              <a:rPr sz="1000" spc="-20" dirty="0">
                <a:latin typeface="Calibri"/>
                <a:cs typeface="Calibri"/>
              </a:rPr>
              <a:t>directions</a:t>
            </a:r>
            <a:r>
              <a:rPr sz="1000" spc="-10" dirty="0">
                <a:latin typeface="Calibri"/>
                <a:cs typeface="Calibri"/>
              </a:rPr>
              <a:t> rather</a:t>
            </a:r>
            <a:r>
              <a:rPr sz="1000" spc="-2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than</a:t>
            </a:r>
            <a:r>
              <a:rPr sz="1000" spc="-15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imposing</a:t>
            </a:r>
            <a:r>
              <a:rPr sz="1000" spc="-20" dirty="0">
                <a:latin typeface="Calibri"/>
                <a:cs typeface="Calibri"/>
              </a:rPr>
              <a:t> invertibility</a:t>
            </a:r>
            <a:r>
              <a:rPr sz="1000" spc="-10" dirty="0">
                <a:latin typeface="Calibri"/>
                <a:cs typeface="Calibri"/>
              </a:rPr>
              <a:t> </a:t>
            </a:r>
            <a:r>
              <a:rPr sz="1000" dirty="0">
                <a:latin typeface="Calibri"/>
                <a:cs typeface="Calibri"/>
              </a:rPr>
              <a:t>(next</a:t>
            </a:r>
            <a:r>
              <a:rPr sz="1000" spc="-10" dirty="0">
                <a:latin typeface="Calibri"/>
                <a:cs typeface="Calibri"/>
              </a:rPr>
              <a:t> topic)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50" name="object 5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171688" y="1911095"/>
            <a:ext cx="665988" cy="172212"/>
          </a:xfrm>
          <a:prstGeom prst="rect">
            <a:avLst/>
          </a:prstGeom>
        </p:spPr>
      </p:pic>
      <p:sp>
        <p:nvSpPr>
          <p:cNvPr id="51" name="object 51"/>
          <p:cNvSpPr txBox="1"/>
          <p:nvPr/>
        </p:nvSpPr>
        <p:spPr>
          <a:xfrm>
            <a:off x="555751" y="144907"/>
            <a:ext cx="582358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2880" marR="5080" indent="-170815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333399"/>
                </a:solidFill>
                <a:latin typeface="Calibri"/>
                <a:cs typeface="Calibri"/>
              </a:rPr>
              <a:t>Flow</a:t>
            </a:r>
            <a:r>
              <a:rPr sz="2400" b="1" spc="-10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33399"/>
                </a:solidFill>
                <a:latin typeface="Calibri"/>
                <a:cs typeface="Calibri"/>
              </a:rPr>
              <a:t>Models:</a:t>
            </a:r>
            <a:r>
              <a:rPr sz="2400" b="1" spc="-9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333399"/>
                </a:solidFill>
                <a:latin typeface="Calibri"/>
                <a:cs typeface="Calibri"/>
              </a:rPr>
              <a:t>Invertible</a:t>
            </a:r>
            <a:r>
              <a:rPr sz="2400" b="1" spc="-7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333399"/>
                </a:solidFill>
                <a:latin typeface="Calibri"/>
                <a:cs typeface="Calibri"/>
              </a:rPr>
              <a:t>transform</a:t>
            </a:r>
            <a:r>
              <a:rPr sz="2400" b="1" spc="-7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33399"/>
                </a:solidFill>
                <a:latin typeface="Calibri"/>
                <a:cs typeface="Calibri"/>
              </a:rPr>
              <a:t>from</a:t>
            </a:r>
            <a:r>
              <a:rPr sz="2400" b="1" spc="-9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33399"/>
                </a:solidFill>
                <a:latin typeface="Calibri"/>
                <a:cs typeface="Calibri"/>
              </a:rPr>
              <a:t>data</a:t>
            </a:r>
            <a:r>
              <a:rPr sz="2400" b="1" spc="-7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333399"/>
                </a:solidFill>
                <a:latin typeface="Calibri"/>
                <a:cs typeface="Calibri"/>
              </a:rPr>
              <a:t>x </a:t>
            </a:r>
            <a:r>
              <a:rPr sz="2400" b="1" dirty="0">
                <a:solidFill>
                  <a:srgbClr val="333399"/>
                </a:solidFill>
                <a:latin typeface="Calibri"/>
                <a:cs typeface="Calibri"/>
              </a:rPr>
              <a:t>to</a:t>
            </a:r>
            <a:r>
              <a:rPr sz="2400" b="1" spc="-13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33399"/>
                </a:solidFill>
                <a:latin typeface="Calibri"/>
                <a:cs typeface="Calibri"/>
              </a:rPr>
              <a:t>embedding</a:t>
            </a:r>
            <a:r>
              <a:rPr sz="2400" b="1" spc="-8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333399"/>
                </a:solidFill>
                <a:latin typeface="Calibri"/>
                <a:cs typeface="Calibri"/>
              </a:rPr>
              <a:t>z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802118" y="4868526"/>
            <a:ext cx="1285240" cy="25146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763905">
              <a:lnSpc>
                <a:spcPts val="985"/>
              </a:lnSpc>
              <a:spcBef>
                <a:spcPts val="15"/>
              </a:spcBef>
            </a:pPr>
            <a:r>
              <a:rPr sz="900" spc="-25" dirty="0">
                <a:solidFill>
                  <a:srgbClr val="878787"/>
                </a:solidFill>
                <a:latin typeface="Arial"/>
                <a:cs typeface="Arial"/>
              </a:rPr>
              <a:t>14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865"/>
              </a:lnSpc>
            </a:pPr>
            <a:r>
              <a:rPr sz="800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00" b="1" spc="1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0F1141"/>
                </a:solidFill>
                <a:latin typeface="Arial"/>
                <a:cs typeface="Arial"/>
              </a:rPr>
              <a:t>Pilani,</a:t>
            </a:r>
            <a:r>
              <a:rPr sz="800" spc="6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0F1141"/>
                </a:solidFill>
                <a:latin typeface="Arial"/>
                <a:cs typeface="Arial"/>
              </a:rPr>
              <a:t>Pilani</a:t>
            </a:r>
            <a:r>
              <a:rPr sz="800" spc="8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0F1141"/>
                </a:solidFill>
                <a:latin typeface="Arial"/>
                <a:cs typeface="Arial"/>
              </a:rPr>
              <a:t>Campus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23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24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125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319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5" dirty="0"/>
              <a:t>Flows:</a:t>
            </a:r>
            <a:r>
              <a:rPr spc="-175" dirty="0"/>
              <a:t> </a:t>
            </a:r>
            <a:r>
              <a:rPr spc="75" dirty="0"/>
              <a:t>Main</a:t>
            </a:r>
            <a:r>
              <a:rPr spc="30" dirty="0"/>
              <a:t> </a:t>
            </a:r>
            <a:r>
              <a:rPr spc="-20" dirty="0"/>
              <a:t>Idea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9768" y="1674876"/>
            <a:ext cx="376428" cy="30632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46404" y="1776983"/>
            <a:ext cx="790575" cy="66040"/>
          </a:xfrm>
          <a:custGeom>
            <a:avLst/>
            <a:gdLst/>
            <a:ahLst/>
            <a:cxnLst/>
            <a:rect l="l" t="t" r="r" b="b"/>
            <a:pathLst>
              <a:path w="790575" h="66039">
                <a:moveTo>
                  <a:pt x="790575" y="32766"/>
                </a:moveTo>
                <a:lnTo>
                  <a:pt x="769112" y="21844"/>
                </a:lnTo>
                <a:lnTo>
                  <a:pt x="726186" y="0"/>
                </a:lnTo>
                <a:lnTo>
                  <a:pt x="726186" y="21844"/>
                </a:lnTo>
                <a:lnTo>
                  <a:pt x="0" y="21844"/>
                </a:lnTo>
                <a:lnTo>
                  <a:pt x="0" y="43688"/>
                </a:lnTo>
                <a:lnTo>
                  <a:pt x="726186" y="43688"/>
                </a:lnTo>
                <a:lnTo>
                  <a:pt x="726186" y="65532"/>
                </a:lnTo>
                <a:lnTo>
                  <a:pt x="769112" y="43688"/>
                </a:lnTo>
                <a:lnTo>
                  <a:pt x="790575" y="327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88998" y="1085850"/>
            <a:ext cx="413384" cy="1463040"/>
          </a:xfrm>
          <a:custGeom>
            <a:avLst/>
            <a:gdLst/>
            <a:ahLst/>
            <a:cxnLst/>
            <a:rect l="l" t="t" r="r" b="b"/>
            <a:pathLst>
              <a:path w="413385" h="1463039">
                <a:moveTo>
                  <a:pt x="0" y="1463039"/>
                </a:moveTo>
                <a:lnTo>
                  <a:pt x="412889" y="1463039"/>
                </a:lnTo>
                <a:lnTo>
                  <a:pt x="412889" y="0"/>
                </a:lnTo>
                <a:lnTo>
                  <a:pt x="0" y="0"/>
                </a:lnTo>
                <a:lnTo>
                  <a:pt x="0" y="1463039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412492" y="1776983"/>
            <a:ext cx="789305" cy="66040"/>
          </a:xfrm>
          <a:custGeom>
            <a:avLst/>
            <a:gdLst/>
            <a:ahLst/>
            <a:cxnLst/>
            <a:rect l="l" t="t" r="r" b="b"/>
            <a:pathLst>
              <a:path w="789305" h="66039">
                <a:moveTo>
                  <a:pt x="789051" y="32766"/>
                </a:moveTo>
                <a:lnTo>
                  <a:pt x="767715" y="21844"/>
                </a:lnTo>
                <a:lnTo>
                  <a:pt x="724789" y="0"/>
                </a:lnTo>
                <a:lnTo>
                  <a:pt x="724789" y="21844"/>
                </a:lnTo>
                <a:lnTo>
                  <a:pt x="0" y="21844"/>
                </a:lnTo>
                <a:lnTo>
                  <a:pt x="0" y="43688"/>
                </a:lnTo>
                <a:lnTo>
                  <a:pt x="724789" y="43688"/>
                </a:lnTo>
                <a:lnTo>
                  <a:pt x="724789" y="65532"/>
                </a:lnTo>
                <a:lnTo>
                  <a:pt x="767715" y="43688"/>
                </a:lnTo>
                <a:lnTo>
                  <a:pt x="789051" y="327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310890" y="1085850"/>
            <a:ext cx="413384" cy="1463040"/>
          </a:xfrm>
          <a:custGeom>
            <a:avLst/>
            <a:gdLst/>
            <a:ahLst/>
            <a:cxnLst/>
            <a:rect l="l" t="t" r="r" b="b"/>
            <a:pathLst>
              <a:path w="413385" h="1463039">
                <a:moveTo>
                  <a:pt x="0" y="1463039"/>
                </a:moveTo>
                <a:lnTo>
                  <a:pt x="412889" y="1463039"/>
                </a:lnTo>
                <a:lnTo>
                  <a:pt x="412889" y="0"/>
                </a:lnTo>
                <a:lnTo>
                  <a:pt x="0" y="0"/>
                </a:lnTo>
                <a:lnTo>
                  <a:pt x="0" y="1463039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892296" y="1776983"/>
            <a:ext cx="789305" cy="66040"/>
          </a:xfrm>
          <a:custGeom>
            <a:avLst/>
            <a:gdLst/>
            <a:ahLst/>
            <a:cxnLst/>
            <a:rect l="l" t="t" r="r" b="b"/>
            <a:pathLst>
              <a:path w="789304" h="66039">
                <a:moveTo>
                  <a:pt x="789051" y="32766"/>
                </a:moveTo>
                <a:lnTo>
                  <a:pt x="767715" y="21844"/>
                </a:lnTo>
                <a:lnTo>
                  <a:pt x="724789" y="0"/>
                </a:lnTo>
                <a:lnTo>
                  <a:pt x="724789" y="21844"/>
                </a:lnTo>
                <a:lnTo>
                  <a:pt x="0" y="21844"/>
                </a:lnTo>
                <a:lnTo>
                  <a:pt x="0" y="43688"/>
                </a:lnTo>
                <a:lnTo>
                  <a:pt x="724789" y="43688"/>
                </a:lnTo>
                <a:lnTo>
                  <a:pt x="724789" y="65532"/>
                </a:lnTo>
                <a:lnTo>
                  <a:pt x="767715" y="43688"/>
                </a:lnTo>
                <a:lnTo>
                  <a:pt x="789051" y="327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295900" y="1776983"/>
            <a:ext cx="790575" cy="66040"/>
          </a:xfrm>
          <a:custGeom>
            <a:avLst/>
            <a:gdLst/>
            <a:ahLst/>
            <a:cxnLst/>
            <a:rect l="l" t="t" r="r" b="b"/>
            <a:pathLst>
              <a:path w="790575" h="66039">
                <a:moveTo>
                  <a:pt x="790575" y="32766"/>
                </a:moveTo>
                <a:lnTo>
                  <a:pt x="769112" y="21844"/>
                </a:lnTo>
                <a:lnTo>
                  <a:pt x="726186" y="0"/>
                </a:lnTo>
                <a:lnTo>
                  <a:pt x="726186" y="21844"/>
                </a:lnTo>
                <a:lnTo>
                  <a:pt x="0" y="21844"/>
                </a:lnTo>
                <a:lnTo>
                  <a:pt x="0" y="43688"/>
                </a:lnTo>
                <a:lnTo>
                  <a:pt x="726186" y="43688"/>
                </a:lnTo>
                <a:lnTo>
                  <a:pt x="726186" y="65532"/>
                </a:lnTo>
                <a:lnTo>
                  <a:pt x="769112" y="43688"/>
                </a:lnTo>
                <a:lnTo>
                  <a:pt x="790575" y="327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6739128" y="1505711"/>
            <a:ext cx="2298700" cy="1183005"/>
            <a:chOff x="6739128" y="1505711"/>
            <a:chExt cx="2298700" cy="1183005"/>
          </a:xfrm>
        </p:grpSpPr>
        <p:sp>
          <p:nvSpPr>
            <p:cNvPr id="11" name="object 11"/>
            <p:cNvSpPr/>
            <p:nvPr/>
          </p:nvSpPr>
          <p:spPr>
            <a:xfrm>
              <a:off x="6739128" y="1776983"/>
              <a:ext cx="789305" cy="66040"/>
            </a:xfrm>
            <a:custGeom>
              <a:avLst/>
              <a:gdLst/>
              <a:ahLst/>
              <a:cxnLst/>
              <a:rect l="l" t="t" r="r" b="b"/>
              <a:pathLst>
                <a:path w="789304" h="66039">
                  <a:moveTo>
                    <a:pt x="789051" y="32766"/>
                  </a:moveTo>
                  <a:lnTo>
                    <a:pt x="767715" y="21844"/>
                  </a:lnTo>
                  <a:lnTo>
                    <a:pt x="724789" y="0"/>
                  </a:lnTo>
                  <a:lnTo>
                    <a:pt x="724789" y="21844"/>
                  </a:lnTo>
                  <a:lnTo>
                    <a:pt x="0" y="21844"/>
                  </a:lnTo>
                  <a:lnTo>
                    <a:pt x="0" y="43688"/>
                  </a:lnTo>
                  <a:lnTo>
                    <a:pt x="724789" y="43688"/>
                  </a:lnTo>
                  <a:lnTo>
                    <a:pt x="724789" y="65532"/>
                  </a:lnTo>
                  <a:lnTo>
                    <a:pt x="767715" y="43688"/>
                  </a:lnTo>
                  <a:lnTo>
                    <a:pt x="789051" y="3276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41336" y="1505711"/>
              <a:ext cx="1011935" cy="53644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41464" y="1997963"/>
              <a:ext cx="1895855" cy="69037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7590282" y="1593341"/>
              <a:ext cx="996950" cy="342900"/>
            </a:xfrm>
            <a:custGeom>
              <a:avLst/>
              <a:gdLst/>
              <a:ahLst/>
              <a:cxnLst/>
              <a:rect l="l" t="t" r="r" b="b"/>
              <a:pathLst>
                <a:path w="996950" h="342900">
                  <a:moveTo>
                    <a:pt x="0" y="342519"/>
                  </a:moveTo>
                  <a:lnTo>
                    <a:pt x="996696" y="0"/>
                  </a:lnTo>
                </a:path>
              </a:pathLst>
            </a:custGeom>
            <a:ln w="380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/>
          <p:nvPr/>
        </p:nvSpPr>
        <p:spPr>
          <a:xfrm>
            <a:off x="6165341" y="1079753"/>
            <a:ext cx="413384" cy="1461770"/>
          </a:xfrm>
          <a:custGeom>
            <a:avLst/>
            <a:gdLst/>
            <a:ahLst/>
            <a:cxnLst/>
            <a:rect l="l" t="t" r="r" b="b"/>
            <a:pathLst>
              <a:path w="413384" h="1461770">
                <a:moveTo>
                  <a:pt x="0" y="1461516"/>
                </a:moveTo>
                <a:lnTo>
                  <a:pt x="412889" y="1461516"/>
                </a:lnTo>
                <a:lnTo>
                  <a:pt x="412889" y="0"/>
                </a:lnTo>
                <a:lnTo>
                  <a:pt x="0" y="0"/>
                </a:lnTo>
                <a:lnTo>
                  <a:pt x="0" y="1461516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325111" y="3386328"/>
            <a:ext cx="1540764" cy="463295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479247" y="4109415"/>
            <a:ext cx="4241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07235" algn="l"/>
              </a:tabLst>
            </a:pPr>
            <a:r>
              <a:rPr sz="2400" spc="60" dirty="0">
                <a:latin typeface="Trebuchet MS"/>
                <a:cs typeface="Trebuchet MS"/>
              </a:rPr>
              <a:t>How</a:t>
            </a:r>
            <a:r>
              <a:rPr sz="2400" spc="2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to</a:t>
            </a:r>
            <a:r>
              <a:rPr sz="2400" spc="-12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train?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65" dirty="0">
                <a:latin typeface="Trebuchet MS"/>
                <a:cs typeface="Trebuchet MS"/>
              </a:rPr>
              <a:t>How</a:t>
            </a:r>
            <a:r>
              <a:rPr sz="2400" spc="2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to</a:t>
            </a:r>
            <a:r>
              <a:rPr sz="2400" spc="-125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evaluate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621273" y="4109415"/>
            <a:ext cx="25304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4010" algn="l"/>
              </a:tabLst>
            </a:pPr>
            <a:r>
              <a:rPr sz="2400" spc="-50" dirty="0">
                <a:latin typeface="Trebuchet MS"/>
                <a:cs typeface="Trebuchet MS"/>
              </a:rPr>
              <a:t>?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60" dirty="0">
                <a:latin typeface="Trebuchet MS"/>
                <a:cs typeface="Trebuchet MS"/>
              </a:rPr>
              <a:t>How</a:t>
            </a:r>
            <a:r>
              <a:rPr sz="2400" spc="2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to</a:t>
            </a:r>
            <a:r>
              <a:rPr sz="2400" spc="-114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sample?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19" name="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803647" y="4136135"/>
            <a:ext cx="789431" cy="382524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332732" y="2837688"/>
            <a:ext cx="1601724" cy="419100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1675892" y="1495501"/>
            <a:ext cx="3542029" cy="2247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3000" spc="-25" dirty="0">
                <a:latin typeface="Calibri"/>
                <a:cs typeface="Calibri"/>
              </a:rPr>
              <a:t>...</a:t>
            </a:r>
            <a:endParaRPr sz="3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215"/>
              </a:spcBef>
            </a:pPr>
            <a:endParaRPr sz="3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latin typeface="Trebuchet MS"/>
                <a:cs typeface="Trebuchet MS"/>
              </a:rPr>
              <a:t>Generally: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sz="2400" spc="-30" dirty="0">
                <a:latin typeface="Trebuchet MS"/>
                <a:cs typeface="Trebuchet MS"/>
              </a:rPr>
              <a:t>Normalizing</a:t>
            </a:r>
            <a:r>
              <a:rPr sz="2400" spc="-114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Flow: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41295" rIns="0" bIns="0" rtlCol="0">
            <a:spAutoFit/>
          </a:bodyPr>
          <a:lstStyle/>
          <a:p>
            <a:pPr marL="1981835">
              <a:lnSpc>
                <a:spcPts val="940"/>
              </a:lnSpc>
              <a:spcBef>
                <a:spcPts val="15"/>
              </a:spcBef>
            </a:pPr>
            <a:r>
              <a:rPr spc="-50" dirty="0"/>
              <a:t>1</a:t>
            </a:r>
          </a:p>
          <a:p>
            <a:pPr marL="1146810">
              <a:lnSpc>
                <a:spcPts val="940"/>
              </a:lnSpc>
            </a:pPr>
            <a:r>
              <a:rPr sz="800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00" b="1" spc="1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0F1141"/>
                </a:solidFill>
              </a:rPr>
              <a:t>Pilani,</a:t>
            </a:r>
            <a:r>
              <a:rPr sz="800" spc="75" dirty="0">
                <a:solidFill>
                  <a:srgbClr val="0F1141"/>
                </a:solidFill>
              </a:rPr>
              <a:t> </a:t>
            </a:r>
            <a:r>
              <a:rPr sz="800" spc="-10" dirty="0">
                <a:solidFill>
                  <a:srgbClr val="0F1141"/>
                </a:solidFill>
              </a:rPr>
              <a:t>Pilani</a:t>
            </a:r>
            <a:r>
              <a:rPr sz="1350" spc="-15" baseline="-18518" dirty="0"/>
              <a:t>7</a:t>
            </a:r>
            <a:r>
              <a:rPr sz="800" spc="-10" dirty="0">
                <a:solidFill>
                  <a:srgbClr val="0F1141"/>
                </a:solidFill>
              </a:rPr>
              <a:t>Campus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38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39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140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grpSp>
        <p:nvGrpSpPr>
          <p:cNvPr id="2" name="object 2"/>
          <p:cNvGrpSpPr/>
          <p:nvPr/>
        </p:nvGrpSpPr>
        <p:grpSpPr>
          <a:xfrm>
            <a:off x="4495800" y="4911852"/>
            <a:ext cx="4648200" cy="38100"/>
            <a:chOff x="4495800" y="4911852"/>
            <a:chExt cx="4648200" cy="38100"/>
          </a:xfrm>
        </p:grpSpPr>
        <p:sp>
          <p:nvSpPr>
            <p:cNvPr id="3" name="object 3"/>
            <p:cNvSpPr/>
            <p:nvPr/>
          </p:nvSpPr>
          <p:spPr>
            <a:xfrm>
              <a:off x="4631436" y="4911852"/>
              <a:ext cx="2329180" cy="38100"/>
            </a:xfrm>
            <a:custGeom>
              <a:avLst/>
              <a:gdLst/>
              <a:ahLst/>
              <a:cxnLst/>
              <a:rect l="l" t="t" r="r" b="b"/>
              <a:pathLst>
                <a:path w="2329179" h="38100">
                  <a:moveTo>
                    <a:pt x="2328671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2328671" y="38100"/>
                  </a:lnTo>
                  <a:lnTo>
                    <a:pt x="2328671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908292" y="4911852"/>
              <a:ext cx="2235835" cy="35560"/>
            </a:xfrm>
            <a:custGeom>
              <a:avLst/>
              <a:gdLst/>
              <a:ahLst/>
              <a:cxnLst/>
              <a:rect l="l" t="t" r="r" b="b"/>
              <a:pathLst>
                <a:path w="2235834" h="35560">
                  <a:moveTo>
                    <a:pt x="2235707" y="0"/>
                  </a:moveTo>
                  <a:lnTo>
                    <a:pt x="0" y="0"/>
                  </a:lnTo>
                  <a:lnTo>
                    <a:pt x="0" y="35052"/>
                  </a:lnTo>
                  <a:lnTo>
                    <a:pt x="2235707" y="35052"/>
                  </a:lnTo>
                  <a:lnTo>
                    <a:pt x="2235707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95800" y="4914900"/>
              <a:ext cx="2329180" cy="35560"/>
            </a:xfrm>
            <a:custGeom>
              <a:avLst/>
              <a:gdLst/>
              <a:ahLst/>
              <a:cxnLst/>
              <a:rect l="l" t="t" r="r" b="b"/>
              <a:pathLst>
                <a:path w="2329179" h="35560">
                  <a:moveTo>
                    <a:pt x="2328672" y="0"/>
                  </a:moveTo>
                  <a:lnTo>
                    <a:pt x="0" y="0"/>
                  </a:lnTo>
                  <a:lnTo>
                    <a:pt x="0" y="35052"/>
                  </a:lnTo>
                  <a:lnTo>
                    <a:pt x="2328672" y="35052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15327" y="4914900"/>
              <a:ext cx="2329180" cy="35560"/>
            </a:xfrm>
            <a:custGeom>
              <a:avLst/>
              <a:gdLst/>
              <a:ahLst/>
              <a:cxnLst/>
              <a:rect l="l" t="t" r="r" b="b"/>
              <a:pathLst>
                <a:path w="2329179" h="35560">
                  <a:moveTo>
                    <a:pt x="2328672" y="0"/>
                  </a:moveTo>
                  <a:lnTo>
                    <a:pt x="0" y="0"/>
                  </a:lnTo>
                  <a:lnTo>
                    <a:pt x="0" y="35052"/>
                  </a:lnTo>
                  <a:lnTo>
                    <a:pt x="2328672" y="35052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29400" y="0"/>
            <a:ext cx="2194559" cy="519684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972311"/>
            <a:ext cx="7457440" cy="3157855"/>
            <a:chOff x="0" y="972311"/>
            <a:chExt cx="7457440" cy="3157855"/>
          </a:xfrm>
        </p:grpSpPr>
        <p:sp>
          <p:nvSpPr>
            <p:cNvPr id="9" name="object 9"/>
            <p:cNvSpPr/>
            <p:nvPr/>
          </p:nvSpPr>
          <p:spPr>
            <a:xfrm>
              <a:off x="2362200" y="972311"/>
              <a:ext cx="2329180" cy="33655"/>
            </a:xfrm>
            <a:custGeom>
              <a:avLst/>
              <a:gdLst/>
              <a:ahLst/>
              <a:cxnLst/>
              <a:rect l="l" t="t" r="r" b="b"/>
              <a:pathLst>
                <a:path w="2329179" h="33655">
                  <a:moveTo>
                    <a:pt x="2328672" y="0"/>
                  </a:moveTo>
                  <a:lnTo>
                    <a:pt x="0" y="0"/>
                  </a:lnTo>
                  <a:lnTo>
                    <a:pt x="0" y="33527"/>
                  </a:lnTo>
                  <a:lnTo>
                    <a:pt x="2328672" y="33527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972311"/>
              <a:ext cx="2362200" cy="33655"/>
            </a:xfrm>
            <a:custGeom>
              <a:avLst/>
              <a:gdLst/>
              <a:ahLst/>
              <a:cxnLst/>
              <a:rect l="l" t="t" r="r" b="b"/>
              <a:pathLst>
                <a:path w="2362200" h="33655">
                  <a:moveTo>
                    <a:pt x="2362200" y="0"/>
                  </a:moveTo>
                  <a:lnTo>
                    <a:pt x="0" y="0"/>
                  </a:lnTo>
                  <a:lnTo>
                    <a:pt x="0" y="33527"/>
                  </a:lnTo>
                  <a:lnTo>
                    <a:pt x="2362200" y="33527"/>
                  </a:lnTo>
                  <a:lnTo>
                    <a:pt x="23622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681728" y="972311"/>
              <a:ext cx="2329180" cy="33655"/>
            </a:xfrm>
            <a:custGeom>
              <a:avLst/>
              <a:gdLst/>
              <a:ahLst/>
              <a:cxnLst/>
              <a:rect l="l" t="t" r="r" b="b"/>
              <a:pathLst>
                <a:path w="2329179" h="33655">
                  <a:moveTo>
                    <a:pt x="2328672" y="0"/>
                  </a:moveTo>
                  <a:lnTo>
                    <a:pt x="0" y="0"/>
                  </a:lnTo>
                  <a:lnTo>
                    <a:pt x="0" y="33527"/>
                  </a:lnTo>
                  <a:lnTo>
                    <a:pt x="2328672" y="33527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306056" y="3874007"/>
              <a:ext cx="151130" cy="255904"/>
            </a:xfrm>
            <a:custGeom>
              <a:avLst/>
              <a:gdLst/>
              <a:ahLst/>
              <a:cxnLst/>
              <a:rect l="l" t="t" r="r" b="b"/>
              <a:pathLst>
                <a:path w="151129" h="255904">
                  <a:moveTo>
                    <a:pt x="0" y="0"/>
                  </a:moveTo>
                  <a:lnTo>
                    <a:pt x="0" y="255562"/>
                  </a:lnTo>
                  <a:lnTo>
                    <a:pt x="143128" y="248056"/>
                  </a:lnTo>
                  <a:lnTo>
                    <a:pt x="150622" y="826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303007" y="3875532"/>
              <a:ext cx="151130" cy="248285"/>
            </a:xfrm>
            <a:custGeom>
              <a:avLst/>
              <a:gdLst/>
              <a:ahLst/>
              <a:cxnLst/>
              <a:rect l="l" t="t" r="r" b="b"/>
              <a:pathLst>
                <a:path w="151129" h="248285">
                  <a:moveTo>
                    <a:pt x="0" y="248221"/>
                  </a:moveTo>
                  <a:lnTo>
                    <a:pt x="0" y="0"/>
                  </a:lnTo>
                </a:path>
                <a:path w="151129" h="248285">
                  <a:moveTo>
                    <a:pt x="150875" y="248259"/>
                  </a:moveTo>
                  <a:lnTo>
                    <a:pt x="150875" y="62484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271384" y="4188358"/>
            <a:ext cx="168275" cy="2139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i="1" spc="-25" dirty="0">
                <a:latin typeface="Calibri"/>
                <a:cs typeface="Calibri"/>
              </a:rPr>
              <a:t>dx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319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Change</a:t>
            </a:r>
            <a:r>
              <a:rPr spc="30" dirty="0"/>
              <a:t> </a:t>
            </a:r>
            <a:r>
              <a:rPr spc="50" dirty="0"/>
              <a:t>of</a:t>
            </a:r>
            <a:r>
              <a:rPr spc="150" dirty="0"/>
              <a:t> </a:t>
            </a:r>
            <a:r>
              <a:rPr spc="-10" dirty="0"/>
              <a:t>Variables</a:t>
            </a:r>
          </a:p>
        </p:txBody>
      </p:sp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1668" y="1513332"/>
            <a:ext cx="3659123" cy="1626107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470408" y="4550765"/>
            <a:ext cx="5969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65400" algn="l"/>
              </a:tabLst>
            </a:pPr>
            <a:r>
              <a:rPr sz="2400" dirty="0">
                <a:latin typeface="Trebuchet MS"/>
                <a:cs typeface="Trebuchet MS"/>
              </a:rPr>
              <a:t>Note: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requi</a:t>
            </a:r>
            <a:r>
              <a:rPr sz="2400" u="heavy" spc="-10" dirty="0">
                <a:uFill>
                  <a:solidFill>
                    <a:srgbClr val="FBAF17"/>
                  </a:solidFill>
                </a:uFill>
                <a:latin typeface="Trebuchet MS"/>
                <a:cs typeface="Trebuchet MS"/>
              </a:rPr>
              <a:t>res</a:t>
            </a:r>
            <a:r>
              <a:rPr sz="2400" u="heavy" dirty="0">
                <a:uFill>
                  <a:solidFill>
                    <a:srgbClr val="FBAF17"/>
                  </a:solidFill>
                </a:uFill>
                <a:latin typeface="Trebuchet MS"/>
                <a:cs typeface="Trebuchet MS"/>
              </a:rPr>
              <a:t>	</a:t>
            </a:r>
            <a:r>
              <a:rPr sz="2400" u="heavy" spc="-90" dirty="0">
                <a:uFill>
                  <a:solidFill>
                    <a:srgbClr val="FBAF17"/>
                  </a:solidFill>
                </a:uFill>
                <a:latin typeface="Trebuchet MS"/>
                <a:cs typeface="Trebuchet MS"/>
              </a:rPr>
              <a:t>invertible</a:t>
            </a:r>
            <a:r>
              <a:rPr sz="2400" u="heavy" spc="-50" dirty="0">
                <a:uFill>
                  <a:solidFill>
                    <a:srgbClr val="FBAF17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u="heavy" dirty="0">
                <a:uFill>
                  <a:solidFill>
                    <a:srgbClr val="FBAF17"/>
                  </a:solidFill>
                </a:uFill>
                <a:latin typeface="Trebuchet MS"/>
                <a:cs typeface="Trebuchet MS"/>
              </a:rPr>
              <a:t>&amp;</a:t>
            </a:r>
            <a:r>
              <a:rPr sz="2400" u="heavy" spc="-5" dirty="0">
                <a:uFill>
                  <a:solidFill>
                    <a:srgbClr val="FBAF17"/>
                  </a:solidFill>
                </a:uFill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differentiable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73451" y="4424171"/>
            <a:ext cx="379475" cy="510540"/>
          </a:xfrm>
          <a:prstGeom prst="rect">
            <a:avLst/>
          </a:prstGeom>
        </p:spPr>
      </p:pic>
      <p:grpSp>
        <p:nvGrpSpPr>
          <p:cNvPr id="19" name="object 19"/>
          <p:cNvGrpSpPr/>
          <p:nvPr/>
        </p:nvGrpSpPr>
        <p:grpSpPr>
          <a:xfrm>
            <a:off x="5093208" y="1028700"/>
            <a:ext cx="3204845" cy="3299460"/>
            <a:chOff x="5093208" y="1028700"/>
            <a:chExt cx="3204845" cy="3299460"/>
          </a:xfrm>
        </p:grpSpPr>
        <p:sp>
          <p:nvSpPr>
            <p:cNvPr id="20" name="object 20"/>
            <p:cNvSpPr/>
            <p:nvPr/>
          </p:nvSpPr>
          <p:spPr>
            <a:xfrm>
              <a:off x="5093208" y="1028700"/>
              <a:ext cx="3204845" cy="1905000"/>
            </a:xfrm>
            <a:custGeom>
              <a:avLst/>
              <a:gdLst/>
              <a:ahLst/>
              <a:cxnLst/>
              <a:rect l="l" t="t" r="r" b="b"/>
              <a:pathLst>
                <a:path w="3204845" h="1905000">
                  <a:moveTo>
                    <a:pt x="214756" y="0"/>
                  </a:moveTo>
                  <a:lnTo>
                    <a:pt x="161162" y="107187"/>
                  </a:lnTo>
                  <a:lnTo>
                    <a:pt x="204088" y="107187"/>
                  </a:lnTo>
                  <a:lnTo>
                    <a:pt x="204088" y="1657985"/>
                  </a:lnTo>
                  <a:lnTo>
                    <a:pt x="0" y="1657985"/>
                  </a:lnTo>
                  <a:lnTo>
                    <a:pt x="0" y="1679448"/>
                  </a:lnTo>
                  <a:lnTo>
                    <a:pt x="204088" y="1679448"/>
                  </a:lnTo>
                  <a:lnTo>
                    <a:pt x="204088" y="1905000"/>
                  </a:lnTo>
                  <a:lnTo>
                    <a:pt x="225551" y="1905000"/>
                  </a:lnTo>
                  <a:lnTo>
                    <a:pt x="225551" y="1679448"/>
                  </a:lnTo>
                  <a:lnTo>
                    <a:pt x="3097657" y="1679448"/>
                  </a:lnTo>
                  <a:lnTo>
                    <a:pt x="3097657" y="1722374"/>
                  </a:lnTo>
                  <a:lnTo>
                    <a:pt x="3204844" y="1668780"/>
                  </a:lnTo>
                  <a:lnTo>
                    <a:pt x="3097657" y="1615186"/>
                  </a:lnTo>
                  <a:lnTo>
                    <a:pt x="3097657" y="1657985"/>
                  </a:lnTo>
                  <a:lnTo>
                    <a:pt x="225551" y="1657985"/>
                  </a:lnTo>
                  <a:lnTo>
                    <a:pt x="225551" y="107187"/>
                  </a:lnTo>
                  <a:lnTo>
                    <a:pt x="268350" y="107187"/>
                  </a:lnTo>
                  <a:lnTo>
                    <a:pt x="21475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308854" y="1111757"/>
              <a:ext cx="2886710" cy="1371600"/>
            </a:xfrm>
            <a:custGeom>
              <a:avLst/>
              <a:gdLst/>
              <a:ahLst/>
              <a:cxnLst/>
              <a:rect l="l" t="t" r="r" b="b"/>
              <a:pathLst>
                <a:path w="2886709" h="1371600">
                  <a:moveTo>
                    <a:pt x="0" y="1371599"/>
                  </a:moveTo>
                  <a:lnTo>
                    <a:pt x="33020" y="1352549"/>
                  </a:lnTo>
                  <a:lnTo>
                    <a:pt x="66167" y="1333499"/>
                  </a:lnTo>
                  <a:lnTo>
                    <a:pt x="99313" y="1314577"/>
                  </a:lnTo>
                  <a:lnTo>
                    <a:pt x="132334" y="1295653"/>
                  </a:lnTo>
                  <a:lnTo>
                    <a:pt x="165481" y="1276984"/>
                  </a:lnTo>
                  <a:lnTo>
                    <a:pt x="198628" y="1258315"/>
                  </a:lnTo>
                  <a:lnTo>
                    <a:pt x="231775" y="1239900"/>
                  </a:lnTo>
                  <a:lnTo>
                    <a:pt x="298323" y="1203705"/>
                  </a:lnTo>
                  <a:lnTo>
                    <a:pt x="364998" y="1168527"/>
                  </a:lnTo>
                  <a:lnTo>
                    <a:pt x="431800" y="1134744"/>
                  </a:lnTo>
                  <a:lnTo>
                    <a:pt x="498856" y="1102359"/>
                  </a:lnTo>
                  <a:lnTo>
                    <a:pt x="566293" y="1071879"/>
                  </a:lnTo>
                  <a:lnTo>
                    <a:pt x="636270" y="1042288"/>
                  </a:lnTo>
                  <a:lnTo>
                    <a:pt x="672719" y="1027556"/>
                  </a:lnTo>
                  <a:lnTo>
                    <a:pt x="709549" y="1013078"/>
                  </a:lnTo>
                  <a:lnTo>
                    <a:pt x="746506" y="998981"/>
                  </a:lnTo>
                  <a:lnTo>
                    <a:pt x="783844" y="985138"/>
                  </a:lnTo>
                  <a:lnTo>
                    <a:pt x="821182" y="971676"/>
                  </a:lnTo>
                  <a:lnTo>
                    <a:pt x="858520" y="958722"/>
                  </a:lnTo>
                  <a:lnTo>
                    <a:pt x="895858" y="946149"/>
                  </a:lnTo>
                  <a:lnTo>
                    <a:pt x="933196" y="933957"/>
                  </a:lnTo>
                  <a:lnTo>
                    <a:pt x="970280" y="922400"/>
                  </a:lnTo>
                  <a:lnTo>
                    <a:pt x="1007110" y="911224"/>
                  </a:lnTo>
                  <a:lnTo>
                    <a:pt x="1079754" y="890777"/>
                  </a:lnTo>
                  <a:lnTo>
                    <a:pt x="1150747" y="872616"/>
                  </a:lnTo>
                  <a:lnTo>
                    <a:pt x="1219327" y="857249"/>
                  </a:lnTo>
                  <a:lnTo>
                    <a:pt x="1257427" y="850899"/>
                  </a:lnTo>
                  <a:lnTo>
                    <a:pt x="1332992" y="846073"/>
                  </a:lnTo>
                  <a:lnTo>
                    <a:pt x="1370329" y="846708"/>
                  </a:lnTo>
                  <a:lnTo>
                    <a:pt x="1407414" y="848486"/>
                  </a:lnTo>
                  <a:lnTo>
                    <a:pt x="1443990" y="850899"/>
                  </a:lnTo>
                  <a:lnTo>
                    <a:pt x="1480185" y="853566"/>
                  </a:lnTo>
                  <a:lnTo>
                    <a:pt x="1515745" y="855979"/>
                  </a:lnTo>
                  <a:lnTo>
                    <a:pt x="1550670" y="857503"/>
                  </a:lnTo>
                  <a:lnTo>
                    <a:pt x="1584832" y="857630"/>
                  </a:lnTo>
                  <a:lnTo>
                    <a:pt x="1618361" y="855852"/>
                  </a:lnTo>
                  <a:lnTo>
                    <a:pt x="1682750" y="844422"/>
                  </a:lnTo>
                  <a:lnTo>
                    <a:pt x="1743328" y="819149"/>
                  </a:lnTo>
                  <a:lnTo>
                    <a:pt x="1796034" y="779906"/>
                  </a:lnTo>
                  <a:lnTo>
                    <a:pt x="1845055" y="727963"/>
                  </a:lnTo>
                  <a:lnTo>
                    <a:pt x="1891029" y="666750"/>
                  </a:lnTo>
                  <a:lnTo>
                    <a:pt x="1913001" y="633856"/>
                  </a:lnTo>
                  <a:lnTo>
                    <a:pt x="1934464" y="600075"/>
                  </a:lnTo>
                  <a:lnTo>
                    <a:pt x="1955419" y="565784"/>
                  </a:lnTo>
                  <a:lnTo>
                    <a:pt x="1975993" y="531621"/>
                  </a:lnTo>
                  <a:lnTo>
                    <a:pt x="1996313" y="497839"/>
                  </a:lnTo>
                  <a:lnTo>
                    <a:pt x="2016378" y="465074"/>
                  </a:lnTo>
                  <a:lnTo>
                    <a:pt x="2056129" y="404113"/>
                  </a:lnTo>
                  <a:lnTo>
                    <a:pt x="2095753" y="352425"/>
                  </a:lnTo>
                  <a:lnTo>
                    <a:pt x="2123440" y="320039"/>
                  </a:lnTo>
                  <a:lnTo>
                    <a:pt x="2148840" y="289305"/>
                  </a:lnTo>
                  <a:lnTo>
                    <a:pt x="2195449" y="233044"/>
                  </a:lnTo>
                  <a:lnTo>
                    <a:pt x="2240661" y="183387"/>
                  </a:lnTo>
                  <a:lnTo>
                    <a:pt x="2289682" y="139953"/>
                  </a:lnTo>
                  <a:lnTo>
                    <a:pt x="2347595" y="102362"/>
                  </a:lnTo>
                  <a:lnTo>
                    <a:pt x="2410587" y="73787"/>
                  </a:lnTo>
                  <a:lnTo>
                    <a:pt x="2473325" y="53720"/>
                  </a:lnTo>
                  <a:lnTo>
                    <a:pt x="2541270" y="38100"/>
                  </a:lnTo>
                  <a:lnTo>
                    <a:pt x="2613405" y="25907"/>
                  </a:lnTo>
                  <a:lnTo>
                    <a:pt x="2689098" y="16509"/>
                  </a:lnTo>
                  <a:lnTo>
                    <a:pt x="2727832" y="12572"/>
                  </a:lnTo>
                  <a:lnTo>
                    <a:pt x="2767076" y="9143"/>
                  </a:lnTo>
                  <a:lnTo>
                    <a:pt x="2806700" y="5968"/>
                  </a:lnTo>
                  <a:lnTo>
                    <a:pt x="2846451" y="2920"/>
                  </a:lnTo>
                  <a:lnTo>
                    <a:pt x="2886455" y="0"/>
                  </a:lnTo>
                </a:path>
              </a:pathLst>
            </a:custGeom>
            <a:ln w="28956">
              <a:solidFill>
                <a:srgbClr val="3BA38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296662" y="1521713"/>
              <a:ext cx="2085339" cy="1176655"/>
            </a:xfrm>
            <a:custGeom>
              <a:avLst/>
              <a:gdLst/>
              <a:ahLst/>
              <a:cxnLst/>
              <a:rect l="l" t="t" r="r" b="b"/>
              <a:pathLst>
                <a:path w="2085340" h="1176655">
                  <a:moveTo>
                    <a:pt x="2084705" y="0"/>
                  </a:moveTo>
                  <a:lnTo>
                    <a:pt x="0" y="0"/>
                  </a:lnTo>
                </a:path>
                <a:path w="2085340" h="1176655">
                  <a:moveTo>
                    <a:pt x="2084832" y="1176401"/>
                  </a:moveTo>
                  <a:lnTo>
                    <a:pt x="2084832" y="0"/>
                  </a:lnTo>
                </a:path>
              </a:pathLst>
            </a:custGeom>
            <a:ln w="19812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718554" y="3271266"/>
              <a:ext cx="1477010" cy="815340"/>
            </a:xfrm>
            <a:custGeom>
              <a:avLst/>
              <a:gdLst/>
              <a:ahLst/>
              <a:cxnLst/>
              <a:rect l="l" t="t" r="r" b="b"/>
              <a:pathLst>
                <a:path w="1477009" h="815339">
                  <a:moveTo>
                    <a:pt x="1476755" y="815174"/>
                  </a:moveTo>
                  <a:lnTo>
                    <a:pt x="1434846" y="810221"/>
                  </a:lnTo>
                  <a:lnTo>
                    <a:pt x="1392809" y="805218"/>
                  </a:lnTo>
                  <a:lnTo>
                    <a:pt x="1351026" y="800150"/>
                  </a:lnTo>
                  <a:lnTo>
                    <a:pt x="1309497" y="794969"/>
                  </a:lnTo>
                  <a:lnTo>
                    <a:pt x="1268095" y="789660"/>
                  </a:lnTo>
                  <a:lnTo>
                    <a:pt x="1226947" y="784161"/>
                  </a:lnTo>
                  <a:lnTo>
                    <a:pt x="1186179" y="778459"/>
                  </a:lnTo>
                  <a:lnTo>
                    <a:pt x="1145794" y="772515"/>
                  </a:lnTo>
                  <a:lnTo>
                    <a:pt x="1105789" y="766292"/>
                  </a:lnTo>
                  <a:lnTo>
                    <a:pt x="1066419" y="759739"/>
                  </a:lnTo>
                  <a:lnTo>
                    <a:pt x="1027556" y="752843"/>
                  </a:lnTo>
                  <a:lnTo>
                    <a:pt x="989329" y="745566"/>
                  </a:lnTo>
                  <a:lnTo>
                    <a:pt x="951865" y="737857"/>
                  </a:lnTo>
                  <a:lnTo>
                    <a:pt x="879094" y="721055"/>
                  </a:lnTo>
                  <a:lnTo>
                    <a:pt x="809625" y="702132"/>
                  </a:lnTo>
                  <a:lnTo>
                    <a:pt x="744093" y="680821"/>
                  </a:lnTo>
                  <a:lnTo>
                    <a:pt x="682878" y="656856"/>
                  </a:lnTo>
                  <a:lnTo>
                    <a:pt x="626491" y="629919"/>
                  </a:lnTo>
                  <a:lnTo>
                    <a:pt x="567309" y="593597"/>
                  </a:lnTo>
                  <a:lnTo>
                    <a:pt x="536955" y="568959"/>
                  </a:lnTo>
                  <a:lnTo>
                    <a:pt x="508889" y="541654"/>
                  </a:lnTo>
                  <a:lnTo>
                    <a:pt x="482853" y="512317"/>
                  </a:lnTo>
                  <a:lnTo>
                    <a:pt x="458724" y="481075"/>
                  </a:lnTo>
                  <a:lnTo>
                    <a:pt x="436499" y="448563"/>
                  </a:lnTo>
                  <a:lnTo>
                    <a:pt x="415798" y="414908"/>
                  </a:lnTo>
                  <a:lnTo>
                    <a:pt x="396621" y="380745"/>
                  </a:lnTo>
                  <a:lnTo>
                    <a:pt x="378714" y="346328"/>
                  </a:lnTo>
                  <a:lnTo>
                    <a:pt x="346075" y="278510"/>
                  </a:lnTo>
                  <a:lnTo>
                    <a:pt x="330962" y="245744"/>
                  </a:lnTo>
                  <a:lnTo>
                    <a:pt x="316484" y="214375"/>
                  </a:lnTo>
                  <a:lnTo>
                    <a:pt x="288798" y="157352"/>
                  </a:lnTo>
                  <a:lnTo>
                    <a:pt x="261620" y="110362"/>
                  </a:lnTo>
                  <a:lnTo>
                    <a:pt x="210057" y="51053"/>
                  </a:lnTo>
                  <a:lnTo>
                    <a:pt x="179959" y="27558"/>
                  </a:lnTo>
                  <a:lnTo>
                    <a:pt x="134493" y="12064"/>
                  </a:lnTo>
                  <a:lnTo>
                    <a:pt x="115062" y="10286"/>
                  </a:lnTo>
                  <a:lnTo>
                    <a:pt x="95250" y="5968"/>
                  </a:lnTo>
                  <a:lnTo>
                    <a:pt x="62992" y="0"/>
                  </a:lnTo>
                  <a:lnTo>
                    <a:pt x="32130" y="634"/>
                  </a:lnTo>
                  <a:lnTo>
                    <a:pt x="9017" y="4063"/>
                  </a:lnTo>
                  <a:lnTo>
                    <a:pt x="0" y="5968"/>
                  </a:lnTo>
                </a:path>
              </a:pathLst>
            </a:custGeom>
            <a:ln w="28956">
              <a:solidFill>
                <a:srgbClr val="FF2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254752" y="3137915"/>
              <a:ext cx="106680" cy="1190625"/>
            </a:xfrm>
            <a:custGeom>
              <a:avLst/>
              <a:gdLst/>
              <a:ahLst/>
              <a:cxnLst/>
              <a:rect l="l" t="t" r="r" b="b"/>
              <a:pathLst>
                <a:path w="106679" h="1190625">
                  <a:moveTo>
                    <a:pt x="106680" y="107061"/>
                  </a:moveTo>
                  <a:lnTo>
                    <a:pt x="101346" y="96393"/>
                  </a:lnTo>
                  <a:lnTo>
                    <a:pt x="64008" y="21424"/>
                  </a:lnTo>
                  <a:lnTo>
                    <a:pt x="64008" y="96393"/>
                  </a:lnTo>
                  <a:lnTo>
                    <a:pt x="42672" y="96431"/>
                  </a:lnTo>
                  <a:lnTo>
                    <a:pt x="64008" y="96393"/>
                  </a:lnTo>
                  <a:lnTo>
                    <a:pt x="64008" y="21424"/>
                  </a:lnTo>
                  <a:lnTo>
                    <a:pt x="53340" y="0"/>
                  </a:lnTo>
                  <a:lnTo>
                    <a:pt x="0" y="107061"/>
                  </a:lnTo>
                  <a:lnTo>
                    <a:pt x="42672" y="107061"/>
                  </a:lnTo>
                  <a:lnTo>
                    <a:pt x="42672" y="1190129"/>
                  </a:lnTo>
                  <a:lnTo>
                    <a:pt x="64008" y="1190129"/>
                  </a:lnTo>
                  <a:lnTo>
                    <a:pt x="64008" y="107061"/>
                  </a:lnTo>
                  <a:lnTo>
                    <a:pt x="106680" y="10706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334762" y="3271266"/>
              <a:ext cx="1477010" cy="815340"/>
            </a:xfrm>
            <a:custGeom>
              <a:avLst/>
              <a:gdLst/>
              <a:ahLst/>
              <a:cxnLst/>
              <a:rect l="l" t="t" r="r" b="b"/>
              <a:pathLst>
                <a:path w="1477009" h="815339">
                  <a:moveTo>
                    <a:pt x="0" y="815174"/>
                  </a:moveTo>
                  <a:lnTo>
                    <a:pt x="41910" y="810221"/>
                  </a:lnTo>
                  <a:lnTo>
                    <a:pt x="83947" y="805218"/>
                  </a:lnTo>
                  <a:lnTo>
                    <a:pt x="125729" y="800150"/>
                  </a:lnTo>
                  <a:lnTo>
                    <a:pt x="167259" y="794969"/>
                  </a:lnTo>
                  <a:lnTo>
                    <a:pt x="208661" y="789660"/>
                  </a:lnTo>
                  <a:lnTo>
                    <a:pt x="249809" y="784161"/>
                  </a:lnTo>
                  <a:lnTo>
                    <a:pt x="290575" y="778459"/>
                  </a:lnTo>
                  <a:lnTo>
                    <a:pt x="330962" y="772515"/>
                  </a:lnTo>
                  <a:lnTo>
                    <a:pt x="370966" y="766292"/>
                  </a:lnTo>
                  <a:lnTo>
                    <a:pt x="410337" y="759739"/>
                  </a:lnTo>
                  <a:lnTo>
                    <a:pt x="449199" y="752843"/>
                  </a:lnTo>
                  <a:lnTo>
                    <a:pt x="487425" y="745566"/>
                  </a:lnTo>
                  <a:lnTo>
                    <a:pt x="524890" y="737857"/>
                  </a:lnTo>
                  <a:lnTo>
                    <a:pt x="597662" y="721055"/>
                  </a:lnTo>
                  <a:lnTo>
                    <a:pt x="667130" y="702132"/>
                  </a:lnTo>
                  <a:lnTo>
                    <a:pt x="732663" y="680821"/>
                  </a:lnTo>
                  <a:lnTo>
                    <a:pt x="793876" y="656856"/>
                  </a:lnTo>
                  <a:lnTo>
                    <a:pt x="850264" y="629919"/>
                  </a:lnTo>
                  <a:lnTo>
                    <a:pt x="909447" y="593597"/>
                  </a:lnTo>
                  <a:lnTo>
                    <a:pt x="939800" y="568959"/>
                  </a:lnTo>
                  <a:lnTo>
                    <a:pt x="967866" y="541654"/>
                  </a:lnTo>
                  <a:lnTo>
                    <a:pt x="993901" y="512317"/>
                  </a:lnTo>
                  <a:lnTo>
                    <a:pt x="1018032" y="481075"/>
                  </a:lnTo>
                  <a:lnTo>
                    <a:pt x="1040257" y="448563"/>
                  </a:lnTo>
                  <a:lnTo>
                    <a:pt x="1060958" y="414908"/>
                  </a:lnTo>
                  <a:lnTo>
                    <a:pt x="1080135" y="380745"/>
                  </a:lnTo>
                  <a:lnTo>
                    <a:pt x="1098041" y="346328"/>
                  </a:lnTo>
                  <a:lnTo>
                    <a:pt x="1130680" y="278510"/>
                  </a:lnTo>
                  <a:lnTo>
                    <a:pt x="1145793" y="245744"/>
                  </a:lnTo>
                  <a:lnTo>
                    <a:pt x="1160272" y="214375"/>
                  </a:lnTo>
                  <a:lnTo>
                    <a:pt x="1187958" y="157352"/>
                  </a:lnTo>
                  <a:lnTo>
                    <a:pt x="1215136" y="110362"/>
                  </a:lnTo>
                  <a:lnTo>
                    <a:pt x="1266697" y="51053"/>
                  </a:lnTo>
                  <a:lnTo>
                    <a:pt x="1296796" y="27558"/>
                  </a:lnTo>
                  <a:lnTo>
                    <a:pt x="1342263" y="12064"/>
                  </a:lnTo>
                  <a:lnTo>
                    <a:pt x="1361693" y="10286"/>
                  </a:lnTo>
                  <a:lnTo>
                    <a:pt x="1381506" y="5968"/>
                  </a:lnTo>
                  <a:lnTo>
                    <a:pt x="1413764" y="0"/>
                  </a:lnTo>
                  <a:lnTo>
                    <a:pt x="1444624" y="634"/>
                  </a:lnTo>
                  <a:lnTo>
                    <a:pt x="1467612" y="4063"/>
                  </a:lnTo>
                  <a:lnTo>
                    <a:pt x="1476756" y="5968"/>
                  </a:lnTo>
                </a:path>
              </a:pathLst>
            </a:custGeom>
            <a:ln w="28955">
              <a:solidFill>
                <a:srgbClr val="FF25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8292083" y="909904"/>
            <a:ext cx="499109" cy="3060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800" i="1" spc="-10" dirty="0">
                <a:latin typeface="Georgia"/>
                <a:cs typeface="Georgia"/>
              </a:rPr>
              <a:t>f</a:t>
            </a:r>
            <a:r>
              <a:rPr sz="1800" i="1" spc="-15" baseline="-9259" dirty="0">
                <a:latin typeface="Calibri"/>
                <a:cs typeface="Calibri"/>
              </a:rPr>
              <a:t>Ɵ</a:t>
            </a:r>
            <a:r>
              <a:rPr sz="1800" spc="-10" dirty="0">
                <a:latin typeface="Calibri"/>
                <a:cs typeface="Calibri"/>
              </a:rPr>
              <a:t>(</a:t>
            </a:r>
            <a:r>
              <a:rPr sz="1800" i="1" spc="-10" dirty="0">
                <a:latin typeface="Georgia"/>
                <a:cs typeface="Georgia"/>
              </a:rPr>
              <a:t>x</a:t>
            </a:r>
            <a:r>
              <a:rPr sz="1800" spc="-10" dirty="0">
                <a:latin typeface="Calibri"/>
                <a:cs typeface="Calibri"/>
              </a:rPr>
              <a:t>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407152" y="3020695"/>
            <a:ext cx="593725" cy="3054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800" i="1" spc="-35" dirty="0">
                <a:latin typeface="Georgia"/>
                <a:cs typeface="Georgia"/>
              </a:rPr>
              <a:t>P</a:t>
            </a:r>
            <a:r>
              <a:rPr sz="1875" i="1" spc="-52" baseline="-8888" dirty="0">
                <a:latin typeface="Calibri"/>
                <a:cs typeface="Calibri"/>
              </a:rPr>
              <a:t>Ɵ</a:t>
            </a:r>
            <a:r>
              <a:rPr sz="1875" i="1" spc="-232" baseline="-8888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(</a:t>
            </a:r>
            <a:r>
              <a:rPr sz="1800" i="1" spc="-25" dirty="0">
                <a:latin typeface="Georgia"/>
                <a:cs typeface="Georgia"/>
              </a:rPr>
              <a:t>x</a:t>
            </a:r>
            <a:r>
              <a:rPr sz="1800" spc="-25" dirty="0">
                <a:latin typeface="Calibri"/>
                <a:cs typeface="Calibri"/>
              </a:rPr>
              <a:t>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5093208" y="1397380"/>
            <a:ext cx="3204845" cy="2830195"/>
            <a:chOff x="5093208" y="1397380"/>
            <a:chExt cx="3204845" cy="2830195"/>
          </a:xfrm>
        </p:grpSpPr>
        <p:pic>
          <p:nvPicPr>
            <p:cNvPr id="29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90865" y="4070604"/>
              <a:ext cx="85851" cy="10668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5093208" y="4113275"/>
              <a:ext cx="3204845" cy="21590"/>
            </a:xfrm>
            <a:custGeom>
              <a:avLst/>
              <a:gdLst/>
              <a:ahLst/>
              <a:cxnLst/>
              <a:rect l="l" t="t" r="r" b="b"/>
              <a:pathLst>
                <a:path w="3204845" h="21589">
                  <a:moveTo>
                    <a:pt x="3097657" y="0"/>
                  </a:moveTo>
                  <a:lnTo>
                    <a:pt x="0" y="0"/>
                  </a:lnTo>
                  <a:lnTo>
                    <a:pt x="0" y="21336"/>
                  </a:lnTo>
                  <a:lnTo>
                    <a:pt x="3097657" y="21336"/>
                  </a:lnTo>
                  <a:lnTo>
                    <a:pt x="3097657" y="0"/>
                  </a:lnTo>
                  <a:close/>
                </a:path>
                <a:path w="3204845" h="21589">
                  <a:moveTo>
                    <a:pt x="3204845" y="10668"/>
                  </a:moveTo>
                  <a:lnTo>
                    <a:pt x="3183509" y="0"/>
                  </a:lnTo>
                  <a:lnTo>
                    <a:pt x="3108452" y="0"/>
                  </a:lnTo>
                  <a:lnTo>
                    <a:pt x="3108452" y="21336"/>
                  </a:lnTo>
                  <a:lnTo>
                    <a:pt x="3183509" y="21336"/>
                  </a:lnTo>
                  <a:lnTo>
                    <a:pt x="3204845" y="106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299960" y="1400555"/>
              <a:ext cx="156845" cy="2555875"/>
            </a:xfrm>
            <a:custGeom>
              <a:avLst/>
              <a:gdLst/>
              <a:ahLst/>
              <a:cxnLst/>
              <a:rect l="l" t="t" r="r" b="b"/>
              <a:pathLst>
                <a:path w="156845" h="2555875">
                  <a:moveTo>
                    <a:pt x="5842" y="2473020"/>
                  </a:moveTo>
                  <a:lnTo>
                    <a:pt x="0" y="227076"/>
                  </a:lnTo>
                </a:path>
                <a:path w="156845" h="2555875">
                  <a:moveTo>
                    <a:pt x="156718" y="2555595"/>
                  </a:moveTo>
                  <a:lnTo>
                    <a:pt x="155448" y="0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378446" y="2686050"/>
              <a:ext cx="3175" cy="1446530"/>
            </a:xfrm>
            <a:custGeom>
              <a:avLst/>
              <a:gdLst/>
              <a:ahLst/>
              <a:cxnLst/>
              <a:rect l="l" t="t" r="r" b="b"/>
              <a:pathLst>
                <a:path w="3175" h="1446529">
                  <a:moveTo>
                    <a:pt x="2794" y="1445958"/>
                  </a:moveTo>
                  <a:lnTo>
                    <a:pt x="0" y="0"/>
                  </a:lnTo>
                </a:path>
              </a:pathLst>
            </a:custGeom>
            <a:ln w="19812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299960" y="4145789"/>
              <a:ext cx="156972" cy="81786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5295900" y="1400555"/>
              <a:ext cx="2170430" cy="237490"/>
            </a:xfrm>
            <a:custGeom>
              <a:avLst/>
              <a:gdLst/>
              <a:ahLst/>
              <a:cxnLst/>
              <a:rect l="l" t="t" r="r" b="b"/>
              <a:pathLst>
                <a:path w="2170429" h="237489">
                  <a:moveTo>
                    <a:pt x="1993265" y="227076"/>
                  </a:moveTo>
                  <a:lnTo>
                    <a:pt x="0" y="237236"/>
                  </a:lnTo>
                </a:path>
                <a:path w="2170429" h="237489">
                  <a:moveTo>
                    <a:pt x="2169922" y="0"/>
                  </a:moveTo>
                  <a:lnTo>
                    <a:pt x="12191" y="0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5009515" y="1368628"/>
            <a:ext cx="162560" cy="2146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i="1" spc="-25" dirty="0">
                <a:latin typeface="Calibri"/>
                <a:cs typeface="Calibri"/>
              </a:rPr>
              <a:t>dz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5206746" y="1401317"/>
            <a:ext cx="79375" cy="236220"/>
          </a:xfrm>
          <a:custGeom>
            <a:avLst/>
            <a:gdLst/>
            <a:ahLst/>
            <a:cxnLst/>
            <a:rect l="l" t="t" r="r" b="b"/>
            <a:pathLst>
              <a:path w="79375" h="236219">
                <a:moveTo>
                  <a:pt x="78993" y="235966"/>
                </a:moveTo>
                <a:lnTo>
                  <a:pt x="63626" y="234061"/>
                </a:lnTo>
                <a:lnTo>
                  <a:pt x="51053" y="228854"/>
                </a:lnTo>
                <a:lnTo>
                  <a:pt x="42544" y="221107"/>
                </a:lnTo>
                <a:lnTo>
                  <a:pt x="39496" y="211582"/>
                </a:lnTo>
                <a:lnTo>
                  <a:pt x="39496" y="142367"/>
                </a:lnTo>
                <a:lnTo>
                  <a:pt x="36321" y="132969"/>
                </a:lnTo>
                <a:lnTo>
                  <a:pt x="27939" y="125095"/>
                </a:lnTo>
                <a:lnTo>
                  <a:pt x="15366" y="119887"/>
                </a:lnTo>
                <a:lnTo>
                  <a:pt x="0" y="117983"/>
                </a:lnTo>
                <a:lnTo>
                  <a:pt x="15366" y="116078"/>
                </a:lnTo>
                <a:lnTo>
                  <a:pt x="27939" y="110871"/>
                </a:lnTo>
                <a:lnTo>
                  <a:pt x="36321" y="103124"/>
                </a:lnTo>
                <a:lnTo>
                  <a:pt x="39496" y="93599"/>
                </a:lnTo>
                <a:lnTo>
                  <a:pt x="39496" y="24384"/>
                </a:lnTo>
                <a:lnTo>
                  <a:pt x="42544" y="14859"/>
                </a:lnTo>
                <a:lnTo>
                  <a:pt x="51053" y="7112"/>
                </a:lnTo>
                <a:lnTo>
                  <a:pt x="63626" y="1905"/>
                </a:lnTo>
                <a:lnTo>
                  <a:pt x="78993" y="0"/>
                </a:lnTo>
              </a:path>
            </a:pathLst>
          </a:custGeom>
          <a:ln w="198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41295" rIns="0" bIns="0" rtlCol="0">
            <a:spAutoFit/>
          </a:bodyPr>
          <a:lstStyle/>
          <a:p>
            <a:pPr marL="1981835">
              <a:lnSpc>
                <a:spcPts val="940"/>
              </a:lnSpc>
              <a:spcBef>
                <a:spcPts val="15"/>
              </a:spcBef>
            </a:pPr>
            <a:r>
              <a:rPr spc="-50" dirty="0"/>
              <a:t>1</a:t>
            </a:r>
          </a:p>
          <a:p>
            <a:pPr marL="1146810">
              <a:lnSpc>
                <a:spcPts val="940"/>
              </a:lnSpc>
            </a:pPr>
            <a:r>
              <a:rPr sz="800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00" b="1" spc="1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0F1141"/>
                </a:solidFill>
              </a:rPr>
              <a:t>Pilani,</a:t>
            </a:r>
            <a:r>
              <a:rPr sz="800" spc="75" dirty="0">
                <a:solidFill>
                  <a:srgbClr val="0F1141"/>
                </a:solidFill>
              </a:rPr>
              <a:t> </a:t>
            </a:r>
            <a:r>
              <a:rPr sz="800" spc="-10" dirty="0">
                <a:solidFill>
                  <a:srgbClr val="0F1141"/>
                </a:solidFill>
              </a:rPr>
              <a:t>Pilani</a:t>
            </a:r>
            <a:r>
              <a:rPr sz="1350" spc="-15" baseline="-18518" dirty="0"/>
              <a:t>8</a:t>
            </a:r>
            <a:r>
              <a:rPr sz="800" spc="-10" dirty="0">
                <a:solidFill>
                  <a:srgbClr val="0F1141"/>
                </a:solidFill>
              </a:rPr>
              <a:t>Campus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126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grpSp>
        <p:nvGrpSpPr>
          <p:cNvPr id="2" name="object 2"/>
          <p:cNvGrpSpPr/>
          <p:nvPr/>
        </p:nvGrpSpPr>
        <p:grpSpPr>
          <a:xfrm>
            <a:off x="496823" y="2609088"/>
            <a:ext cx="8647430" cy="2360930"/>
            <a:chOff x="496823" y="2609088"/>
            <a:chExt cx="8647430" cy="2360930"/>
          </a:xfrm>
        </p:grpSpPr>
        <p:sp>
          <p:nvSpPr>
            <p:cNvPr id="3" name="object 3"/>
            <p:cNvSpPr/>
            <p:nvPr/>
          </p:nvSpPr>
          <p:spPr>
            <a:xfrm>
              <a:off x="4631435" y="4911852"/>
              <a:ext cx="2329180" cy="38100"/>
            </a:xfrm>
            <a:custGeom>
              <a:avLst/>
              <a:gdLst/>
              <a:ahLst/>
              <a:cxnLst/>
              <a:rect l="l" t="t" r="r" b="b"/>
              <a:pathLst>
                <a:path w="2329179" h="38100">
                  <a:moveTo>
                    <a:pt x="2328671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2328671" y="38100"/>
                  </a:lnTo>
                  <a:lnTo>
                    <a:pt x="2328671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908291" y="4911852"/>
              <a:ext cx="2235835" cy="35560"/>
            </a:xfrm>
            <a:custGeom>
              <a:avLst/>
              <a:gdLst/>
              <a:ahLst/>
              <a:cxnLst/>
              <a:rect l="l" t="t" r="r" b="b"/>
              <a:pathLst>
                <a:path w="2235834" h="35560">
                  <a:moveTo>
                    <a:pt x="2235707" y="0"/>
                  </a:moveTo>
                  <a:lnTo>
                    <a:pt x="0" y="0"/>
                  </a:lnTo>
                  <a:lnTo>
                    <a:pt x="0" y="35052"/>
                  </a:lnTo>
                  <a:lnTo>
                    <a:pt x="2235707" y="35052"/>
                  </a:lnTo>
                  <a:lnTo>
                    <a:pt x="2235707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084831" y="4911852"/>
              <a:ext cx="2580640" cy="38100"/>
            </a:xfrm>
            <a:custGeom>
              <a:avLst/>
              <a:gdLst/>
              <a:ahLst/>
              <a:cxnLst/>
              <a:rect l="l" t="t" r="r" b="b"/>
              <a:pathLst>
                <a:path w="2580640" h="38100">
                  <a:moveTo>
                    <a:pt x="2580132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2580132" y="38100"/>
                  </a:lnTo>
                  <a:lnTo>
                    <a:pt x="2580132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95800" y="4914900"/>
              <a:ext cx="2329180" cy="35560"/>
            </a:xfrm>
            <a:custGeom>
              <a:avLst/>
              <a:gdLst/>
              <a:ahLst/>
              <a:cxnLst/>
              <a:rect l="l" t="t" r="r" b="b"/>
              <a:pathLst>
                <a:path w="2329179" h="35560">
                  <a:moveTo>
                    <a:pt x="2328672" y="0"/>
                  </a:moveTo>
                  <a:lnTo>
                    <a:pt x="0" y="0"/>
                  </a:lnTo>
                  <a:lnTo>
                    <a:pt x="0" y="35052"/>
                  </a:lnTo>
                  <a:lnTo>
                    <a:pt x="2328672" y="35052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33600" y="4914900"/>
              <a:ext cx="2362200" cy="35560"/>
            </a:xfrm>
            <a:custGeom>
              <a:avLst/>
              <a:gdLst/>
              <a:ahLst/>
              <a:cxnLst/>
              <a:rect l="l" t="t" r="r" b="b"/>
              <a:pathLst>
                <a:path w="2362200" h="35560">
                  <a:moveTo>
                    <a:pt x="2362200" y="0"/>
                  </a:moveTo>
                  <a:lnTo>
                    <a:pt x="0" y="0"/>
                  </a:lnTo>
                  <a:lnTo>
                    <a:pt x="0" y="35052"/>
                  </a:lnTo>
                  <a:lnTo>
                    <a:pt x="2362200" y="35052"/>
                  </a:lnTo>
                  <a:lnTo>
                    <a:pt x="23622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815327" y="4914900"/>
              <a:ext cx="2329180" cy="35560"/>
            </a:xfrm>
            <a:custGeom>
              <a:avLst/>
              <a:gdLst/>
              <a:ahLst/>
              <a:cxnLst/>
              <a:rect l="l" t="t" r="r" b="b"/>
              <a:pathLst>
                <a:path w="2329179" h="35560">
                  <a:moveTo>
                    <a:pt x="2328672" y="0"/>
                  </a:moveTo>
                  <a:lnTo>
                    <a:pt x="0" y="0"/>
                  </a:lnTo>
                  <a:lnTo>
                    <a:pt x="0" y="35052"/>
                  </a:lnTo>
                  <a:lnTo>
                    <a:pt x="2328672" y="35052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6823" y="2609088"/>
              <a:ext cx="2360676" cy="236067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84219" y="2609088"/>
              <a:ext cx="2360676" cy="236067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73139" y="2609088"/>
              <a:ext cx="2360675" cy="2360676"/>
            </a:xfrm>
            <a:prstGeom prst="rect">
              <a:avLst/>
            </a:prstGeom>
          </p:spPr>
        </p:pic>
      </p:grp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629400" y="0"/>
            <a:ext cx="2194559" cy="519684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0" y="972311"/>
            <a:ext cx="7010400" cy="33655"/>
            <a:chOff x="0" y="972311"/>
            <a:chExt cx="7010400" cy="33655"/>
          </a:xfrm>
        </p:grpSpPr>
        <p:sp>
          <p:nvSpPr>
            <p:cNvPr id="14" name="object 14"/>
            <p:cNvSpPr/>
            <p:nvPr/>
          </p:nvSpPr>
          <p:spPr>
            <a:xfrm>
              <a:off x="2362200" y="972311"/>
              <a:ext cx="2329180" cy="33655"/>
            </a:xfrm>
            <a:custGeom>
              <a:avLst/>
              <a:gdLst/>
              <a:ahLst/>
              <a:cxnLst/>
              <a:rect l="l" t="t" r="r" b="b"/>
              <a:pathLst>
                <a:path w="2329179" h="33655">
                  <a:moveTo>
                    <a:pt x="2328672" y="0"/>
                  </a:moveTo>
                  <a:lnTo>
                    <a:pt x="0" y="0"/>
                  </a:lnTo>
                  <a:lnTo>
                    <a:pt x="0" y="33527"/>
                  </a:lnTo>
                  <a:lnTo>
                    <a:pt x="2328672" y="33527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0" y="972311"/>
              <a:ext cx="2362200" cy="33655"/>
            </a:xfrm>
            <a:custGeom>
              <a:avLst/>
              <a:gdLst/>
              <a:ahLst/>
              <a:cxnLst/>
              <a:rect l="l" t="t" r="r" b="b"/>
              <a:pathLst>
                <a:path w="2362200" h="33655">
                  <a:moveTo>
                    <a:pt x="2362200" y="0"/>
                  </a:moveTo>
                  <a:lnTo>
                    <a:pt x="0" y="0"/>
                  </a:lnTo>
                  <a:lnTo>
                    <a:pt x="0" y="33527"/>
                  </a:lnTo>
                  <a:lnTo>
                    <a:pt x="2362200" y="33527"/>
                  </a:lnTo>
                  <a:lnTo>
                    <a:pt x="23622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681728" y="972311"/>
              <a:ext cx="2329180" cy="33655"/>
            </a:xfrm>
            <a:custGeom>
              <a:avLst/>
              <a:gdLst/>
              <a:ahLst/>
              <a:cxnLst/>
              <a:rect l="l" t="t" r="r" b="b"/>
              <a:pathLst>
                <a:path w="2329179" h="33655">
                  <a:moveTo>
                    <a:pt x="2328672" y="0"/>
                  </a:moveTo>
                  <a:lnTo>
                    <a:pt x="0" y="0"/>
                  </a:lnTo>
                  <a:lnTo>
                    <a:pt x="0" y="33527"/>
                  </a:lnTo>
                  <a:lnTo>
                    <a:pt x="2328672" y="33527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403352" y="489330"/>
            <a:ext cx="77431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Change</a:t>
            </a:r>
            <a:r>
              <a:rPr sz="2400" spc="25" dirty="0"/>
              <a:t> </a:t>
            </a:r>
            <a:r>
              <a:rPr sz="2400" spc="70" dirty="0"/>
              <a:t>of</a:t>
            </a:r>
            <a:r>
              <a:rPr sz="2400" spc="125" dirty="0"/>
              <a:t> </a:t>
            </a:r>
            <a:r>
              <a:rPr sz="2400" dirty="0"/>
              <a:t>Variable</a:t>
            </a:r>
            <a:r>
              <a:rPr sz="2400" spc="45" dirty="0"/>
              <a:t> </a:t>
            </a:r>
            <a:r>
              <a:rPr sz="2400" dirty="0"/>
              <a:t>Density</a:t>
            </a:r>
            <a:r>
              <a:rPr sz="2400" spc="-20" dirty="0"/>
              <a:t> </a:t>
            </a:r>
            <a:r>
              <a:rPr sz="2400" dirty="0"/>
              <a:t>Needs </a:t>
            </a:r>
            <a:r>
              <a:rPr sz="2400" spc="85" dirty="0"/>
              <a:t>to</a:t>
            </a:r>
            <a:r>
              <a:rPr sz="2400" spc="125" dirty="0"/>
              <a:t> </a:t>
            </a:r>
            <a:r>
              <a:rPr sz="2400" dirty="0"/>
              <a:t>Be</a:t>
            </a:r>
            <a:r>
              <a:rPr sz="2400" spc="-10" dirty="0"/>
              <a:t> </a:t>
            </a:r>
            <a:r>
              <a:rPr sz="2400" spc="40" dirty="0"/>
              <a:t>Normalized</a:t>
            </a:r>
            <a:endParaRPr sz="2400"/>
          </a:p>
        </p:txBody>
      </p:sp>
      <p:pic>
        <p:nvPicPr>
          <p:cNvPr id="18" name="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93681" y="1384733"/>
            <a:ext cx="967703" cy="264817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66344" y="1866345"/>
            <a:ext cx="2386012" cy="490894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604645" y="1389462"/>
            <a:ext cx="1310254" cy="245901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595115" y="1938027"/>
            <a:ext cx="1899866" cy="272272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163247" y="1966856"/>
            <a:ext cx="2157598" cy="275575"/>
          </a:xfrm>
          <a:prstGeom prst="rect">
            <a:avLst/>
          </a:prstGeom>
        </p:spPr>
      </p:pic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41295" rIns="0" bIns="0" rtlCol="0">
            <a:spAutoFit/>
          </a:bodyPr>
          <a:lstStyle/>
          <a:p>
            <a:pPr marL="1981835">
              <a:lnSpc>
                <a:spcPts val="940"/>
              </a:lnSpc>
              <a:spcBef>
                <a:spcPts val="15"/>
              </a:spcBef>
            </a:pPr>
            <a:r>
              <a:rPr spc="-50" dirty="0"/>
              <a:t>1</a:t>
            </a:r>
          </a:p>
          <a:p>
            <a:pPr marL="1146810">
              <a:lnSpc>
                <a:spcPts val="940"/>
              </a:lnSpc>
            </a:pPr>
            <a:r>
              <a:rPr sz="800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00" b="1" spc="1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0F1141"/>
                </a:solidFill>
              </a:rPr>
              <a:t>Pilani,</a:t>
            </a:r>
            <a:r>
              <a:rPr sz="800" spc="75" dirty="0">
                <a:solidFill>
                  <a:srgbClr val="0F1141"/>
                </a:solidFill>
              </a:rPr>
              <a:t> </a:t>
            </a:r>
            <a:r>
              <a:rPr sz="800" spc="-10" dirty="0">
                <a:solidFill>
                  <a:srgbClr val="0F1141"/>
                </a:solidFill>
              </a:rPr>
              <a:t>Pilani</a:t>
            </a:r>
            <a:r>
              <a:rPr sz="1350" spc="-15" baseline="-18518" dirty="0"/>
              <a:t>9</a:t>
            </a:r>
            <a:r>
              <a:rPr sz="800" spc="-10" dirty="0">
                <a:solidFill>
                  <a:srgbClr val="0F1141"/>
                </a:solidFill>
              </a:rPr>
              <a:t>Campus</a:t>
            </a:r>
            <a:endParaRPr sz="800">
              <a:latin typeface="Arial"/>
              <a:cs typeface="Arial"/>
            </a:endParaRPr>
          </a:p>
        </p:txBody>
      </p:sp>
      <p:pic>
        <p:nvPicPr>
          <p:cNvPr id="123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24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25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26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grpSp>
        <p:nvGrpSpPr>
          <p:cNvPr id="2" name="object 2"/>
          <p:cNvGrpSpPr/>
          <p:nvPr/>
        </p:nvGrpSpPr>
        <p:grpSpPr>
          <a:xfrm>
            <a:off x="2084832" y="4911852"/>
            <a:ext cx="7059295" cy="38100"/>
            <a:chOff x="2084832" y="4911852"/>
            <a:chExt cx="7059295" cy="38100"/>
          </a:xfrm>
        </p:grpSpPr>
        <p:sp>
          <p:nvSpPr>
            <p:cNvPr id="3" name="object 3"/>
            <p:cNvSpPr/>
            <p:nvPr/>
          </p:nvSpPr>
          <p:spPr>
            <a:xfrm>
              <a:off x="2084832" y="4911852"/>
              <a:ext cx="2580640" cy="38100"/>
            </a:xfrm>
            <a:custGeom>
              <a:avLst/>
              <a:gdLst/>
              <a:ahLst/>
              <a:cxnLst/>
              <a:rect l="l" t="t" r="r" b="b"/>
              <a:pathLst>
                <a:path w="2580640" h="38100">
                  <a:moveTo>
                    <a:pt x="2580132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2580132" y="38100"/>
                  </a:lnTo>
                  <a:lnTo>
                    <a:pt x="2580132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495800" y="4914900"/>
              <a:ext cx="2329180" cy="35560"/>
            </a:xfrm>
            <a:custGeom>
              <a:avLst/>
              <a:gdLst/>
              <a:ahLst/>
              <a:cxnLst/>
              <a:rect l="l" t="t" r="r" b="b"/>
              <a:pathLst>
                <a:path w="2329179" h="35560">
                  <a:moveTo>
                    <a:pt x="2328672" y="0"/>
                  </a:moveTo>
                  <a:lnTo>
                    <a:pt x="0" y="0"/>
                  </a:lnTo>
                  <a:lnTo>
                    <a:pt x="0" y="35052"/>
                  </a:lnTo>
                  <a:lnTo>
                    <a:pt x="2328672" y="35052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133600" y="4914900"/>
              <a:ext cx="2362200" cy="35560"/>
            </a:xfrm>
            <a:custGeom>
              <a:avLst/>
              <a:gdLst/>
              <a:ahLst/>
              <a:cxnLst/>
              <a:rect l="l" t="t" r="r" b="b"/>
              <a:pathLst>
                <a:path w="2362200" h="35560">
                  <a:moveTo>
                    <a:pt x="2362200" y="0"/>
                  </a:moveTo>
                  <a:lnTo>
                    <a:pt x="0" y="0"/>
                  </a:lnTo>
                  <a:lnTo>
                    <a:pt x="0" y="35052"/>
                  </a:lnTo>
                  <a:lnTo>
                    <a:pt x="2362200" y="35052"/>
                  </a:lnTo>
                  <a:lnTo>
                    <a:pt x="23622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15328" y="4914900"/>
              <a:ext cx="2329180" cy="35560"/>
            </a:xfrm>
            <a:custGeom>
              <a:avLst/>
              <a:gdLst/>
              <a:ahLst/>
              <a:cxnLst/>
              <a:rect l="l" t="t" r="r" b="b"/>
              <a:pathLst>
                <a:path w="2329179" h="35560">
                  <a:moveTo>
                    <a:pt x="2328672" y="0"/>
                  </a:moveTo>
                  <a:lnTo>
                    <a:pt x="0" y="0"/>
                  </a:lnTo>
                  <a:lnTo>
                    <a:pt x="0" y="35052"/>
                  </a:lnTo>
                  <a:lnTo>
                    <a:pt x="2328672" y="35052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29400" y="0"/>
            <a:ext cx="2194559" cy="519684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972311"/>
            <a:ext cx="9029700" cy="1849120"/>
            <a:chOff x="0" y="972311"/>
            <a:chExt cx="9029700" cy="1849120"/>
          </a:xfrm>
        </p:grpSpPr>
        <p:sp>
          <p:nvSpPr>
            <p:cNvPr id="9" name="object 9"/>
            <p:cNvSpPr/>
            <p:nvPr/>
          </p:nvSpPr>
          <p:spPr>
            <a:xfrm>
              <a:off x="2362200" y="972311"/>
              <a:ext cx="2329180" cy="33655"/>
            </a:xfrm>
            <a:custGeom>
              <a:avLst/>
              <a:gdLst/>
              <a:ahLst/>
              <a:cxnLst/>
              <a:rect l="l" t="t" r="r" b="b"/>
              <a:pathLst>
                <a:path w="2329179" h="33655">
                  <a:moveTo>
                    <a:pt x="2328672" y="0"/>
                  </a:moveTo>
                  <a:lnTo>
                    <a:pt x="0" y="0"/>
                  </a:lnTo>
                  <a:lnTo>
                    <a:pt x="0" y="33527"/>
                  </a:lnTo>
                  <a:lnTo>
                    <a:pt x="2328672" y="33527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972311"/>
              <a:ext cx="2362200" cy="33655"/>
            </a:xfrm>
            <a:custGeom>
              <a:avLst/>
              <a:gdLst/>
              <a:ahLst/>
              <a:cxnLst/>
              <a:rect l="l" t="t" r="r" b="b"/>
              <a:pathLst>
                <a:path w="2362200" h="33655">
                  <a:moveTo>
                    <a:pt x="2362200" y="0"/>
                  </a:moveTo>
                  <a:lnTo>
                    <a:pt x="0" y="0"/>
                  </a:lnTo>
                  <a:lnTo>
                    <a:pt x="0" y="33527"/>
                  </a:lnTo>
                  <a:lnTo>
                    <a:pt x="2362200" y="33527"/>
                  </a:lnTo>
                  <a:lnTo>
                    <a:pt x="23622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681728" y="972311"/>
              <a:ext cx="2329180" cy="33655"/>
            </a:xfrm>
            <a:custGeom>
              <a:avLst/>
              <a:gdLst/>
              <a:ahLst/>
              <a:cxnLst/>
              <a:rect l="l" t="t" r="r" b="b"/>
              <a:pathLst>
                <a:path w="2329179" h="33655">
                  <a:moveTo>
                    <a:pt x="2328672" y="0"/>
                  </a:moveTo>
                  <a:lnTo>
                    <a:pt x="0" y="0"/>
                  </a:lnTo>
                  <a:lnTo>
                    <a:pt x="0" y="33527"/>
                  </a:lnTo>
                  <a:lnTo>
                    <a:pt x="2328672" y="33527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824989" y="1009649"/>
              <a:ext cx="413384" cy="1463040"/>
            </a:xfrm>
            <a:custGeom>
              <a:avLst/>
              <a:gdLst/>
              <a:ahLst/>
              <a:cxnLst/>
              <a:rect l="l" t="t" r="r" b="b"/>
              <a:pathLst>
                <a:path w="413385" h="1463039">
                  <a:moveTo>
                    <a:pt x="0" y="1463039"/>
                  </a:moveTo>
                  <a:lnTo>
                    <a:pt x="412889" y="1463039"/>
                  </a:lnTo>
                  <a:lnTo>
                    <a:pt x="412889" y="0"/>
                  </a:lnTo>
                  <a:lnTo>
                    <a:pt x="0" y="0"/>
                  </a:lnTo>
                  <a:lnTo>
                    <a:pt x="0" y="1463039"/>
                  </a:lnTo>
                  <a:close/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348484" y="1700783"/>
              <a:ext cx="789305" cy="66040"/>
            </a:xfrm>
            <a:custGeom>
              <a:avLst/>
              <a:gdLst/>
              <a:ahLst/>
              <a:cxnLst/>
              <a:rect l="l" t="t" r="r" b="b"/>
              <a:pathLst>
                <a:path w="789305" h="66039">
                  <a:moveTo>
                    <a:pt x="789051" y="32766"/>
                  </a:moveTo>
                  <a:lnTo>
                    <a:pt x="767715" y="21844"/>
                  </a:lnTo>
                  <a:lnTo>
                    <a:pt x="724789" y="0"/>
                  </a:lnTo>
                  <a:lnTo>
                    <a:pt x="724789" y="21844"/>
                  </a:lnTo>
                  <a:lnTo>
                    <a:pt x="0" y="21844"/>
                  </a:lnTo>
                  <a:lnTo>
                    <a:pt x="0" y="43688"/>
                  </a:lnTo>
                  <a:lnTo>
                    <a:pt x="724789" y="43688"/>
                  </a:lnTo>
                  <a:lnTo>
                    <a:pt x="724789" y="65532"/>
                  </a:lnTo>
                  <a:lnTo>
                    <a:pt x="767715" y="43688"/>
                  </a:lnTo>
                  <a:lnTo>
                    <a:pt x="789051" y="3276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246882" y="1009649"/>
              <a:ext cx="413384" cy="1463040"/>
            </a:xfrm>
            <a:custGeom>
              <a:avLst/>
              <a:gdLst/>
              <a:ahLst/>
              <a:cxnLst/>
              <a:rect l="l" t="t" r="r" b="b"/>
              <a:pathLst>
                <a:path w="413385" h="1463039">
                  <a:moveTo>
                    <a:pt x="0" y="1463039"/>
                  </a:moveTo>
                  <a:lnTo>
                    <a:pt x="412889" y="1463039"/>
                  </a:lnTo>
                  <a:lnTo>
                    <a:pt x="412889" y="0"/>
                  </a:lnTo>
                  <a:lnTo>
                    <a:pt x="0" y="0"/>
                  </a:lnTo>
                  <a:lnTo>
                    <a:pt x="0" y="1463039"/>
                  </a:lnTo>
                  <a:close/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828288" y="1700783"/>
              <a:ext cx="3636010" cy="66040"/>
            </a:xfrm>
            <a:custGeom>
              <a:avLst/>
              <a:gdLst/>
              <a:ahLst/>
              <a:cxnLst/>
              <a:rect l="l" t="t" r="r" b="b"/>
              <a:pathLst>
                <a:path w="3636009" h="66039">
                  <a:moveTo>
                    <a:pt x="789051" y="32766"/>
                  </a:moveTo>
                  <a:lnTo>
                    <a:pt x="767715" y="21844"/>
                  </a:lnTo>
                  <a:lnTo>
                    <a:pt x="724789" y="0"/>
                  </a:lnTo>
                  <a:lnTo>
                    <a:pt x="724789" y="21844"/>
                  </a:lnTo>
                  <a:lnTo>
                    <a:pt x="0" y="21844"/>
                  </a:lnTo>
                  <a:lnTo>
                    <a:pt x="0" y="43688"/>
                  </a:lnTo>
                  <a:lnTo>
                    <a:pt x="724789" y="43688"/>
                  </a:lnTo>
                  <a:lnTo>
                    <a:pt x="724789" y="65532"/>
                  </a:lnTo>
                  <a:lnTo>
                    <a:pt x="767715" y="43688"/>
                  </a:lnTo>
                  <a:lnTo>
                    <a:pt x="789051" y="32766"/>
                  </a:lnTo>
                  <a:close/>
                </a:path>
                <a:path w="3636009" h="66039">
                  <a:moveTo>
                    <a:pt x="2194179" y="32766"/>
                  </a:moveTo>
                  <a:lnTo>
                    <a:pt x="2172716" y="21844"/>
                  </a:lnTo>
                  <a:lnTo>
                    <a:pt x="2129790" y="0"/>
                  </a:lnTo>
                  <a:lnTo>
                    <a:pt x="2129790" y="21844"/>
                  </a:lnTo>
                  <a:lnTo>
                    <a:pt x="1403604" y="21844"/>
                  </a:lnTo>
                  <a:lnTo>
                    <a:pt x="1403604" y="43688"/>
                  </a:lnTo>
                  <a:lnTo>
                    <a:pt x="2129790" y="43688"/>
                  </a:lnTo>
                  <a:lnTo>
                    <a:pt x="2129790" y="65532"/>
                  </a:lnTo>
                  <a:lnTo>
                    <a:pt x="2172716" y="43688"/>
                  </a:lnTo>
                  <a:lnTo>
                    <a:pt x="2194179" y="32766"/>
                  </a:lnTo>
                  <a:close/>
                </a:path>
                <a:path w="3636009" h="66039">
                  <a:moveTo>
                    <a:pt x="3635883" y="32766"/>
                  </a:moveTo>
                  <a:lnTo>
                    <a:pt x="3614547" y="21844"/>
                  </a:lnTo>
                  <a:lnTo>
                    <a:pt x="3571621" y="0"/>
                  </a:lnTo>
                  <a:lnTo>
                    <a:pt x="3571621" y="21844"/>
                  </a:lnTo>
                  <a:lnTo>
                    <a:pt x="2846832" y="21844"/>
                  </a:lnTo>
                  <a:lnTo>
                    <a:pt x="2846832" y="43688"/>
                  </a:lnTo>
                  <a:lnTo>
                    <a:pt x="3571621" y="43688"/>
                  </a:lnTo>
                  <a:lnTo>
                    <a:pt x="3571621" y="65532"/>
                  </a:lnTo>
                  <a:lnTo>
                    <a:pt x="3614547" y="43688"/>
                  </a:lnTo>
                  <a:lnTo>
                    <a:pt x="3635883" y="3276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101334" y="1003553"/>
              <a:ext cx="413384" cy="1461770"/>
            </a:xfrm>
            <a:custGeom>
              <a:avLst/>
              <a:gdLst/>
              <a:ahLst/>
              <a:cxnLst/>
              <a:rect l="l" t="t" r="r" b="b"/>
              <a:pathLst>
                <a:path w="413384" h="1461770">
                  <a:moveTo>
                    <a:pt x="0" y="1461516"/>
                  </a:moveTo>
                  <a:lnTo>
                    <a:pt x="412889" y="1461516"/>
                  </a:lnTo>
                  <a:lnTo>
                    <a:pt x="412889" y="0"/>
                  </a:lnTo>
                  <a:lnTo>
                    <a:pt x="0" y="0"/>
                  </a:lnTo>
                  <a:lnTo>
                    <a:pt x="0" y="1461516"/>
                  </a:lnTo>
                  <a:close/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34071" y="2322575"/>
              <a:ext cx="1595627" cy="498348"/>
            </a:xfrm>
            <a:prstGeom prst="rect">
              <a:avLst/>
            </a:prstGeom>
          </p:spPr>
        </p:pic>
      </p:grpSp>
      <p:sp>
        <p:nvSpPr>
          <p:cNvPr id="18" name="object 18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5" dirty="0"/>
              <a:t>Flows:</a:t>
            </a:r>
            <a:r>
              <a:rPr spc="-190" dirty="0"/>
              <a:t> </a:t>
            </a:r>
            <a:r>
              <a:rPr spc="-10" dirty="0"/>
              <a:t>Training</a:t>
            </a:r>
          </a:p>
        </p:txBody>
      </p:sp>
      <p:pic>
        <p:nvPicPr>
          <p:cNvPr id="19" name="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94076" y="3204972"/>
            <a:ext cx="3046476" cy="839723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18515" y="1446275"/>
            <a:ext cx="416052" cy="429768"/>
          </a:xfrm>
          <a:prstGeom prst="rect">
            <a:avLst/>
          </a:prstGeom>
        </p:spPr>
      </p:pic>
      <p:sp>
        <p:nvSpPr>
          <p:cNvPr id="21" name="object 21"/>
          <p:cNvSpPr/>
          <p:nvPr/>
        </p:nvSpPr>
        <p:spPr>
          <a:xfrm>
            <a:off x="882396" y="1700783"/>
            <a:ext cx="790575" cy="66040"/>
          </a:xfrm>
          <a:custGeom>
            <a:avLst/>
            <a:gdLst/>
            <a:ahLst/>
            <a:cxnLst/>
            <a:rect l="l" t="t" r="r" b="b"/>
            <a:pathLst>
              <a:path w="790575" h="66039">
                <a:moveTo>
                  <a:pt x="790575" y="32766"/>
                </a:moveTo>
                <a:lnTo>
                  <a:pt x="769099" y="21844"/>
                </a:lnTo>
                <a:lnTo>
                  <a:pt x="726186" y="0"/>
                </a:lnTo>
                <a:lnTo>
                  <a:pt x="726186" y="21844"/>
                </a:lnTo>
                <a:lnTo>
                  <a:pt x="0" y="21844"/>
                </a:lnTo>
                <a:lnTo>
                  <a:pt x="0" y="43688"/>
                </a:lnTo>
                <a:lnTo>
                  <a:pt x="726186" y="43688"/>
                </a:lnTo>
                <a:lnTo>
                  <a:pt x="726186" y="65532"/>
                </a:lnTo>
                <a:lnTo>
                  <a:pt x="769099" y="43688"/>
                </a:lnTo>
                <a:lnTo>
                  <a:pt x="790575" y="327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4834509" y="1417777"/>
            <a:ext cx="30480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25" dirty="0">
                <a:latin typeface="Calibri"/>
                <a:cs typeface="Calibri"/>
              </a:rPr>
              <a:t>...</a:t>
            </a:r>
            <a:endParaRPr sz="3000">
              <a:latin typeface="Calibri"/>
              <a:cs typeface="Calibri"/>
            </a:endParaRPr>
          </a:p>
        </p:txBody>
      </p:sp>
      <p:pic>
        <p:nvPicPr>
          <p:cNvPr id="23" name="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545323" y="1522475"/>
            <a:ext cx="1295400" cy="379475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7802118" y="4867612"/>
            <a:ext cx="1285240" cy="29083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847725">
              <a:lnSpc>
                <a:spcPts val="940"/>
              </a:lnSpc>
              <a:spcBef>
                <a:spcPts val="15"/>
              </a:spcBef>
            </a:pPr>
            <a:r>
              <a:rPr sz="900" spc="-50" dirty="0">
                <a:solidFill>
                  <a:srgbClr val="878787"/>
                </a:solidFill>
                <a:latin typeface="Arial"/>
                <a:cs typeface="Arial"/>
              </a:rPr>
              <a:t>2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940"/>
              </a:lnSpc>
            </a:pPr>
            <a:r>
              <a:rPr sz="800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00" b="1" spc="1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0F1141"/>
                </a:solidFill>
                <a:latin typeface="Arial"/>
                <a:cs typeface="Arial"/>
              </a:rPr>
              <a:t>Pilani,</a:t>
            </a:r>
            <a:r>
              <a:rPr sz="800" spc="7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0F1141"/>
                </a:solidFill>
                <a:latin typeface="Arial"/>
                <a:cs typeface="Arial"/>
              </a:rPr>
              <a:t>Pilani</a:t>
            </a:r>
            <a:r>
              <a:rPr sz="1350" spc="-15" baseline="-18518" dirty="0">
                <a:solidFill>
                  <a:srgbClr val="878787"/>
                </a:solidFill>
                <a:latin typeface="Arial"/>
                <a:cs typeface="Arial"/>
              </a:rPr>
              <a:t>0</a:t>
            </a:r>
            <a:r>
              <a:rPr sz="800" spc="-10" dirty="0">
                <a:solidFill>
                  <a:srgbClr val="0F1141"/>
                </a:solidFill>
                <a:latin typeface="Arial"/>
                <a:cs typeface="Arial"/>
              </a:rPr>
              <a:t>Campus</a:t>
            </a:r>
            <a:endParaRPr sz="800">
              <a:latin typeface="Arial"/>
              <a:cs typeface="Arial"/>
            </a:endParaRPr>
          </a:p>
        </p:txBody>
      </p:sp>
      <p:pic>
        <p:nvPicPr>
          <p:cNvPr id="127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12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13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114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319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Flow</a:t>
            </a:r>
            <a:r>
              <a:rPr spc="-110" dirty="0"/>
              <a:t> </a:t>
            </a:r>
            <a:r>
              <a:rPr dirty="0"/>
              <a:t>Models:</a:t>
            </a:r>
            <a:r>
              <a:rPr spc="-95" dirty="0"/>
              <a:t> </a:t>
            </a:r>
            <a:r>
              <a:rPr spc="-20" dirty="0"/>
              <a:t>Training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553450" y="4857699"/>
            <a:ext cx="1473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878787"/>
                </a:solidFill>
                <a:latin typeface="Arial"/>
                <a:cs typeface="Arial"/>
              </a:rPr>
              <a:t>21</a:t>
            </a:r>
            <a:endParaRPr sz="9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47544" y="2125979"/>
            <a:ext cx="3479291" cy="87020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53439" y="3232404"/>
            <a:ext cx="7275576" cy="72847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22808" y="4076496"/>
            <a:ext cx="4433570" cy="760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Assuming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have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expression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for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2400" dirty="0">
                <a:latin typeface="Calibri"/>
                <a:cs typeface="Calibri"/>
              </a:rPr>
              <a:t>with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Stochastic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Gradient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Descent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83478" y="4076496"/>
            <a:ext cx="276669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,</a:t>
            </a:r>
            <a:r>
              <a:rPr sz="2400" spc="-1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optimized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05400" y="4216908"/>
            <a:ext cx="399288" cy="19964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596895" y="1121663"/>
            <a:ext cx="3407663" cy="87782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220967" y="1330452"/>
            <a:ext cx="665988" cy="170687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7802118" y="4977083"/>
            <a:ext cx="1285240" cy="14287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800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00" b="1" spc="1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0F1141"/>
                </a:solidFill>
                <a:latin typeface="Arial"/>
                <a:cs typeface="Arial"/>
              </a:rPr>
              <a:t>Pilani,</a:t>
            </a:r>
            <a:r>
              <a:rPr sz="800" spc="6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0F1141"/>
                </a:solidFill>
                <a:latin typeface="Arial"/>
                <a:cs typeface="Arial"/>
              </a:rPr>
              <a:t>Pilani</a:t>
            </a:r>
            <a:r>
              <a:rPr sz="800" spc="8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0F1141"/>
                </a:solidFill>
                <a:latin typeface="Arial"/>
                <a:cs typeface="Arial"/>
              </a:rPr>
              <a:t>Campus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26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27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128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292100" y="2121716"/>
            <a:ext cx="4045585" cy="889000"/>
          </a:xfrm>
          <a:prstGeom prst="rect">
            <a:avLst/>
          </a:prstGeom>
        </p:spPr>
        <p:txBody>
          <a:bodyPr vert="horz" wrap="square" lIns="0" tIns="170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sz="1800" dirty="0">
                <a:latin typeface="Arial"/>
                <a:cs typeface="Arial"/>
              </a:rPr>
              <a:t>Two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choices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to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make: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40"/>
              </a:spcBef>
              <a:tabLst>
                <a:tab pos="3699510" algn="l"/>
              </a:tabLst>
            </a:pPr>
            <a:r>
              <a:rPr sz="1800" b="1" spc="-10" dirty="0">
                <a:solidFill>
                  <a:srgbClr val="0F1141"/>
                </a:solidFill>
                <a:latin typeface="Calibri"/>
                <a:cs typeface="Calibri"/>
              </a:rPr>
              <a:t>1.</a:t>
            </a:r>
            <a:r>
              <a:rPr sz="1800" b="1" spc="-10" dirty="0">
                <a:latin typeface="Calibri"/>
                <a:cs typeface="Calibri"/>
              </a:rPr>
              <a:t>Invertible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function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class</a:t>
            </a:r>
            <a:r>
              <a:rPr sz="1800" b="1" dirty="0">
                <a:latin typeface="Calibri"/>
                <a:cs typeface="Calibri"/>
              </a:rPr>
              <a:t>	</a:t>
            </a:r>
            <a:r>
              <a:rPr sz="1800" spc="-10" dirty="0">
                <a:latin typeface="Calibri"/>
                <a:cs typeface="Calibri"/>
              </a:rPr>
              <a:t>i.e.,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2100" y="2985261"/>
            <a:ext cx="3899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in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35" dirty="0">
                <a:latin typeface="Calibri"/>
                <a:cs typeface="Calibri"/>
              </a:rPr>
              <a:t>1-</a:t>
            </a:r>
            <a:r>
              <a:rPr sz="1800" dirty="0">
                <a:latin typeface="Calibri"/>
                <a:cs typeface="Calibri"/>
              </a:rPr>
              <a:t>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any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monotonic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function,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e.g.,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2100" y="3265678"/>
            <a:ext cx="17627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lr>
                <a:srgbClr val="0F1141"/>
              </a:buClr>
              <a:buSzPct val="120833"/>
              <a:buFont typeface="Wingdings"/>
              <a:buChar char=""/>
              <a:tabLst>
                <a:tab pos="299085" algn="l"/>
              </a:tabLst>
            </a:pPr>
            <a:r>
              <a:rPr sz="1800" baseline="4629" dirty="0">
                <a:latin typeface="Arial"/>
                <a:cs typeface="Arial"/>
              </a:rPr>
              <a:t>a</a:t>
            </a:r>
            <a:r>
              <a:rPr sz="1800" spc="-37" baseline="4629" dirty="0">
                <a:latin typeface="Arial"/>
                <a:cs typeface="Arial"/>
              </a:rPr>
              <a:t> </a:t>
            </a:r>
            <a:r>
              <a:rPr sz="1800" baseline="4629" dirty="0">
                <a:latin typeface="Arial"/>
                <a:cs typeface="Arial"/>
              </a:rPr>
              <a:t>x</a:t>
            </a:r>
            <a:r>
              <a:rPr sz="1800" spc="-22" baseline="4629" dirty="0">
                <a:latin typeface="Arial"/>
                <a:cs typeface="Arial"/>
              </a:rPr>
              <a:t> </a:t>
            </a:r>
            <a:r>
              <a:rPr sz="1800" baseline="4629" dirty="0">
                <a:latin typeface="Arial"/>
                <a:cs typeface="Arial"/>
              </a:rPr>
              <a:t>+</a:t>
            </a:r>
            <a:r>
              <a:rPr sz="1800" spc="-30" baseline="4629" dirty="0">
                <a:latin typeface="Arial"/>
                <a:cs typeface="Arial"/>
              </a:rPr>
              <a:t> </a:t>
            </a:r>
            <a:r>
              <a:rPr sz="1800" baseline="4629" dirty="0">
                <a:latin typeface="Arial"/>
                <a:cs typeface="Arial"/>
              </a:rPr>
              <a:t>b</a:t>
            </a:r>
            <a:r>
              <a:rPr sz="1800" spc="-44" baseline="4629" dirty="0">
                <a:latin typeface="Arial"/>
                <a:cs typeface="Arial"/>
              </a:rPr>
              <a:t> </a:t>
            </a:r>
            <a:r>
              <a:rPr sz="1800" baseline="4629" dirty="0">
                <a:latin typeface="Arial"/>
                <a:cs typeface="Arial"/>
              </a:rPr>
              <a:t>(for</a:t>
            </a:r>
            <a:r>
              <a:rPr sz="1800" spc="-44" baseline="4629" dirty="0">
                <a:latin typeface="Arial"/>
                <a:cs typeface="Arial"/>
              </a:rPr>
              <a:t> </a:t>
            </a:r>
            <a:r>
              <a:rPr sz="1800" baseline="4629" dirty="0">
                <a:latin typeface="Arial"/>
                <a:cs typeface="Arial"/>
              </a:rPr>
              <a:t>positive</a:t>
            </a:r>
            <a:r>
              <a:rPr sz="1800" spc="-52" baseline="4629" dirty="0">
                <a:latin typeface="Arial"/>
                <a:cs typeface="Arial"/>
              </a:rPr>
              <a:t> </a:t>
            </a:r>
            <a:r>
              <a:rPr sz="1800" spc="-37" baseline="4629" dirty="0">
                <a:latin typeface="Arial"/>
                <a:cs typeface="Arial"/>
              </a:rPr>
              <a:t>a)</a:t>
            </a:r>
            <a:endParaRPr sz="1800" baseline="4629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2100" y="3442157"/>
            <a:ext cx="4177665" cy="565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ts val="1425"/>
              </a:lnSpc>
              <a:spcBef>
                <a:spcPts val="100"/>
              </a:spcBef>
              <a:buClr>
                <a:srgbClr val="0F1141"/>
              </a:buClr>
              <a:buFont typeface="Wingdings"/>
              <a:buChar char=""/>
              <a:tabLst>
                <a:tab pos="299085" algn="l"/>
              </a:tabLst>
            </a:pPr>
            <a:r>
              <a:rPr sz="1200" spc="-20" dirty="0">
                <a:latin typeface="Arial"/>
                <a:cs typeface="Arial"/>
              </a:rPr>
              <a:t>polynomials</a:t>
            </a:r>
            <a:r>
              <a:rPr sz="1200" spc="-4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with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positive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coefficients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and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only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odd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powers</a:t>
            </a:r>
            <a:endParaRPr sz="1200">
              <a:latin typeface="Arial"/>
              <a:cs typeface="Arial"/>
            </a:endParaRPr>
          </a:p>
          <a:p>
            <a:pPr marL="299085" indent="-286385">
              <a:lnSpc>
                <a:spcPts val="1405"/>
              </a:lnSpc>
              <a:buClr>
                <a:srgbClr val="0F1141"/>
              </a:buClr>
              <a:buFont typeface="Wingdings"/>
              <a:buChar char=""/>
              <a:tabLst>
                <a:tab pos="299085" algn="l"/>
              </a:tabLst>
            </a:pPr>
            <a:r>
              <a:rPr sz="1200" dirty="0">
                <a:latin typeface="Arial"/>
                <a:cs typeface="Arial"/>
              </a:rPr>
              <a:t>exp</a:t>
            </a:r>
            <a:r>
              <a:rPr sz="1200" spc="-7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(theta</a:t>
            </a:r>
            <a:r>
              <a:rPr sz="1200" spc="-6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x)</a:t>
            </a:r>
            <a:endParaRPr sz="1200">
              <a:latin typeface="Arial"/>
              <a:cs typeface="Arial"/>
            </a:endParaRPr>
          </a:p>
          <a:p>
            <a:pPr marL="299085" indent="-286385">
              <a:lnSpc>
                <a:spcPts val="1420"/>
              </a:lnSpc>
              <a:buClr>
                <a:srgbClr val="0F1141"/>
              </a:buClr>
              <a:buFont typeface="Wingdings"/>
              <a:buChar char=""/>
              <a:tabLst>
                <a:tab pos="299085" algn="l"/>
              </a:tabLst>
            </a:pPr>
            <a:r>
              <a:rPr sz="1200" spc="-10" dirty="0">
                <a:latin typeface="Arial"/>
                <a:cs typeface="Arial"/>
              </a:rPr>
              <a:t>sigmoid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(a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x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+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b)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6504" y="3976217"/>
            <a:ext cx="375792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180" indent="-284480">
              <a:lnSpc>
                <a:spcPct val="100000"/>
              </a:lnSpc>
              <a:spcBef>
                <a:spcPts val="100"/>
              </a:spcBef>
              <a:buFont typeface="Wingdings"/>
              <a:buChar char=""/>
              <a:tabLst>
                <a:tab pos="297180" algn="l"/>
              </a:tabLst>
            </a:pPr>
            <a:r>
              <a:rPr sz="1200" spc="-10" dirty="0">
                <a:latin typeface="Arial"/>
                <a:cs typeface="Arial"/>
              </a:rPr>
              <a:t>cumulative</a:t>
            </a:r>
            <a:r>
              <a:rPr sz="1200" spc="-6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density</a:t>
            </a:r>
            <a:r>
              <a:rPr sz="1200" spc="-4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functions,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e.g.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CDF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of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mixture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of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1491" y="4154525"/>
            <a:ext cx="26123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Gaussians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or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weighted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sum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of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logistics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2100" y="4300829"/>
            <a:ext cx="18846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lr>
                <a:srgbClr val="0F1141"/>
              </a:buClr>
              <a:buFont typeface="Wingdings"/>
              <a:buChar char=""/>
              <a:tabLst>
                <a:tab pos="299085" algn="l"/>
              </a:tabLst>
            </a:pPr>
            <a:r>
              <a:rPr sz="1400" spc="-20" dirty="0">
                <a:latin typeface="Arial"/>
                <a:cs typeface="Arial"/>
              </a:rPr>
              <a:t>composition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of</a:t>
            </a:r>
            <a:r>
              <a:rPr sz="1400" spc="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flows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319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Flow</a:t>
            </a:r>
            <a:r>
              <a:rPr spc="-110" dirty="0"/>
              <a:t> </a:t>
            </a:r>
            <a:r>
              <a:rPr dirty="0"/>
              <a:t>Models:</a:t>
            </a:r>
            <a:r>
              <a:rPr spc="-95" dirty="0"/>
              <a:t> </a:t>
            </a:r>
            <a:r>
              <a:rPr spc="-10" dirty="0"/>
              <a:t>Examples</a:t>
            </a:r>
          </a:p>
        </p:txBody>
      </p:sp>
      <p:grpSp>
        <p:nvGrpSpPr>
          <p:cNvPr id="10" name="object 10"/>
          <p:cNvGrpSpPr/>
          <p:nvPr/>
        </p:nvGrpSpPr>
        <p:grpSpPr>
          <a:xfrm>
            <a:off x="2514600" y="1085088"/>
            <a:ext cx="6299200" cy="1033780"/>
            <a:chOff x="2514600" y="1085088"/>
            <a:chExt cx="6299200" cy="103378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14600" y="1085088"/>
              <a:ext cx="3407664" cy="87782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18988" y="1588008"/>
              <a:ext cx="3194304" cy="53035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68567" y="1360932"/>
              <a:ext cx="664463" cy="170687"/>
            </a:xfrm>
            <a:prstGeom prst="rect">
              <a:avLst/>
            </a:prstGeom>
          </p:spPr>
        </p:pic>
      </p:grpSp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743200" y="2694432"/>
            <a:ext cx="1136903" cy="33528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00900" y="2734055"/>
            <a:ext cx="1028700" cy="263651"/>
          </a:xfrm>
          <a:prstGeom prst="rect">
            <a:avLst/>
          </a:prstGeom>
        </p:spPr>
      </p:pic>
      <p:grpSp>
        <p:nvGrpSpPr>
          <p:cNvPr id="16" name="object 16"/>
          <p:cNvGrpSpPr/>
          <p:nvPr/>
        </p:nvGrpSpPr>
        <p:grpSpPr>
          <a:xfrm>
            <a:off x="5033771" y="3421379"/>
            <a:ext cx="1798320" cy="678180"/>
            <a:chOff x="5033771" y="3421379"/>
            <a:chExt cx="1798320" cy="678180"/>
          </a:xfrm>
        </p:grpSpPr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58155" y="3421379"/>
              <a:ext cx="986027" cy="21183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033771" y="3639311"/>
              <a:ext cx="1798320" cy="460247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4495927" y="2667023"/>
            <a:ext cx="4377690" cy="9366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25"/>
              </a:spcBef>
              <a:buAutoNum type="arabicPeriod" startAt="2"/>
              <a:tabLst>
                <a:tab pos="241300" algn="l"/>
              </a:tabLst>
            </a:pPr>
            <a:r>
              <a:rPr sz="1800" b="1" dirty="0">
                <a:latin typeface="Calibri"/>
                <a:cs typeface="Calibri"/>
              </a:rPr>
              <a:t>Embedding</a:t>
            </a:r>
            <a:r>
              <a:rPr sz="1800" b="1" spc="-9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space</a:t>
            </a:r>
            <a:r>
              <a:rPr sz="1800" b="1" spc="-6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density</a:t>
            </a:r>
            <a:endParaRPr sz="1800">
              <a:latin typeface="Calibri"/>
              <a:cs typeface="Calibri"/>
            </a:endParaRPr>
          </a:p>
          <a:p>
            <a:pPr marL="513080" lvl="1" indent="-286385">
              <a:lnSpc>
                <a:spcPct val="100000"/>
              </a:lnSpc>
              <a:spcBef>
                <a:spcPts val="280"/>
              </a:spcBef>
              <a:buFont typeface="Wingdings"/>
              <a:buChar char=""/>
              <a:tabLst>
                <a:tab pos="513080" algn="l"/>
              </a:tabLst>
            </a:pPr>
            <a:r>
              <a:rPr sz="1600" dirty="0">
                <a:latin typeface="Calibri"/>
                <a:cs typeface="Calibri"/>
              </a:rPr>
              <a:t>Ideally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easy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distribution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sample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from,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e.g.</a:t>
            </a:r>
            <a:endParaRPr sz="1600">
              <a:latin typeface="Calibri"/>
              <a:cs typeface="Calibri"/>
            </a:endParaRPr>
          </a:p>
          <a:p>
            <a:pPr marL="2452370">
              <a:lnSpc>
                <a:spcPct val="100000"/>
              </a:lnSpc>
              <a:spcBef>
                <a:spcPts val="1045"/>
              </a:spcBef>
            </a:pPr>
            <a:r>
              <a:rPr sz="1200" spc="-10" dirty="0">
                <a:latin typeface="Calibri"/>
                <a:cs typeface="Calibri"/>
              </a:rPr>
              <a:t>“normalizing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flow”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20" name="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042924" y="4151376"/>
            <a:ext cx="1633719" cy="207168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6993128" y="3683253"/>
            <a:ext cx="1870710" cy="662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mixture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Gaussians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1200">
              <a:latin typeface="Calibri"/>
              <a:cs typeface="Calibri"/>
            </a:endParaRPr>
          </a:p>
          <a:p>
            <a:pPr marL="13970">
              <a:lnSpc>
                <a:spcPct val="100000"/>
              </a:lnSpc>
              <a:tabLst>
                <a:tab pos="1050290" algn="l"/>
              </a:tabLst>
            </a:pPr>
            <a:r>
              <a:rPr sz="1200" spc="-10" dirty="0">
                <a:latin typeface="Calibri"/>
                <a:cs typeface="Calibri"/>
              </a:rPr>
              <a:t>-</a:t>
            </a:r>
            <a:r>
              <a:rPr sz="1200" dirty="0">
                <a:latin typeface="Calibri"/>
                <a:cs typeface="Calibri"/>
              </a:rPr>
              <a:t>&gt;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make sure</a:t>
            </a:r>
            <a:r>
              <a:rPr sz="1200" dirty="0">
                <a:latin typeface="Calibri"/>
                <a:cs typeface="Calibri"/>
              </a:rPr>
              <a:t>	maps</a:t>
            </a:r>
            <a:r>
              <a:rPr sz="1200" spc="-6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[0,1]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22" name="object 2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783068" y="4177284"/>
            <a:ext cx="217931" cy="224028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7802118" y="4977083"/>
            <a:ext cx="1285240" cy="14287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800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00" b="1" spc="1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0F1141"/>
                </a:solidFill>
                <a:latin typeface="Arial"/>
                <a:cs typeface="Arial"/>
              </a:rPr>
              <a:t>Pilani,</a:t>
            </a:r>
            <a:r>
              <a:rPr sz="800" spc="6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0F1141"/>
                </a:solidFill>
                <a:latin typeface="Arial"/>
                <a:cs typeface="Arial"/>
              </a:rPr>
              <a:t>Pilani</a:t>
            </a:r>
            <a:r>
              <a:rPr sz="800" spc="8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0F1141"/>
                </a:solidFill>
                <a:latin typeface="Arial"/>
                <a:cs typeface="Arial"/>
              </a:rPr>
              <a:t>Campus</a:t>
            </a:r>
            <a:endParaRPr sz="80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162CE2EA-5C40-47DB-8CCE-F7ACE3A34806}"/>
                  </a:ext>
                </a:extLst>
              </p14:cNvPr>
              <p14:cNvContentPartPr/>
              <p14:nvPr/>
            </p14:nvContentPartPr>
            <p14:xfrm>
              <a:off x="5772240" y="2314440"/>
              <a:ext cx="360" cy="3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162CE2EA-5C40-47DB-8CCE-F7ACE3A3480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762880" y="230508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12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11451" y="972311"/>
            <a:ext cx="6778752" cy="16565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319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Example:</a:t>
            </a:r>
            <a:r>
              <a:rPr spc="-85" dirty="0"/>
              <a:t> </a:t>
            </a:r>
            <a:r>
              <a:rPr dirty="0"/>
              <a:t>Flow</a:t>
            </a:r>
            <a:r>
              <a:rPr spc="-75" dirty="0"/>
              <a:t> </a:t>
            </a:r>
            <a:r>
              <a:rPr spc="70" dirty="0"/>
              <a:t>to</a:t>
            </a:r>
            <a:r>
              <a:rPr spc="75" dirty="0"/>
              <a:t> </a:t>
            </a:r>
            <a:r>
              <a:rPr u="sng" dirty="0">
                <a:uFill>
                  <a:solidFill>
                    <a:srgbClr val="0A0000"/>
                  </a:solidFill>
                </a:uFill>
              </a:rPr>
              <a:t>Gaussian</a:t>
            </a:r>
            <a:r>
              <a:rPr spc="-90" dirty="0"/>
              <a:t> </a:t>
            </a:r>
            <a:r>
              <a:rPr spc="-50" dirty="0"/>
              <a:t>z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667881" y="4519371"/>
            <a:ext cx="2037080" cy="371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720"/>
              </a:lnSpc>
              <a:spcBef>
                <a:spcPts val="100"/>
              </a:spcBef>
            </a:pPr>
            <a:r>
              <a:rPr sz="1500" spc="-40" dirty="0">
                <a:solidFill>
                  <a:srgbClr val="878787"/>
                </a:solidFill>
                <a:latin typeface="Arial"/>
                <a:cs typeface="Arial"/>
              </a:rPr>
              <a:t>Empirical</a:t>
            </a:r>
            <a:r>
              <a:rPr sz="1500" spc="-15" dirty="0">
                <a:solidFill>
                  <a:srgbClr val="878787"/>
                </a:solidFill>
                <a:latin typeface="Arial"/>
                <a:cs typeface="Arial"/>
              </a:rPr>
              <a:t> </a:t>
            </a:r>
            <a:r>
              <a:rPr sz="1500" spc="-45" dirty="0">
                <a:solidFill>
                  <a:srgbClr val="878787"/>
                </a:solidFill>
                <a:latin typeface="Arial"/>
                <a:cs typeface="Arial"/>
              </a:rPr>
              <a:t>distribution</a:t>
            </a:r>
            <a:r>
              <a:rPr sz="1500" spc="-60" dirty="0">
                <a:solidFill>
                  <a:srgbClr val="878787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878787"/>
                </a:solidFill>
                <a:latin typeface="Arial"/>
                <a:cs typeface="Arial"/>
              </a:rPr>
              <a:t>of</a:t>
            </a:r>
            <a:r>
              <a:rPr sz="1500" spc="-40" dirty="0">
                <a:solidFill>
                  <a:srgbClr val="878787"/>
                </a:solidFill>
                <a:latin typeface="Arial"/>
                <a:cs typeface="Arial"/>
              </a:rPr>
              <a:t> </a:t>
            </a:r>
            <a:r>
              <a:rPr sz="1500" spc="-50" dirty="0">
                <a:solidFill>
                  <a:srgbClr val="878787"/>
                </a:solidFill>
                <a:latin typeface="Arial"/>
                <a:cs typeface="Arial"/>
              </a:rPr>
              <a:t>z</a:t>
            </a:r>
            <a:endParaRPr sz="1500">
              <a:latin typeface="Arial"/>
              <a:cs typeface="Arial"/>
            </a:endParaRPr>
          </a:p>
          <a:p>
            <a:pPr marR="40640" algn="r">
              <a:lnSpc>
                <a:spcPts val="1000"/>
              </a:lnSpc>
            </a:pPr>
            <a:r>
              <a:rPr sz="900" spc="-25" dirty="0">
                <a:solidFill>
                  <a:srgbClr val="878787"/>
                </a:solidFill>
                <a:latin typeface="Arial"/>
                <a:cs typeface="Arial"/>
              </a:rPr>
              <a:t>24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40407" y="2697479"/>
            <a:ext cx="6749796" cy="182727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72262" y="1440941"/>
            <a:ext cx="840105" cy="5772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75"/>
              </a:spcBef>
            </a:pPr>
            <a:r>
              <a:rPr sz="1800" spc="-10" dirty="0">
                <a:latin typeface="Trebuchet MS"/>
                <a:cs typeface="Trebuchet MS"/>
              </a:rPr>
              <a:t>Before training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02118" y="4977083"/>
            <a:ext cx="1285240" cy="14287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800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00" b="1" spc="1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0F1141"/>
                </a:solidFill>
                <a:latin typeface="Arial"/>
                <a:cs typeface="Arial"/>
              </a:rPr>
              <a:t>Pilani,</a:t>
            </a:r>
            <a:r>
              <a:rPr sz="800" spc="6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0F1141"/>
                </a:solidFill>
                <a:latin typeface="Arial"/>
                <a:cs typeface="Arial"/>
              </a:rPr>
              <a:t>Pilani</a:t>
            </a:r>
            <a:r>
              <a:rPr sz="800" spc="8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0F1141"/>
                </a:solidFill>
                <a:latin typeface="Arial"/>
                <a:cs typeface="Arial"/>
              </a:rPr>
              <a:t>Campus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12798" y="4534611"/>
            <a:ext cx="1920239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-60" dirty="0">
                <a:latin typeface="Trebuchet MS"/>
                <a:cs typeface="Trebuchet MS"/>
              </a:rPr>
              <a:t>True</a:t>
            </a:r>
            <a:r>
              <a:rPr sz="1650" spc="-90" dirty="0">
                <a:latin typeface="Trebuchet MS"/>
                <a:cs typeface="Trebuchet MS"/>
              </a:rPr>
              <a:t> </a:t>
            </a:r>
            <a:r>
              <a:rPr sz="1650" spc="-40" dirty="0">
                <a:latin typeface="Trebuchet MS"/>
                <a:cs typeface="Trebuchet MS"/>
              </a:rPr>
              <a:t>distribution</a:t>
            </a:r>
            <a:r>
              <a:rPr sz="1650" spc="-95" dirty="0">
                <a:latin typeface="Trebuchet MS"/>
                <a:cs typeface="Trebuchet MS"/>
              </a:rPr>
              <a:t> </a:t>
            </a:r>
            <a:r>
              <a:rPr sz="1650" dirty="0">
                <a:latin typeface="Trebuchet MS"/>
                <a:cs typeface="Trebuchet MS"/>
              </a:rPr>
              <a:t>of</a:t>
            </a:r>
            <a:r>
              <a:rPr sz="1650" spc="-60" dirty="0">
                <a:latin typeface="Trebuchet MS"/>
                <a:cs typeface="Trebuchet MS"/>
              </a:rPr>
              <a:t> </a:t>
            </a:r>
            <a:r>
              <a:rPr sz="1650" spc="-50" dirty="0">
                <a:latin typeface="Trebuchet MS"/>
                <a:cs typeface="Trebuchet MS"/>
              </a:rPr>
              <a:t>x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26584" y="4534611"/>
            <a:ext cx="106743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dirty="0">
                <a:latin typeface="Trebuchet MS"/>
                <a:cs typeface="Trebuchet MS"/>
              </a:rPr>
              <a:t>Flow</a:t>
            </a:r>
            <a:r>
              <a:rPr sz="1650" spc="-20" dirty="0">
                <a:latin typeface="Trebuchet MS"/>
                <a:cs typeface="Trebuchet MS"/>
              </a:rPr>
              <a:t> </a:t>
            </a:r>
            <a:r>
              <a:rPr sz="1650" dirty="0">
                <a:latin typeface="Trebuchet MS"/>
                <a:cs typeface="Trebuchet MS"/>
              </a:rPr>
              <a:t>x</a:t>
            </a:r>
            <a:r>
              <a:rPr sz="1650" spc="-20" dirty="0">
                <a:latin typeface="Trebuchet MS"/>
                <a:cs typeface="Trebuchet MS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→</a:t>
            </a:r>
            <a:r>
              <a:rPr sz="1650" spc="65" dirty="0">
                <a:latin typeface="Times New Roman"/>
                <a:cs typeface="Times New Roman"/>
              </a:rPr>
              <a:t> </a:t>
            </a:r>
            <a:r>
              <a:rPr sz="1650" spc="-50" dirty="0">
                <a:latin typeface="Trebuchet MS"/>
                <a:cs typeface="Trebuchet MS"/>
              </a:rPr>
              <a:t>z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2262" y="3302253"/>
            <a:ext cx="840105" cy="5772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75"/>
              </a:spcBef>
            </a:pPr>
            <a:r>
              <a:rPr sz="1800" spc="-10" dirty="0">
                <a:latin typeface="Trebuchet MS"/>
                <a:cs typeface="Trebuchet MS"/>
              </a:rPr>
              <a:t>After training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113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pic>
        <p:nvPicPr>
          <p:cNvPr id="111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20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grpSp>
        <p:nvGrpSpPr>
          <p:cNvPr id="2" name="object 2"/>
          <p:cNvGrpSpPr/>
          <p:nvPr/>
        </p:nvGrpSpPr>
        <p:grpSpPr>
          <a:xfrm>
            <a:off x="4495800" y="4911852"/>
            <a:ext cx="4648200" cy="38100"/>
            <a:chOff x="4495800" y="4911852"/>
            <a:chExt cx="4648200" cy="38100"/>
          </a:xfrm>
        </p:grpSpPr>
        <p:sp>
          <p:nvSpPr>
            <p:cNvPr id="3" name="object 3"/>
            <p:cNvSpPr/>
            <p:nvPr/>
          </p:nvSpPr>
          <p:spPr>
            <a:xfrm>
              <a:off x="4631436" y="4911852"/>
              <a:ext cx="2329180" cy="38100"/>
            </a:xfrm>
            <a:custGeom>
              <a:avLst/>
              <a:gdLst/>
              <a:ahLst/>
              <a:cxnLst/>
              <a:rect l="l" t="t" r="r" b="b"/>
              <a:pathLst>
                <a:path w="2329179" h="38100">
                  <a:moveTo>
                    <a:pt x="2328671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2328671" y="38100"/>
                  </a:lnTo>
                  <a:lnTo>
                    <a:pt x="2328671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908292" y="4911852"/>
              <a:ext cx="2235835" cy="35560"/>
            </a:xfrm>
            <a:custGeom>
              <a:avLst/>
              <a:gdLst/>
              <a:ahLst/>
              <a:cxnLst/>
              <a:rect l="l" t="t" r="r" b="b"/>
              <a:pathLst>
                <a:path w="2235834" h="35560">
                  <a:moveTo>
                    <a:pt x="2235707" y="0"/>
                  </a:moveTo>
                  <a:lnTo>
                    <a:pt x="0" y="0"/>
                  </a:lnTo>
                  <a:lnTo>
                    <a:pt x="0" y="35052"/>
                  </a:lnTo>
                  <a:lnTo>
                    <a:pt x="2235707" y="35052"/>
                  </a:lnTo>
                  <a:lnTo>
                    <a:pt x="2235707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95800" y="4914900"/>
              <a:ext cx="2329180" cy="35560"/>
            </a:xfrm>
            <a:custGeom>
              <a:avLst/>
              <a:gdLst/>
              <a:ahLst/>
              <a:cxnLst/>
              <a:rect l="l" t="t" r="r" b="b"/>
              <a:pathLst>
                <a:path w="2329179" h="35560">
                  <a:moveTo>
                    <a:pt x="2328672" y="0"/>
                  </a:moveTo>
                  <a:lnTo>
                    <a:pt x="0" y="0"/>
                  </a:lnTo>
                  <a:lnTo>
                    <a:pt x="0" y="35052"/>
                  </a:lnTo>
                  <a:lnTo>
                    <a:pt x="2328672" y="35052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15327" y="4914900"/>
              <a:ext cx="2329180" cy="35560"/>
            </a:xfrm>
            <a:custGeom>
              <a:avLst/>
              <a:gdLst/>
              <a:ahLst/>
              <a:cxnLst/>
              <a:rect l="l" t="t" r="r" b="b"/>
              <a:pathLst>
                <a:path w="2329179" h="35560">
                  <a:moveTo>
                    <a:pt x="2328672" y="0"/>
                  </a:moveTo>
                  <a:lnTo>
                    <a:pt x="0" y="0"/>
                  </a:lnTo>
                  <a:lnTo>
                    <a:pt x="0" y="35052"/>
                  </a:lnTo>
                  <a:lnTo>
                    <a:pt x="2328672" y="35052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29400" y="0"/>
            <a:ext cx="2194559" cy="519684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955547"/>
            <a:ext cx="9141460" cy="3819525"/>
            <a:chOff x="0" y="955547"/>
            <a:chExt cx="9141460" cy="3819525"/>
          </a:xfrm>
        </p:grpSpPr>
        <p:sp>
          <p:nvSpPr>
            <p:cNvPr id="9" name="object 9"/>
            <p:cNvSpPr/>
            <p:nvPr/>
          </p:nvSpPr>
          <p:spPr>
            <a:xfrm>
              <a:off x="2362200" y="972311"/>
              <a:ext cx="2329180" cy="33655"/>
            </a:xfrm>
            <a:custGeom>
              <a:avLst/>
              <a:gdLst/>
              <a:ahLst/>
              <a:cxnLst/>
              <a:rect l="l" t="t" r="r" b="b"/>
              <a:pathLst>
                <a:path w="2329179" h="33655">
                  <a:moveTo>
                    <a:pt x="2328672" y="0"/>
                  </a:moveTo>
                  <a:lnTo>
                    <a:pt x="0" y="0"/>
                  </a:lnTo>
                  <a:lnTo>
                    <a:pt x="0" y="33527"/>
                  </a:lnTo>
                  <a:lnTo>
                    <a:pt x="2328672" y="33527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972311"/>
              <a:ext cx="2362200" cy="33655"/>
            </a:xfrm>
            <a:custGeom>
              <a:avLst/>
              <a:gdLst/>
              <a:ahLst/>
              <a:cxnLst/>
              <a:rect l="l" t="t" r="r" b="b"/>
              <a:pathLst>
                <a:path w="2362200" h="33655">
                  <a:moveTo>
                    <a:pt x="2362200" y="0"/>
                  </a:moveTo>
                  <a:lnTo>
                    <a:pt x="0" y="0"/>
                  </a:lnTo>
                  <a:lnTo>
                    <a:pt x="0" y="33527"/>
                  </a:lnTo>
                  <a:lnTo>
                    <a:pt x="2362200" y="33527"/>
                  </a:lnTo>
                  <a:lnTo>
                    <a:pt x="23622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681728" y="972311"/>
              <a:ext cx="2329180" cy="33655"/>
            </a:xfrm>
            <a:custGeom>
              <a:avLst/>
              <a:gdLst/>
              <a:ahLst/>
              <a:cxnLst/>
              <a:rect l="l" t="t" r="r" b="b"/>
              <a:pathLst>
                <a:path w="2329179" h="33655">
                  <a:moveTo>
                    <a:pt x="2328672" y="0"/>
                  </a:moveTo>
                  <a:lnTo>
                    <a:pt x="0" y="0"/>
                  </a:lnTo>
                  <a:lnTo>
                    <a:pt x="0" y="33527"/>
                  </a:lnTo>
                  <a:lnTo>
                    <a:pt x="2328672" y="33527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18844" y="955547"/>
              <a:ext cx="7722108" cy="3819144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319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Example:</a:t>
            </a:r>
            <a:r>
              <a:rPr spc="-120" dirty="0"/>
              <a:t> </a:t>
            </a:r>
            <a:r>
              <a:rPr dirty="0"/>
              <a:t>Flow</a:t>
            </a:r>
            <a:r>
              <a:rPr spc="-100" dirty="0"/>
              <a:t> </a:t>
            </a:r>
            <a:r>
              <a:rPr spc="70" dirty="0"/>
              <a:t>to</a:t>
            </a:r>
            <a:r>
              <a:rPr spc="35" dirty="0"/>
              <a:t> </a:t>
            </a:r>
            <a:r>
              <a:rPr u="sng" spc="110" dirty="0">
                <a:uFill>
                  <a:solidFill>
                    <a:srgbClr val="0A0000"/>
                  </a:solidFill>
                </a:uFill>
              </a:rPr>
              <a:t>Uniform</a:t>
            </a:r>
            <a:r>
              <a:rPr spc="10" dirty="0"/>
              <a:t> </a:t>
            </a:r>
            <a:r>
              <a:rPr spc="-50" dirty="0"/>
              <a:t>z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60"/>
              </a:lnSpc>
            </a:pPr>
            <a:r>
              <a:rPr sz="1500" spc="-40" dirty="0"/>
              <a:t>Empirical</a:t>
            </a:r>
            <a:r>
              <a:rPr sz="1500" spc="-15" dirty="0"/>
              <a:t> </a:t>
            </a:r>
            <a:r>
              <a:rPr sz="1500" spc="-45" dirty="0"/>
              <a:t>distribution</a:t>
            </a:r>
            <a:r>
              <a:rPr sz="1500" spc="-60" dirty="0"/>
              <a:t> </a:t>
            </a:r>
            <a:r>
              <a:rPr sz="1500" dirty="0"/>
              <a:t>of</a:t>
            </a:r>
            <a:r>
              <a:rPr sz="1500" spc="-40" dirty="0"/>
              <a:t> </a:t>
            </a:r>
            <a:r>
              <a:rPr sz="1500" spc="-50" dirty="0"/>
              <a:t>z</a:t>
            </a:r>
            <a:endParaRPr sz="1500"/>
          </a:p>
          <a:p>
            <a:pPr marL="1146810">
              <a:lnSpc>
                <a:spcPct val="100000"/>
              </a:lnSpc>
              <a:spcBef>
                <a:spcPts val="150"/>
              </a:spcBef>
            </a:pPr>
            <a:r>
              <a:rPr sz="800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00" b="1" spc="2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0F1141"/>
                </a:solidFill>
              </a:rPr>
              <a:t>Pilani,</a:t>
            </a:r>
            <a:r>
              <a:rPr sz="800" spc="75" dirty="0">
                <a:solidFill>
                  <a:srgbClr val="0F1141"/>
                </a:solidFill>
              </a:rPr>
              <a:t> </a:t>
            </a:r>
            <a:r>
              <a:rPr sz="800" spc="-100" dirty="0">
                <a:solidFill>
                  <a:srgbClr val="0F1141"/>
                </a:solidFill>
              </a:rPr>
              <a:t>Pila</a:t>
            </a:r>
            <a:r>
              <a:rPr sz="1350" spc="-150" baseline="18518" dirty="0"/>
              <a:t>2</a:t>
            </a:r>
            <a:r>
              <a:rPr sz="800" spc="-100" dirty="0">
                <a:solidFill>
                  <a:srgbClr val="0F1141"/>
                </a:solidFill>
              </a:rPr>
              <a:t>n</a:t>
            </a:r>
            <a:r>
              <a:rPr sz="1350" spc="-150" baseline="18518" dirty="0"/>
              <a:t>5</a:t>
            </a:r>
            <a:r>
              <a:rPr sz="800" spc="-100" dirty="0">
                <a:solidFill>
                  <a:srgbClr val="0F1141"/>
                </a:solidFill>
              </a:rPr>
              <a:t>i</a:t>
            </a:r>
            <a:r>
              <a:rPr sz="800" spc="90" dirty="0">
                <a:solidFill>
                  <a:srgbClr val="0F1141"/>
                </a:solidFill>
              </a:rPr>
              <a:t> </a:t>
            </a:r>
            <a:r>
              <a:rPr sz="800" spc="-10" dirty="0">
                <a:solidFill>
                  <a:srgbClr val="0F1141"/>
                </a:solidFill>
              </a:rPr>
              <a:t>Campus</a:t>
            </a:r>
            <a:endParaRPr sz="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812798" y="4737661"/>
            <a:ext cx="2865120" cy="27051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2851785" algn="l"/>
              </a:tabLst>
            </a:pPr>
            <a:r>
              <a:rPr sz="1650" spc="-165" dirty="0">
                <a:latin typeface="Trebuchet MS"/>
                <a:cs typeface="Trebuchet MS"/>
              </a:rPr>
              <a:t>Tru</a:t>
            </a:r>
            <a:r>
              <a:rPr sz="1650" u="heavy" spc="-240" dirty="0">
                <a:uFill>
                  <a:solidFill>
                    <a:srgbClr val="FBAF17"/>
                  </a:solidFill>
                </a:uFill>
                <a:latin typeface="Trebuchet MS"/>
                <a:cs typeface="Trebuchet MS"/>
              </a:rPr>
              <a:t> </a:t>
            </a:r>
            <a:r>
              <a:rPr sz="1650" u="heavy" dirty="0">
                <a:uFill>
                  <a:solidFill>
                    <a:srgbClr val="FBAF17"/>
                  </a:solidFill>
                </a:uFill>
                <a:latin typeface="Trebuchet MS"/>
                <a:cs typeface="Trebuchet MS"/>
              </a:rPr>
              <a:t>e</a:t>
            </a:r>
            <a:r>
              <a:rPr sz="1650" u="heavy" spc="-75" dirty="0">
                <a:uFill>
                  <a:solidFill>
                    <a:srgbClr val="FBAF17"/>
                  </a:solidFill>
                </a:uFill>
                <a:latin typeface="Trebuchet MS"/>
                <a:cs typeface="Trebuchet MS"/>
              </a:rPr>
              <a:t> </a:t>
            </a:r>
            <a:r>
              <a:rPr sz="1650" u="heavy" spc="-45" dirty="0">
                <a:uFill>
                  <a:solidFill>
                    <a:srgbClr val="FBAF17"/>
                  </a:solidFill>
                </a:uFill>
                <a:latin typeface="Trebuchet MS"/>
                <a:cs typeface="Trebuchet MS"/>
              </a:rPr>
              <a:t>distribution</a:t>
            </a:r>
            <a:r>
              <a:rPr sz="1650" u="heavy" spc="-75" dirty="0">
                <a:uFill>
                  <a:solidFill>
                    <a:srgbClr val="FBAF17"/>
                  </a:solidFill>
                </a:uFill>
                <a:latin typeface="Trebuchet MS"/>
                <a:cs typeface="Trebuchet MS"/>
              </a:rPr>
              <a:t> </a:t>
            </a:r>
            <a:r>
              <a:rPr sz="1650" u="heavy" dirty="0">
                <a:uFill>
                  <a:solidFill>
                    <a:srgbClr val="FBAF17"/>
                  </a:solidFill>
                </a:uFill>
                <a:latin typeface="Trebuchet MS"/>
                <a:cs typeface="Trebuchet MS"/>
              </a:rPr>
              <a:t>of</a:t>
            </a:r>
            <a:r>
              <a:rPr sz="1650" u="heavy" spc="-50" dirty="0">
                <a:uFill>
                  <a:solidFill>
                    <a:srgbClr val="FBAF17"/>
                  </a:solidFill>
                </a:uFill>
                <a:latin typeface="Trebuchet MS"/>
                <a:cs typeface="Trebuchet MS"/>
              </a:rPr>
              <a:t> x</a:t>
            </a:r>
            <a:r>
              <a:rPr sz="1650" u="heavy" dirty="0">
                <a:uFill>
                  <a:solidFill>
                    <a:srgbClr val="FBAF17"/>
                  </a:solidFill>
                </a:uFill>
                <a:latin typeface="Trebuchet MS"/>
                <a:cs typeface="Trebuchet MS"/>
              </a:rPr>
              <a:t>	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926584" y="4737661"/>
            <a:ext cx="1067435" cy="27051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50" dirty="0">
                <a:latin typeface="Trebuchet MS"/>
                <a:cs typeface="Trebuchet MS"/>
              </a:rPr>
              <a:t>Flow</a:t>
            </a:r>
            <a:r>
              <a:rPr sz="1650" spc="-25" dirty="0">
                <a:latin typeface="Trebuchet MS"/>
                <a:cs typeface="Trebuchet MS"/>
              </a:rPr>
              <a:t> </a:t>
            </a:r>
            <a:r>
              <a:rPr sz="1650" dirty="0">
                <a:latin typeface="Trebuchet MS"/>
                <a:cs typeface="Trebuchet MS"/>
              </a:rPr>
              <a:t>x</a:t>
            </a:r>
            <a:r>
              <a:rPr sz="1650" spc="-15" dirty="0">
                <a:latin typeface="Trebuchet MS"/>
                <a:cs typeface="Trebuchet MS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→</a:t>
            </a:r>
            <a:r>
              <a:rPr sz="1650" spc="60" dirty="0">
                <a:latin typeface="Times New Roman"/>
                <a:cs typeface="Times New Roman"/>
              </a:rPr>
              <a:t> </a:t>
            </a:r>
            <a:r>
              <a:rPr sz="1650" spc="-50" dirty="0">
                <a:latin typeface="Trebuchet MS"/>
                <a:cs typeface="Trebuchet MS"/>
              </a:rPr>
              <a:t>z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72262" y="1440941"/>
            <a:ext cx="840105" cy="5772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75"/>
              </a:spcBef>
            </a:pPr>
            <a:r>
              <a:rPr sz="1800" spc="-10" dirty="0">
                <a:latin typeface="Trebuchet MS"/>
                <a:cs typeface="Trebuchet MS"/>
              </a:rPr>
              <a:t>Before training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72262" y="3302253"/>
            <a:ext cx="840105" cy="5772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75"/>
              </a:spcBef>
            </a:pPr>
            <a:r>
              <a:rPr sz="1800" spc="-10" dirty="0">
                <a:latin typeface="Trebuchet MS"/>
                <a:cs typeface="Trebuchet MS"/>
              </a:rPr>
              <a:t>After training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121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pic>
        <p:nvPicPr>
          <p:cNvPr id="119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20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grpSp>
        <p:nvGrpSpPr>
          <p:cNvPr id="2" name="object 2"/>
          <p:cNvGrpSpPr/>
          <p:nvPr/>
        </p:nvGrpSpPr>
        <p:grpSpPr>
          <a:xfrm>
            <a:off x="4495800" y="4911852"/>
            <a:ext cx="4648200" cy="38100"/>
            <a:chOff x="4495800" y="4911852"/>
            <a:chExt cx="4648200" cy="38100"/>
          </a:xfrm>
        </p:grpSpPr>
        <p:sp>
          <p:nvSpPr>
            <p:cNvPr id="3" name="object 3"/>
            <p:cNvSpPr/>
            <p:nvPr/>
          </p:nvSpPr>
          <p:spPr>
            <a:xfrm>
              <a:off x="4631436" y="4911852"/>
              <a:ext cx="2329180" cy="38100"/>
            </a:xfrm>
            <a:custGeom>
              <a:avLst/>
              <a:gdLst/>
              <a:ahLst/>
              <a:cxnLst/>
              <a:rect l="l" t="t" r="r" b="b"/>
              <a:pathLst>
                <a:path w="2329179" h="38100">
                  <a:moveTo>
                    <a:pt x="2328671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2328671" y="38100"/>
                  </a:lnTo>
                  <a:lnTo>
                    <a:pt x="2328671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908292" y="4911852"/>
              <a:ext cx="2235835" cy="35560"/>
            </a:xfrm>
            <a:custGeom>
              <a:avLst/>
              <a:gdLst/>
              <a:ahLst/>
              <a:cxnLst/>
              <a:rect l="l" t="t" r="r" b="b"/>
              <a:pathLst>
                <a:path w="2235834" h="35560">
                  <a:moveTo>
                    <a:pt x="2235707" y="0"/>
                  </a:moveTo>
                  <a:lnTo>
                    <a:pt x="0" y="0"/>
                  </a:lnTo>
                  <a:lnTo>
                    <a:pt x="0" y="35052"/>
                  </a:lnTo>
                  <a:lnTo>
                    <a:pt x="2235707" y="35052"/>
                  </a:lnTo>
                  <a:lnTo>
                    <a:pt x="2235707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95800" y="4914900"/>
              <a:ext cx="2329180" cy="35560"/>
            </a:xfrm>
            <a:custGeom>
              <a:avLst/>
              <a:gdLst/>
              <a:ahLst/>
              <a:cxnLst/>
              <a:rect l="l" t="t" r="r" b="b"/>
              <a:pathLst>
                <a:path w="2329179" h="35560">
                  <a:moveTo>
                    <a:pt x="2328672" y="0"/>
                  </a:moveTo>
                  <a:lnTo>
                    <a:pt x="0" y="0"/>
                  </a:lnTo>
                  <a:lnTo>
                    <a:pt x="0" y="35052"/>
                  </a:lnTo>
                  <a:lnTo>
                    <a:pt x="2328672" y="35052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15327" y="4914900"/>
              <a:ext cx="2329180" cy="35560"/>
            </a:xfrm>
            <a:custGeom>
              <a:avLst/>
              <a:gdLst/>
              <a:ahLst/>
              <a:cxnLst/>
              <a:rect l="l" t="t" r="r" b="b"/>
              <a:pathLst>
                <a:path w="2329179" h="35560">
                  <a:moveTo>
                    <a:pt x="2328672" y="0"/>
                  </a:moveTo>
                  <a:lnTo>
                    <a:pt x="0" y="0"/>
                  </a:lnTo>
                  <a:lnTo>
                    <a:pt x="0" y="35052"/>
                  </a:lnTo>
                  <a:lnTo>
                    <a:pt x="2328672" y="35052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29400" y="0"/>
            <a:ext cx="2194559" cy="519684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918972"/>
            <a:ext cx="9142730" cy="3853179"/>
            <a:chOff x="0" y="918972"/>
            <a:chExt cx="9142730" cy="3853179"/>
          </a:xfrm>
        </p:grpSpPr>
        <p:sp>
          <p:nvSpPr>
            <p:cNvPr id="9" name="object 9"/>
            <p:cNvSpPr/>
            <p:nvPr/>
          </p:nvSpPr>
          <p:spPr>
            <a:xfrm>
              <a:off x="2362200" y="972312"/>
              <a:ext cx="2329180" cy="33655"/>
            </a:xfrm>
            <a:custGeom>
              <a:avLst/>
              <a:gdLst/>
              <a:ahLst/>
              <a:cxnLst/>
              <a:rect l="l" t="t" r="r" b="b"/>
              <a:pathLst>
                <a:path w="2329179" h="33655">
                  <a:moveTo>
                    <a:pt x="2328672" y="0"/>
                  </a:moveTo>
                  <a:lnTo>
                    <a:pt x="0" y="0"/>
                  </a:lnTo>
                  <a:lnTo>
                    <a:pt x="0" y="33527"/>
                  </a:lnTo>
                  <a:lnTo>
                    <a:pt x="2328672" y="33527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972312"/>
              <a:ext cx="2362200" cy="33655"/>
            </a:xfrm>
            <a:custGeom>
              <a:avLst/>
              <a:gdLst/>
              <a:ahLst/>
              <a:cxnLst/>
              <a:rect l="l" t="t" r="r" b="b"/>
              <a:pathLst>
                <a:path w="2362200" h="33655">
                  <a:moveTo>
                    <a:pt x="2362200" y="0"/>
                  </a:moveTo>
                  <a:lnTo>
                    <a:pt x="0" y="0"/>
                  </a:lnTo>
                  <a:lnTo>
                    <a:pt x="0" y="33527"/>
                  </a:lnTo>
                  <a:lnTo>
                    <a:pt x="2362200" y="33527"/>
                  </a:lnTo>
                  <a:lnTo>
                    <a:pt x="23622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681728" y="972312"/>
              <a:ext cx="2329180" cy="33655"/>
            </a:xfrm>
            <a:custGeom>
              <a:avLst/>
              <a:gdLst/>
              <a:ahLst/>
              <a:cxnLst/>
              <a:rect l="l" t="t" r="r" b="b"/>
              <a:pathLst>
                <a:path w="2329179" h="33655">
                  <a:moveTo>
                    <a:pt x="2328672" y="0"/>
                  </a:moveTo>
                  <a:lnTo>
                    <a:pt x="0" y="0"/>
                  </a:lnTo>
                  <a:lnTo>
                    <a:pt x="0" y="33527"/>
                  </a:lnTo>
                  <a:lnTo>
                    <a:pt x="2328672" y="33527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80744" y="918972"/>
              <a:ext cx="7761732" cy="3852672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319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Example:</a:t>
            </a:r>
            <a:r>
              <a:rPr spc="-125" dirty="0"/>
              <a:t> </a:t>
            </a:r>
            <a:r>
              <a:rPr spc="-10" dirty="0"/>
              <a:t>Flow</a:t>
            </a:r>
            <a:r>
              <a:rPr spc="-120" dirty="0"/>
              <a:t> </a:t>
            </a:r>
            <a:r>
              <a:rPr spc="70" dirty="0"/>
              <a:t>to</a:t>
            </a:r>
            <a:r>
              <a:rPr spc="35" dirty="0"/>
              <a:t> </a:t>
            </a:r>
            <a:r>
              <a:rPr u="sng" spc="-30" dirty="0">
                <a:uFill>
                  <a:solidFill>
                    <a:srgbClr val="0A0000"/>
                  </a:solidFill>
                </a:uFill>
              </a:rPr>
              <a:t>Beta(5,5)</a:t>
            </a:r>
            <a:r>
              <a:rPr spc="-135" dirty="0"/>
              <a:t> </a:t>
            </a:r>
            <a:r>
              <a:rPr spc="-50" dirty="0"/>
              <a:t>z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60"/>
              </a:lnSpc>
            </a:pPr>
            <a:r>
              <a:rPr sz="1500" spc="-40" dirty="0"/>
              <a:t>Empirical</a:t>
            </a:r>
            <a:r>
              <a:rPr sz="1500" spc="-15" dirty="0"/>
              <a:t> </a:t>
            </a:r>
            <a:r>
              <a:rPr sz="1500" spc="-45" dirty="0"/>
              <a:t>distribution</a:t>
            </a:r>
            <a:r>
              <a:rPr sz="1500" spc="-60" dirty="0"/>
              <a:t> </a:t>
            </a:r>
            <a:r>
              <a:rPr sz="1500" dirty="0"/>
              <a:t>of</a:t>
            </a:r>
            <a:r>
              <a:rPr sz="1500" spc="-40" dirty="0"/>
              <a:t> </a:t>
            </a:r>
            <a:r>
              <a:rPr sz="1500" spc="-50" dirty="0"/>
              <a:t>z</a:t>
            </a:r>
            <a:endParaRPr sz="1500"/>
          </a:p>
          <a:p>
            <a:pPr marL="1146810">
              <a:lnSpc>
                <a:spcPct val="100000"/>
              </a:lnSpc>
              <a:spcBef>
                <a:spcPts val="150"/>
              </a:spcBef>
            </a:pPr>
            <a:r>
              <a:rPr sz="800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00" b="1" spc="2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0F1141"/>
                </a:solidFill>
              </a:rPr>
              <a:t>Pilani,</a:t>
            </a:r>
            <a:r>
              <a:rPr sz="800" spc="75" dirty="0">
                <a:solidFill>
                  <a:srgbClr val="0F1141"/>
                </a:solidFill>
              </a:rPr>
              <a:t> </a:t>
            </a:r>
            <a:r>
              <a:rPr sz="800" spc="-100" dirty="0">
                <a:solidFill>
                  <a:srgbClr val="0F1141"/>
                </a:solidFill>
              </a:rPr>
              <a:t>Pila</a:t>
            </a:r>
            <a:r>
              <a:rPr sz="1350" spc="-150" baseline="18518" dirty="0"/>
              <a:t>2</a:t>
            </a:r>
            <a:r>
              <a:rPr sz="800" spc="-100" dirty="0">
                <a:solidFill>
                  <a:srgbClr val="0F1141"/>
                </a:solidFill>
              </a:rPr>
              <a:t>n</a:t>
            </a:r>
            <a:r>
              <a:rPr sz="1350" spc="-150" baseline="18518" dirty="0"/>
              <a:t>6</a:t>
            </a:r>
            <a:r>
              <a:rPr sz="800" spc="-100" dirty="0">
                <a:solidFill>
                  <a:srgbClr val="0F1141"/>
                </a:solidFill>
              </a:rPr>
              <a:t>i</a:t>
            </a:r>
            <a:r>
              <a:rPr sz="800" spc="90" dirty="0">
                <a:solidFill>
                  <a:srgbClr val="0F1141"/>
                </a:solidFill>
              </a:rPr>
              <a:t> </a:t>
            </a:r>
            <a:r>
              <a:rPr sz="800" spc="-10" dirty="0">
                <a:solidFill>
                  <a:srgbClr val="0F1141"/>
                </a:solidFill>
              </a:rPr>
              <a:t>Campus</a:t>
            </a:r>
            <a:endParaRPr sz="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812798" y="4737661"/>
            <a:ext cx="2865120" cy="27051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2851785" algn="l"/>
              </a:tabLst>
            </a:pPr>
            <a:r>
              <a:rPr sz="1650" spc="-165" dirty="0">
                <a:latin typeface="Trebuchet MS"/>
                <a:cs typeface="Trebuchet MS"/>
              </a:rPr>
              <a:t>Tru</a:t>
            </a:r>
            <a:r>
              <a:rPr sz="1650" u="heavy" spc="-240" dirty="0">
                <a:uFill>
                  <a:solidFill>
                    <a:srgbClr val="FBAF17"/>
                  </a:solidFill>
                </a:uFill>
                <a:latin typeface="Trebuchet MS"/>
                <a:cs typeface="Trebuchet MS"/>
              </a:rPr>
              <a:t> </a:t>
            </a:r>
            <a:r>
              <a:rPr sz="1650" u="heavy" dirty="0">
                <a:uFill>
                  <a:solidFill>
                    <a:srgbClr val="FBAF17"/>
                  </a:solidFill>
                </a:uFill>
                <a:latin typeface="Trebuchet MS"/>
                <a:cs typeface="Trebuchet MS"/>
              </a:rPr>
              <a:t>e</a:t>
            </a:r>
            <a:r>
              <a:rPr sz="1650" u="heavy" spc="-75" dirty="0">
                <a:uFill>
                  <a:solidFill>
                    <a:srgbClr val="FBAF17"/>
                  </a:solidFill>
                </a:uFill>
                <a:latin typeface="Trebuchet MS"/>
                <a:cs typeface="Trebuchet MS"/>
              </a:rPr>
              <a:t> </a:t>
            </a:r>
            <a:r>
              <a:rPr sz="1650" u="heavy" spc="-45" dirty="0">
                <a:uFill>
                  <a:solidFill>
                    <a:srgbClr val="FBAF17"/>
                  </a:solidFill>
                </a:uFill>
                <a:latin typeface="Trebuchet MS"/>
                <a:cs typeface="Trebuchet MS"/>
              </a:rPr>
              <a:t>distribution</a:t>
            </a:r>
            <a:r>
              <a:rPr sz="1650" u="heavy" spc="-75" dirty="0">
                <a:uFill>
                  <a:solidFill>
                    <a:srgbClr val="FBAF17"/>
                  </a:solidFill>
                </a:uFill>
                <a:latin typeface="Trebuchet MS"/>
                <a:cs typeface="Trebuchet MS"/>
              </a:rPr>
              <a:t> </a:t>
            </a:r>
            <a:r>
              <a:rPr sz="1650" u="heavy" dirty="0">
                <a:uFill>
                  <a:solidFill>
                    <a:srgbClr val="FBAF17"/>
                  </a:solidFill>
                </a:uFill>
                <a:latin typeface="Trebuchet MS"/>
                <a:cs typeface="Trebuchet MS"/>
              </a:rPr>
              <a:t>of</a:t>
            </a:r>
            <a:r>
              <a:rPr sz="1650" u="heavy" spc="-50" dirty="0">
                <a:uFill>
                  <a:solidFill>
                    <a:srgbClr val="FBAF17"/>
                  </a:solidFill>
                </a:uFill>
                <a:latin typeface="Trebuchet MS"/>
                <a:cs typeface="Trebuchet MS"/>
              </a:rPr>
              <a:t> x</a:t>
            </a:r>
            <a:r>
              <a:rPr sz="1650" u="heavy" dirty="0">
                <a:uFill>
                  <a:solidFill>
                    <a:srgbClr val="FBAF17"/>
                  </a:solidFill>
                </a:uFill>
                <a:latin typeface="Trebuchet MS"/>
                <a:cs typeface="Trebuchet MS"/>
              </a:rPr>
              <a:t>	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926584" y="4737661"/>
            <a:ext cx="1067435" cy="27051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50" dirty="0">
                <a:latin typeface="Trebuchet MS"/>
                <a:cs typeface="Trebuchet MS"/>
              </a:rPr>
              <a:t>Flow</a:t>
            </a:r>
            <a:r>
              <a:rPr sz="1650" spc="-25" dirty="0">
                <a:latin typeface="Trebuchet MS"/>
                <a:cs typeface="Trebuchet MS"/>
              </a:rPr>
              <a:t> </a:t>
            </a:r>
            <a:r>
              <a:rPr sz="1650" dirty="0">
                <a:latin typeface="Trebuchet MS"/>
                <a:cs typeface="Trebuchet MS"/>
              </a:rPr>
              <a:t>x</a:t>
            </a:r>
            <a:r>
              <a:rPr sz="1650" spc="-15" dirty="0">
                <a:latin typeface="Trebuchet MS"/>
                <a:cs typeface="Trebuchet MS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→</a:t>
            </a:r>
            <a:r>
              <a:rPr sz="1650" spc="60" dirty="0">
                <a:latin typeface="Times New Roman"/>
                <a:cs typeface="Times New Roman"/>
              </a:rPr>
              <a:t> </a:t>
            </a:r>
            <a:r>
              <a:rPr sz="1650" spc="-50" dirty="0">
                <a:latin typeface="Trebuchet MS"/>
                <a:cs typeface="Trebuchet MS"/>
              </a:rPr>
              <a:t>z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72262" y="1440941"/>
            <a:ext cx="840105" cy="5772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75"/>
              </a:spcBef>
            </a:pPr>
            <a:r>
              <a:rPr sz="1800" spc="-10" dirty="0">
                <a:latin typeface="Trebuchet MS"/>
                <a:cs typeface="Trebuchet MS"/>
              </a:rPr>
              <a:t>Before training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72262" y="3302253"/>
            <a:ext cx="840105" cy="5772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75"/>
              </a:spcBef>
            </a:pPr>
            <a:r>
              <a:rPr sz="1800" spc="-10" dirty="0">
                <a:latin typeface="Trebuchet MS"/>
                <a:cs typeface="Trebuchet MS"/>
              </a:rPr>
              <a:t>After training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119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21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17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18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119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grpSp>
        <p:nvGrpSpPr>
          <p:cNvPr id="2" name="object 2"/>
          <p:cNvGrpSpPr/>
          <p:nvPr/>
        </p:nvGrpSpPr>
        <p:grpSpPr>
          <a:xfrm>
            <a:off x="0" y="972311"/>
            <a:ext cx="9029700" cy="1849120"/>
            <a:chOff x="0" y="972311"/>
            <a:chExt cx="9029700" cy="1849120"/>
          </a:xfrm>
        </p:grpSpPr>
        <p:sp>
          <p:nvSpPr>
            <p:cNvPr id="3" name="object 3"/>
            <p:cNvSpPr/>
            <p:nvPr/>
          </p:nvSpPr>
          <p:spPr>
            <a:xfrm>
              <a:off x="1783842" y="1009649"/>
              <a:ext cx="413384" cy="1463040"/>
            </a:xfrm>
            <a:custGeom>
              <a:avLst/>
              <a:gdLst/>
              <a:ahLst/>
              <a:cxnLst/>
              <a:rect l="l" t="t" r="r" b="b"/>
              <a:pathLst>
                <a:path w="413385" h="1463039">
                  <a:moveTo>
                    <a:pt x="0" y="1463039"/>
                  </a:moveTo>
                  <a:lnTo>
                    <a:pt x="412889" y="1463039"/>
                  </a:lnTo>
                  <a:lnTo>
                    <a:pt x="412889" y="0"/>
                  </a:lnTo>
                  <a:lnTo>
                    <a:pt x="0" y="0"/>
                  </a:lnTo>
                  <a:lnTo>
                    <a:pt x="0" y="1463039"/>
                  </a:lnTo>
                  <a:close/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307336" y="1700783"/>
              <a:ext cx="789305" cy="66040"/>
            </a:xfrm>
            <a:custGeom>
              <a:avLst/>
              <a:gdLst/>
              <a:ahLst/>
              <a:cxnLst/>
              <a:rect l="l" t="t" r="r" b="b"/>
              <a:pathLst>
                <a:path w="789305" h="66039">
                  <a:moveTo>
                    <a:pt x="789051" y="32766"/>
                  </a:moveTo>
                  <a:lnTo>
                    <a:pt x="767715" y="21844"/>
                  </a:lnTo>
                  <a:lnTo>
                    <a:pt x="724789" y="0"/>
                  </a:lnTo>
                  <a:lnTo>
                    <a:pt x="724789" y="21844"/>
                  </a:lnTo>
                  <a:lnTo>
                    <a:pt x="0" y="21844"/>
                  </a:lnTo>
                  <a:lnTo>
                    <a:pt x="0" y="43688"/>
                  </a:lnTo>
                  <a:lnTo>
                    <a:pt x="724789" y="43688"/>
                  </a:lnTo>
                  <a:lnTo>
                    <a:pt x="724789" y="65532"/>
                  </a:lnTo>
                  <a:lnTo>
                    <a:pt x="767715" y="43688"/>
                  </a:lnTo>
                  <a:lnTo>
                    <a:pt x="789051" y="3276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205733" y="1009649"/>
              <a:ext cx="413384" cy="1463040"/>
            </a:xfrm>
            <a:custGeom>
              <a:avLst/>
              <a:gdLst/>
              <a:ahLst/>
              <a:cxnLst/>
              <a:rect l="l" t="t" r="r" b="b"/>
              <a:pathLst>
                <a:path w="413385" h="1463039">
                  <a:moveTo>
                    <a:pt x="0" y="1463039"/>
                  </a:moveTo>
                  <a:lnTo>
                    <a:pt x="412889" y="1463039"/>
                  </a:lnTo>
                  <a:lnTo>
                    <a:pt x="412889" y="0"/>
                  </a:lnTo>
                  <a:lnTo>
                    <a:pt x="0" y="0"/>
                  </a:lnTo>
                  <a:lnTo>
                    <a:pt x="0" y="1463039"/>
                  </a:lnTo>
                  <a:close/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787140" y="1700783"/>
              <a:ext cx="3636010" cy="66040"/>
            </a:xfrm>
            <a:custGeom>
              <a:avLst/>
              <a:gdLst/>
              <a:ahLst/>
              <a:cxnLst/>
              <a:rect l="l" t="t" r="r" b="b"/>
              <a:pathLst>
                <a:path w="3636009" h="66039">
                  <a:moveTo>
                    <a:pt x="789051" y="32766"/>
                  </a:moveTo>
                  <a:lnTo>
                    <a:pt x="767715" y="21844"/>
                  </a:lnTo>
                  <a:lnTo>
                    <a:pt x="724789" y="0"/>
                  </a:lnTo>
                  <a:lnTo>
                    <a:pt x="724789" y="21844"/>
                  </a:lnTo>
                  <a:lnTo>
                    <a:pt x="0" y="21844"/>
                  </a:lnTo>
                  <a:lnTo>
                    <a:pt x="0" y="43688"/>
                  </a:lnTo>
                  <a:lnTo>
                    <a:pt x="724789" y="43688"/>
                  </a:lnTo>
                  <a:lnTo>
                    <a:pt x="724789" y="65532"/>
                  </a:lnTo>
                  <a:lnTo>
                    <a:pt x="767715" y="43688"/>
                  </a:lnTo>
                  <a:lnTo>
                    <a:pt x="789051" y="32766"/>
                  </a:lnTo>
                  <a:close/>
                </a:path>
                <a:path w="3636009" h="66039">
                  <a:moveTo>
                    <a:pt x="2194179" y="32766"/>
                  </a:moveTo>
                  <a:lnTo>
                    <a:pt x="2172716" y="21844"/>
                  </a:lnTo>
                  <a:lnTo>
                    <a:pt x="2129790" y="0"/>
                  </a:lnTo>
                  <a:lnTo>
                    <a:pt x="2129790" y="21844"/>
                  </a:lnTo>
                  <a:lnTo>
                    <a:pt x="1403604" y="21844"/>
                  </a:lnTo>
                  <a:lnTo>
                    <a:pt x="1403604" y="43688"/>
                  </a:lnTo>
                  <a:lnTo>
                    <a:pt x="2129790" y="43688"/>
                  </a:lnTo>
                  <a:lnTo>
                    <a:pt x="2129790" y="65532"/>
                  </a:lnTo>
                  <a:lnTo>
                    <a:pt x="2172716" y="43688"/>
                  </a:lnTo>
                  <a:lnTo>
                    <a:pt x="2194179" y="32766"/>
                  </a:lnTo>
                  <a:close/>
                </a:path>
                <a:path w="3636009" h="66039">
                  <a:moveTo>
                    <a:pt x="3635883" y="32766"/>
                  </a:moveTo>
                  <a:lnTo>
                    <a:pt x="3614547" y="21844"/>
                  </a:lnTo>
                  <a:lnTo>
                    <a:pt x="3571621" y="0"/>
                  </a:lnTo>
                  <a:lnTo>
                    <a:pt x="3571621" y="21844"/>
                  </a:lnTo>
                  <a:lnTo>
                    <a:pt x="2846832" y="21844"/>
                  </a:lnTo>
                  <a:lnTo>
                    <a:pt x="2846832" y="43688"/>
                  </a:lnTo>
                  <a:lnTo>
                    <a:pt x="3571621" y="43688"/>
                  </a:lnTo>
                  <a:lnTo>
                    <a:pt x="3571621" y="65532"/>
                  </a:lnTo>
                  <a:lnTo>
                    <a:pt x="3614547" y="43688"/>
                  </a:lnTo>
                  <a:lnTo>
                    <a:pt x="3635883" y="3276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60185" y="1003553"/>
              <a:ext cx="413384" cy="1461770"/>
            </a:xfrm>
            <a:custGeom>
              <a:avLst/>
              <a:gdLst/>
              <a:ahLst/>
              <a:cxnLst/>
              <a:rect l="l" t="t" r="r" b="b"/>
              <a:pathLst>
                <a:path w="413385" h="1461770">
                  <a:moveTo>
                    <a:pt x="0" y="1461516"/>
                  </a:moveTo>
                  <a:lnTo>
                    <a:pt x="412889" y="1461516"/>
                  </a:lnTo>
                  <a:lnTo>
                    <a:pt x="412889" y="0"/>
                  </a:lnTo>
                  <a:lnTo>
                    <a:pt x="0" y="0"/>
                  </a:lnTo>
                  <a:lnTo>
                    <a:pt x="0" y="1461516"/>
                  </a:lnTo>
                  <a:close/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34071" y="2322575"/>
              <a:ext cx="1595627" cy="498348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82880" marR="5080" indent="-170815">
              <a:lnSpc>
                <a:spcPts val="2920"/>
              </a:lnSpc>
              <a:spcBef>
                <a:spcPts val="459"/>
              </a:spcBef>
            </a:pPr>
            <a:r>
              <a:rPr dirty="0"/>
              <a:t>What</a:t>
            </a:r>
            <a:r>
              <a:rPr spc="-40" dirty="0"/>
              <a:t> </a:t>
            </a:r>
            <a:r>
              <a:rPr spc="55" dirty="0"/>
              <a:t>do</a:t>
            </a:r>
            <a:r>
              <a:rPr spc="114" dirty="0"/>
              <a:t> </a:t>
            </a:r>
            <a:r>
              <a:rPr dirty="0"/>
              <a:t>we</a:t>
            </a:r>
            <a:r>
              <a:rPr spc="-65" dirty="0"/>
              <a:t> </a:t>
            </a:r>
            <a:r>
              <a:rPr spc="50" dirty="0"/>
              <a:t>need</a:t>
            </a:r>
            <a:r>
              <a:rPr spc="45" dirty="0"/>
              <a:t> </a:t>
            </a:r>
            <a:r>
              <a:rPr spc="65" dirty="0"/>
              <a:t>to</a:t>
            </a:r>
            <a:r>
              <a:rPr spc="114" dirty="0"/>
              <a:t> </a:t>
            </a:r>
            <a:r>
              <a:rPr dirty="0"/>
              <a:t>keep</a:t>
            </a:r>
            <a:r>
              <a:rPr spc="-15" dirty="0"/>
              <a:t> </a:t>
            </a:r>
            <a:r>
              <a:rPr spc="55" dirty="0"/>
              <a:t>in</a:t>
            </a:r>
            <a:r>
              <a:rPr spc="70" dirty="0"/>
              <a:t> </a:t>
            </a:r>
            <a:r>
              <a:rPr spc="100" dirty="0"/>
              <a:t>mind </a:t>
            </a:r>
            <a:r>
              <a:rPr spc="65" dirty="0"/>
              <a:t>for</a:t>
            </a:r>
            <a:r>
              <a:rPr spc="75" dirty="0"/>
              <a:t> </a:t>
            </a:r>
            <a:r>
              <a:rPr spc="-35" dirty="0"/>
              <a:t>f?</a:t>
            </a: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7368" y="1446275"/>
            <a:ext cx="416051" cy="429768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841248" y="1700783"/>
            <a:ext cx="790575" cy="66040"/>
          </a:xfrm>
          <a:custGeom>
            <a:avLst/>
            <a:gdLst/>
            <a:ahLst/>
            <a:cxnLst/>
            <a:rect l="l" t="t" r="r" b="b"/>
            <a:pathLst>
              <a:path w="790575" h="66039">
                <a:moveTo>
                  <a:pt x="790575" y="32766"/>
                </a:moveTo>
                <a:lnTo>
                  <a:pt x="769112" y="21844"/>
                </a:lnTo>
                <a:lnTo>
                  <a:pt x="726186" y="0"/>
                </a:lnTo>
                <a:lnTo>
                  <a:pt x="726186" y="21844"/>
                </a:lnTo>
                <a:lnTo>
                  <a:pt x="0" y="21844"/>
                </a:lnTo>
                <a:lnTo>
                  <a:pt x="0" y="43688"/>
                </a:lnTo>
                <a:lnTo>
                  <a:pt x="726186" y="43688"/>
                </a:lnTo>
                <a:lnTo>
                  <a:pt x="726186" y="65532"/>
                </a:lnTo>
                <a:lnTo>
                  <a:pt x="769112" y="43688"/>
                </a:lnTo>
                <a:lnTo>
                  <a:pt x="790575" y="327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793360" y="1417777"/>
            <a:ext cx="30480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25" dirty="0">
                <a:latin typeface="Calibri"/>
                <a:cs typeface="Calibri"/>
              </a:rPr>
              <a:t>...</a:t>
            </a:r>
            <a:endParaRPr sz="300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45323" y="1522475"/>
            <a:ext cx="1295400" cy="379475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439013" y="3053842"/>
            <a:ext cx="5723255" cy="760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85" dirty="0">
                <a:latin typeface="Trebuchet MS"/>
                <a:cs typeface="Trebuchet MS"/>
              </a:rPr>
              <a:t>Recall,</a:t>
            </a:r>
            <a:r>
              <a:rPr sz="2400" spc="-10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change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of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variable</a:t>
            </a:r>
            <a:r>
              <a:rPr sz="2400" spc="-15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formula</a:t>
            </a:r>
            <a:r>
              <a:rPr sz="2400" spc="-10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requires</a:t>
            </a:r>
            <a:endParaRPr sz="2400">
              <a:latin typeface="Trebuchet MS"/>
              <a:cs typeface="Trebuchet MS"/>
            </a:endParaRPr>
          </a:p>
          <a:p>
            <a:pPr marL="854075" indent="-765175">
              <a:lnSpc>
                <a:spcPct val="100000"/>
              </a:lnSpc>
              <a:spcBef>
                <a:spcPts val="20"/>
              </a:spcBef>
              <a:buSzPct val="75000"/>
              <a:buFont typeface="Arial"/>
              <a:buChar char="•"/>
              <a:tabLst>
                <a:tab pos="854075" algn="l"/>
              </a:tabLst>
            </a:pPr>
            <a:r>
              <a:rPr sz="2400" spc="-65" dirty="0">
                <a:latin typeface="Trebuchet MS"/>
                <a:cs typeface="Trebuchet MS"/>
              </a:rPr>
              <a:t>Invertible</a:t>
            </a:r>
            <a:r>
              <a:rPr sz="2400" spc="-12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&amp;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differentiable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66572" y="3429000"/>
            <a:ext cx="365759" cy="470916"/>
          </a:xfrm>
          <a:prstGeom prst="rect">
            <a:avLst/>
          </a:prstGeom>
        </p:spPr>
      </p:pic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41295" rIns="0" bIns="0" rtlCol="0">
            <a:spAutoFit/>
          </a:bodyPr>
          <a:lstStyle/>
          <a:p>
            <a:pPr marL="1981835">
              <a:lnSpc>
                <a:spcPts val="940"/>
              </a:lnSpc>
              <a:spcBef>
                <a:spcPts val="15"/>
              </a:spcBef>
            </a:pPr>
            <a:r>
              <a:rPr spc="-50" dirty="0"/>
              <a:t>2</a:t>
            </a:r>
          </a:p>
          <a:p>
            <a:pPr marL="1146810">
              <a:lnSpc>
                <a:spcPts val="940"/>
              </a:lnSpc>
            </a:pPr>
            <a:r>
              <a:rPr sz="800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00" b="1" spc="1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0F1141"/>
                </a:solidFill>
              </a:rPr>
              <a:t>Pilani,</a:t>
            </a:r>
            <a:r>
              <a:rPr sz="800" spc="75" dirty="0">
                <a:solidFill>
                  <a:srgbClr val="0F1141"/>
                </a:solidFill>
              </a:rPr>
              <a:t> </a:t>
            </a:r>
            <a:r>
              <a:rPr sz="800" spc="-10" dirty="0">
                <a:solidFill>
                  <a:srgbClr val="0F1141"/>
                </a:solidFill>
              </a:rPr>
              <a:t>Pilani</a:t>
            </a:r>
            <a:r>
              <a:rPr sz="1350" spc="-15" baseline="-18518" dirty="0"/>
              <a:t>7</a:t>
            </a:r>
            <a:r>
              <a:rPr sz="800" spc="-10" dirty="0">
                <a:solidFill>
                  <a:srgbClr val="0F1141"/>
                </a:solidFill>
              </a:rPr>
              <a:t>Campus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17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18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119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grpSp>
        <p:nvGrpSpPr>
          <p:cNvPr id="2" name="object 2"/>
          <p:cNvGrpSpPr/>
          <p:nvPr/>
        </p:nvGrpSpPr>
        <p:grpSpPr>
          <a:xfrm>
            <a:off x="0" y="972311"/>
            <a:ext cx="7423150" cy="1515110"/>
            <a:chOff x="0" y="972311"/>
            <a:chExt cx="7423150" cy="1515110"/>
          </a:xfrm>
        </p:grpSpPr>
        <p:sp>
          <p:nvSpPr>
            <p:cNvPr id="3" name="object 3"/>
            <p:cNvSpPr/>
            <p:nvPr/>
          </p:nvSpPr>
          <p:spPr>
            <a:xfrm>
              <a:off x="1783842" y="1009649"/>
              <a:ext cx="413384" cy="1463040"/>
            </a:xfrm>
            <a:custGeom>
              <a:avLst/>
              <a:gdLst/>
              <a:ahLst/>
              <a:cxnLst/>
              <a:rect l="l" t="t" r="r" b="b"/>
              <a:pathLst>
                <a:path w="413385" h="1463039">
                  <a:moveTo>
                    <a:pt x="0" y="1463039"/>
                  </a:moveTo>
                  <a:lnTo>
                    <a:pt x="412889" y="1463039"/>
                  </a:lnTo>
                  <a:lnTo>
                    <a:pt x="412889" y="0"/>
                  </a:lnTo>
                  <a:lnTo>
                    <a:pt x="0" y="0"/>
                  </a:lnTo>
                  <a:lnTo>
                    <a:pt x="0" y="1463039"/>
                  </a:lnTo>
                  <a:close/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307336" y="1700783"/>
              <a:ext cx="789305" cy="66040"/>
            </a:xfrm>
            <a:custGeom>
              <a:avLst/>
              <a:gdLst/>
              <a:ahLst/>
              <a:cxnLst/>
              <a:rect l="l" t="t" r="r" b="b"/>
              <a:pathLst>
                <a:path w="789305" h="66039">
                  <a:moveTo>
                    <a:pt x="789051" y="32766"/>
                  </a:moveTo>
                  <a:lnTo>
                    <a:pt x="767715" y="21844"/>
                  </a:lnTo>
                  <a:lnTo>
                    <a:pt x="724789" y="0"/>
                  </a:lnTo>
                  <a:lnTo>
                    <a:pt x="724789" y="21844"/>
                  </a:lnTo>
                  <a:lnTo>
                    <a:pt x="0" y="21844"/>
                  </a:lnTo>
                  <a:lnTo>
                    <a:pt x="0" y="43688"/>
                  </a:lnTo>
                  <a:lnTo>
                    <a:pt x="724789" y="43688"/>
                  </a:lnTo>
                  <a:lnTo>
                    <a:pt x="724789" y="65532"/>
                  </a:lnTo>
                  <a:lnTo>
                    <a:pt x="767715" y="43688"/>
                  </a:lnTo>
                  <a:lnTo>
                    <a:pt x="789051" y="3276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205733" y="1009649"/>
              <a:ext cx="413384" cy="1463040"/>
            </a:xfrm>
            <a:custGeom>
              <a:avLst/>
              <a:gdLst/>
              <a:ahLst/>
              <a:cxnLst/>
              <a:rect l="l" t="t" r="r" b="b"/>
              <a:pathLst>
                <a:path w="413385" h="1463039">
                  <a:moveTo>
                    <a:pt x="0" y="1463039"/>
                  </a:moveTo>
                  <a:lnTo>
                    <a:pt x="412889" y="1463039"/>
                  </a:lnTo>
                  <a:lnTo>
                    <a:pt x="412889" y="0"/>
                  </a:lnTo>
                  <a:lnTo>
                    <a:pt x="0" y="0"/>
                  </a:lnTo>
                  <a:lnTo>
                    <a:pt x="0" y="1463039"/>
                  </a:lnTo>
                  <a:close/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787140" y="1700783"/>
              <a:ext cx="3636010" cy="66040"/>
            </a:xfrm>
            <a:custGeom>
              <a:avLst/>
              <a:gdLst/>
              <a:ahLst/>
              <a:cxnLst/>
              <a:rect l="l" t="t" r="r" b="b"/>
              <a:pathLst>
                <a:path w="3636009" h="66039">
                  <a:moveTo>
                    <a:pt x="789051" y="32766"/>
                  </a:moveTo>
                  <a:lnTo>
                    <a:pt x="767715" y="21844"/>
                  </a:lnTo>
                  <a:lnTo>
                    <a:pt x="724789" y="0"/>
                  </a:lnTo>
                  <a:lnTo>
                    <a:pt x="724789" y="21844"/>
                  </a:lnTo>
                  <a:lnTo>
                    <a:pt x="0" y="21844"/>
                  </a:lnTo>
                  <a:lnTo>
                    <a:pt x="0" y="43688"/>
                  </a:lnTo>
                  <a:lnTo>
                    <a:pt x="724789" y="43688"/>
                  </a:lnTo>
                  <a:lnTo>
                    <a:pt x="724789" y="65532"/>
                  </a:lnTo>
                  <a:lnTo>
                    <a:pt x="767715" y="43688"/>
                  </a:lnTo>
                  <a:lnTo>
                    <a:pt x="789051" y="32766"/>
                  </a:lnTo>
                  <a:close/>
                </a:path>
                <a:path w="3636009" h="66039">
                  <a:moveTo>
                    <a:pt x="2194179" y="32766"/>
                  </a:moveTo>
                  <a:lnTo>
                    <a:pt x="2172716" y="21844"/>
                  </a:lnTo>
                  <a:lnTo>
                    <a:pt x="2129790" y="0"/>
                  </a:lnTo>
                  <a:lnTo>
                    <a:pt x="2129790" y="21844"/>
                  </a:lnTo>
                  <a:lnTo>
                    <a:pt x="1403604" y="21844"/>
                  </a:lnTo>
                  <a:lnTo>
                    <a:pt x="1403604" y="43688"/>
                  </a:lnTo>
                  <a:lnTo>
                    <a:pt x="2129790" y="43688"/>
                  </a:lnTo>
                  <a:lnTo>
                    <a:pt x="2129790" y="65532"/>
                  </a:lnTo>
                  <a:lnTo>
                    <a:pt x="2172716" y="43688"/>
                  </a:lnTo>
                  <a:lnTo>
                    <a:pt x="2194179" y="32766"/>
                  </a:lnTo>
                  <a:close/>
                </a:path>
                <a:path w="3636009" h="66039">
                  <a:moveTo>
                    <a:pt x="3635883" y="32766"/>
                  </a:moveTo>
                  <a:lnTo>
                    <a:pt x="3614547" y="21844"/>
                  </a:lnTo>
                  <a:lnTo>
                    <a:pt x="3571621" y="0"/>
                  </a:lnTo>
                  <a:lnTo>
                    <a:pt x="3571621" y="21844"/>
                  </a:lnTo>
                  <a:lnTo>
                    <a:pt x="2846832" y="21844"/>
                  </a:lnTo>
                  <a:lnTo>
                    <a:pt x="2846832" y="43688"/>
                  </a:lnTo>
                  <a:lnTo>
                    <a:pt x="3571621" y="43688"/>
                  </a:lnTo>
                  <a:lnTo>
                    <a:pt x="3571621" y="65532"/>
                  </a:lnTo>
                  <a:lnTo>
                    <a:pt x="3614547" y="43688"/>
                  </a:lnTo>
                  <a:lnTo>
                    <a:pt x="3635883" y="3276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60185" y="1003553"/>
              <a:ext cx="413384" cy="1461770"/>
            </a:xfrm>
            <a:custGeom>
              <a:avLst/>
              <a:gdLst/>
              <a:ahLst/>
              <a:cxnLst/>
              <a:rect l="l" t="t" r="r" b="b"/>
              <a:pathLst>
                <a:path w="413385" h="1461770">
                  <a:moveTo>
                    <a:pt x="0" y="1461516"/>
                  </a:moveTo>
                  <a:lnTo>
                    <a:pt x="412889" y="1461516"/>
                  </a:lnTo>
                  <a:lnTo>
                    <a:pt x="412889" y="0"/>
                  </a:lnTo>
                  <a:lnTo>
                    <a:pt x="0" y="0"/>
                  </a:lnTo>
                  <a:lnTo>
                    <a:pt x="0" y="1461516"/>
                  </a:lnTo>
                  <a:close/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319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5" dirty="0"/>
              <a:t>Flows:</a:t>
            </a:r>
            <a:r>
              <a:rPr spc="-190" dirty="0"/>
              <a:t> </a:t>
            </a:r>
            <a:r>
              <a:rPr spc="60" dirty="0"/>
              <a:t>Sampling</a:t>
            </a: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7368" y="1446275"/>
            <a:ext cx="416051" cy="429768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841248" y="1700783"/>
            <a:ext cx="790575" cy="66040"/>
          </a:xfrm>
          <a:custGeom>
            <a:avLst/>
            <a:gdLst/>
            <a:ahLst/>
            <a:cxnLst/>
            <a:rect l="l" t="t" r="r" b="b"/>
            <a:pathLst>
              <a:path w="790575" h="66039">
                <a:moveTo>
                  <a:pt x="790575" y="32766"/>
                </a:moveTo>
                <a:lnTo>
                  <a:pt x="769112" y="21844"/>
                </a:lnTo>
                <a:lnTo>
                  <a:pt x="726186" y="0"/>
                </a:lnTo>
                <a:lnTo>
                  <a:pt x="726186" y="21844"/>
                </a:lnTo>
                <a:lnTo>
                  <a:pt x="0" y="21844"/>
                </a:lnTo>
                <a:lnTo>
                  <a:pt x="0" y="43688"/>
                </a:lnTo>
                <a:lnTo>
                  <a:pt x="726186" y="43688"/>
                </a:lnTo>
                <a:lnTo>
                  <a:pt x="726186" y="65532"/>
                </a:lnTo>
                <a:lnTo>
                  <a:pt x="769112" y="43688"/>
                </a:lnTo>
                <a:lnTo>
                  <a:pt x="790575" y="3276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793360" y="1417777"/>
            <a:ext cx="30480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25" dirty="0">
                <a:latin typeface="Calibri"/>
                <a:cs typeface="Calibri"/>
              </a:rPr>
              <a:t>...</a:t>
            </a:r>
            <a:endParaRPr sz="300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45323" y="1522475"/>
            <a:ext cx="1295400" cy="37947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319271" y="3137916"/>
            <a:ext cx="1668779" cy="458723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097076" y="3137661"/>
            <a:ext cx="2112010" cy="1135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44905" algn="l"/>
              </a:tabLst>
            </a:pPr>
            <a:r>
              <a:rPr sz="2400" dirty="0">
                <a:latin typeface="Trebuchet MS"/>
                <a:cs typeface="Trebuchet MS"/>
              </a:rPr>
              <a:t>Step</a:t>
            </a:r>
            <a:r>
              <a:rPr sz="2400" spc="5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1: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0" dirty="0">
                <a:latin typeface="Trebuchet MS"/>
                <a:cs typeface="Trebuchet MS"/>
              </a:rPr>
              <a:t>sample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rebuchet MS"/>
                <a:cs typeface="Trebuchet MS"/>
              </a:rPr>
              <a:t>Step</a:t>
            </a:r>
            <a:r>
              <a:rPr sz="2400" spc="5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2: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67227" y="3744467"/>
            <a:ext cx="2075688" cy="576072"/>
          </a:xfrm>
          <a:prstGeom prst="rect">
            <a:avLst/>
          </a:prstGeom>
        </p:spPr>
      </p:pic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41295" rIns="0" bIns="0" rtlCol="0">
            <a:spAutoFit/>
          </a:bodyPr>
          <a:lstStyle/>
          <a:p>
            <a:pPr marL="1981835">
              <a:lnSpc>
                <a:spcPts val="940"/>
              </a:lnSpc>
              <a:spcBef>
                <a:spcPts val="15"/>
              </a:spcBef>
            </a:pPr>
            <a:r>
              <a:rPr spc="-50" dirty="0"/>
              <a:t>2</a:t>
            </a:r>
          </a:p>
          <a:p>
            <a:pPr marL="1146810">
              <a:lnSpc>
                <a:spcPts val="940"/>
              </a:lnSpc>
            </a:pPr>
            <a:r>
              <a:rPr sz="800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00" b="1" spc="1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0F1141"/>
                </a:solidFill>
              </a:rPr>
              <a:t>Pilani,</a:t>
            </a:r>
            <a:r>
              <a:rPr sz="800" spc="75" dirty="0">
                <a:solidFill>
                  <a:srgbClr val="0F1141"/>
                </a:solidFill>
              </a:rPr>
              <a:t> </a:t>
            </a:r>
            <a:r>
              <a:rPr sz="800" spc="-10" dirty="0">
                <a:solidFill>
                  <a:srgbClr val="0F1141"/>
                </a:solidFill>
              </a:rPr>
              <a:t>Pilani</a:t>
            </a:r>
            <a:r>
              <a:rPr sz="1350" spc="-15" baseline="-18518" dirty="0"/>
              <a:t>8</a:t>
            </a:r>
            <a:r>
              <a:rPr sz="800" spc="-10" dirty="0">
                <a:solidFill>
                  <a:srgbClr val="0F1141"/>
                </a:solidFill>
              </a:rPr>
              <a:t>Campus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10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11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112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319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1-</a:t>
            </a:r>
            <a:r>
              <a:rPr dirty="0"/>
              <a:t>D</a:t>
            </a:r>
            <a:r>
              <a:rPr spc="-75" dirty="0"/>
              <a:t> </a:t>
            </a:r>
            <a:r>
              <a:rPr dirty="0"/>
              <a:t>Flow</a:t>
            </a:r>
            <a:r>
              <a:rPr spc="-85" dirty="0"/>
              <a:t> </a:t>
            </a:r>
            <a:r>
              <a:rPr dirty="0"/>
              <a:t>Models</a:t>
            </a:r>
            <a:r>
              <a:rPr spc="-50" dirty="0"/>
              <a:t> </a:t>
            </a:r>
            <a:r>
              <a:rPr spc="-10" dirty="0"/>
              <a:t>Summary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77567" y="1277111"/>
            <a:ext cx="5594604" cy="174498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43839" y="3122127"/>
            <a:ext cx="4573270" cy="1581150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2400" b="1" spc="-10" dirty="0">
                <a:latin typeface="Calibri"/>
                <a:cs typeface="Calibri"/>
              </a:rPr>
              <a:t>Training: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400" b="1" spc="-30" dirty="0">
                <a:latin typeface="Calibri"/>
                <a:cs typeface="Calibri"/>
              </a:rPr>
              <a:t>Inference: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evaluate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training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objective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400" b="1" dirty="0">
                <a:latin typeface="Calibri"/>
                <a:cs typeface="Calibri"/>
              </a:rPr>
              <a:t>Sampling: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first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sample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z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from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96559" y="4311497"/>
            <a:ext cx="1751964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"/>
                <a:cs typeface="Calibri"/>
              </a:rPr>
              <a:t>then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compute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56816" y="3290315"/>
            <a:ext cx="5050535" cy="50444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393691" y="4415028"/>
            <a:ext cx="1028700" cy="26517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395971" y="4390644"/>
            <a:ext cx="1290827" cy="347472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802118" y="4868526"/>
            <a:ext cx="1285240" cy="25146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763905">
              <a:lnSpc>
                <a:spcPts val="985"/>
              </a:lnSpc>
              <a:spcBef>
                <a:spcPts val="15"/>
              </a:spcBef>
            </a:pPr>
            <a:r>
              <a:rPr sz="900" spc="-25" dirty="0">
                <a:solidFill>
                  <a:srgbClr val="878787"/>
                </a:solidFill>
                <a:latin typeface="Arial"/>
                <a:cs typeface="Arial"/>
              </a:rPr>
              <a:t>29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865"/>
              </a:lnSpc>
            </a:pPr>
            <a:r>
              <a:rPr sz="800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00" b="1" spc="1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0F1141"/>
                </a:solidFill>
                <a:latin typeface="Arial"/>
                <a:cs typeface="Arial"/>
              </a:rPr>
              <a:t>Pilani,</a:t>
            </a:r>
            <a:r>
              <a:rPr sz="800" spc="6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0F1141"/>
                </a:solidFill>
                <a:latin typeface="Arial"/>
                <a:cs typeface="Arial"/>
              </a:rPr>
              <a:t>Pilani</a:t>
            </a:r>
            <a:r>
              <a:rPr sz="800" spc="8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0F1141"/>
                </a:solidFill>
                <a:latin typeface="Arial"/>
                <a:cs typeface="Arial"/>
              </a:rPr>
              <a:t>Campus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19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20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121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7802118" y="4967122"/>
            <a:ext cx="1285240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00" b="1" spc="1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0F1141"/>
                </a:solidFill>
                <a:latin typeface="Arial"/>
                <a:cs typeface="Arial"/>
              </a:rPr>
              <a:t>Pilani,</a:t>
            </a:r>
            <a:r>
              <a:rPr sz="800" spc="6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0F1141"/>
                </a:solidFill>
                <a:latin typeface="Arial"/>
                <a:cs typeface="Arial"/>
              </a:rPr>
              <a:t>Pilani</a:t>
            </a:r>
            <a:r>
              <a:rPr sz="800" spc="8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0F1141"/>
                </a:solidFill>
                <a:latin typeface="Arial"/>
                <a:cs typeface="Arial"/>
              </a:rPr>
              <a:t>Campus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495800" y="4911852"/>
            <a:ext cx="4648200" cy="38100"/>
            <a:chOff x="4495800" y="4911852"/>
            <a:chExt cx="4648200" cy="38100"/>
          </a:xfrm>
        </p:grpSpPr>
        <p:sp>
          <p:nvSpPr>
            <p:cNvPr id="4" name="object 4"/>
            <p:cNvSpPr/>
            <p:nvPr/>
          </p:nvSpPr>
          <p:spPr>
            <a:xfrm>
              <a:off x="4631436" y="4911852"/>
              <a:ext cx="2329180" cy="38100"/>
            </a:xfrm>
            <a:custGeom>
              <a:avLst/>
              <a:gdLst/>
              <a:ahLst/>
              <a:cxnLst/>
              <a:rect l="l" t="t" r="r" b="b"/>
              <a:pathLst>
                <a:path w="2329179" h="38100">
                  <a:moveTo>
                    <a:pt x="2328671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2328671" y="38100"/>
                  </a:lnTo>
                  <a:lnTo>
                    <a:pt x="2328671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908292" y="4911852"/>
              <a:ext cx="2235835" cy="35560"/>
            </a:xfrm>
            <a:custGeom>
              <a:avLst/>
              <a:gdLst/>
              <a:ahLst/>
              <a:cxnLst/>
              <a:rect l="l" t="t" r="r" b="b"/>
              <a:pathLst>
                <a:path w="2235834" h="35560">
                  <a:moveTo>
                    <a:pt x="2235707" y="0"/>
                  </a:moveTo>
                  <a:lnTo>
                    <a:pt x="0" y="0"/>
                  </a:lnTo>
                  <a:lnTo>
                    <a:pt x="0" y="35052"/>
                  </a:lnTo>
                  <a:lnTo>
                    <a:pt x="2235707" y="35052"/>
                  </a:lnTo>
                  <a:lnTo>
                    <a:pt x="2235707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95800" y="4914900"/>
              <a:ext cx="2329180" cy="35560"/>
            </a:xfrm>
            <a:custGeom>
              <a:avLst/>
              <a:gdLst/>
              <a:ahLst/>
              <a:cxnLst/>
              <a:rect l="l" t="t" r="r" b="b"/>
              <a:pathLst>
                <a:path w="2329179" h="35560">
                  <a:moveTo>
                    <a:pt x="2328672" y="0"/>
                  </a:moveTo>
                  <a:lnTo>
                    <a:pt x="0" y="0"/>
                  </a:lnTo>
                  <a:lnTo>
                    <a:pt x="0" y="35052"/>
                  </a:lnTo>
                  <a:lnTo>
                    <a:pt x="2328672" y="35052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15327" y="4914900"/>
              <a:ext cx="2329180" cy="35560"/>
            </a:xfrm>
            <a:custGeom>
              <a:avLst/>
              <a:gdLst/>
              <a:ahLst/>
              <a:cxnLst/>
              <a:rect l="l" t="t" r="r" b="b"/>
              <a:pathLst>
                <a:path w="2329179" h="35560">
                  <a:moveTo>
                    <a:pt x="2328672" y="0"/>
                  </a:moveTo>
                  <a:lnTo>
                    <a:pt x="0" y="0"/>
                  </a:lnTo>
                  <a:lnTo>
                    <a:pt x="0" y="35052"/>
                  </a:lnTo>
                  <a:lnTo>
                    <a:pt x="2328672" y="35052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29400" y="0"/>
            <a:ext cx="2194559" cy="519684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0" y="972311"/>
            <a:ext cx="7010400" cy="33655"/>
            <a:chOff x="0" y="972311"/>
            <a:chExt cx="7010400" cy="33655"/>
          </a:xfrm>
        </p:grpSpPr>
        <p:sp>
          <p:nvSpPr>
            <p:cNvPr id="10" name="object 10"/>
            <p:cNvSpPr/>
            <p:nvPr/>
          </p:nvSpPr>
          <p:spPr>
            <a:xfrm>
              <a:off x="2362200" y="972311"/>
              <a:ext cx="2329180" cy="33655"/>
            </a:xfrm>
            <a:custGeom>
              <a:avLst/>
              <a:gdLst/>
              <a:ahLst/>
              <a:cxnLst/>
              <a:rect l="l" t="t" r="r" b="b"/>
              <a:pathLst>
                <a:path w="2329179" h="33655">
                  <a:moveTo>
                    <a:pt x="2328672" y="0"/>
                  </a:moveTo>
                  <a:lnTo>
                    <a:pt x="0" y="0"/>
                  </a:lnTo>
                  <a:lnTo>
                    <a:pt x="0" y="33527"/>
                  </a:lnTo>
                  <a:lnTo>
                    <a:pt x="2328672" y="33527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972311"/>
              <a:ext cx="2362200" cy="33655"/>
            </a:xfrm>
            <a:custGeom>
              <a:avLst/>
              <a:gdLst/>
              <a:ahLst/>
              <a:cxnLst/>
              <a:rect l="l" t="t" r="r" b="b"/>
              <a:pathLst>
                <a:path w="2362200" h="33655">
                  <a:moveTo>
                    <a:pt x="2362200" y="0"/>
                  </a:moveTo>
                  <a:lnTo>
                    <a:pt x="0" y="0"/>
                  </a:lnTo>
                  <a:lnTo>
                    <a:pt x="0" y="33527"/>
                  </a:lnTo>
                  <a:lnTo>
                    <a:pt x="2362200" y="33527"/>
                  </a:lnTo>
                  <a:lnTo>
                    <a:pt x="23622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681728" y="972311"/>
              <a:ext cx="2329180" cy="33655"/>
            </a:xfrm>
            <a:custGeom>
              <a:avLst/>
              <a:gdLst/>
              <a:ahLst/>
              <a:cxnLst/>
              <a:rect l="l" t="t" r="r" b="b"/>
              <a:pathLst>
                <a:path w="2329179" h="33655">
                  <a:moveTo>
                    <a:pt x="2328672" y="0"/>
                  </a:moveTo>
                  <a:lnTo>
                    <a:pt x="0" y="0"/>
                  </a:lnTo>
                  <a:lnTo>
                    <a:pt x="0" y="33527"/>
                  </a:lnTo>
                  <a:lnTo>
                    <a:pt x="2328672" y="33527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327152" y="108584"/>
            <a:ext cx="4466590" cy="77914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 marR="5080">
              <a:lnSpc>
                <a:spcPts val="2810"/>
              </a:lnSpc>
              <a:spcBef>
                <a:spcPts val="455"/>
              </a:spcBef>
            </a:pPr>
            <a:r>
              <a:rPr sz="2600" dirty="0"/>
              <a:t>Aside:</a:t>
            </a:r>
            <a:r>
              <a:rPr sz="2600" spc="-95" dirty="0"/>
              <a:t> </a:t>
            </a:r>
            <a:r>
              <a:rPr sz="2600" dirty="0"/>
              <a:t>special</a:t>
            </a:r>
            <a:r>
              <a:rPr sz="2600" spc="-80" dirty="0"/>
              <a:t> </a:t>
            </a:r>
            <a:r>
              <a:rPr sz="2600" dirty="0"/>
              <a:t>case</a:t>
            </a:r>
            <a:r>
              <a:rPr sz="2600" spc="-65" dirty="0"/>
              <a:t> </a:t>
            </a:r>
            <a:r>
              <a:rPr sz="2600" spc="-10" dirty="0"/>
              <a:t>of</a:t>
            </a:r>
            <a:r>
              <a:rPr sz="2600" spc="-370" dirty="0"/>
              <a:t> </a:t>
            </a:r>
            <a:r>
              <a:rPr sz="2600" dirty="0"/>
              <a:t>a</a:t>
            </a:r>
            <a:r>
              <a:rPr sz="2600" spc="-50" dirty="0"/>
              <a:t> </a:t>
            </a:r>
            <a:r>
              <a:rPr sz="2600" spc="-25" dirty="0"/>
              <a:t>CDF </a:t>
            </a:r>
            <a:r>
              <a:rPr sz="2600" dirty="0"/>
              <a:t>and</a:t>
            </a:r>
            <a:r>
              <a:rPr sz="2600" spc="-25" dirty="0"/>
              <a:t> </a:t>
            </a:r>
            <a:r>
              <a:rPr sz="2600" dirty="0"/>
              <a:t>p(z)</a:t>
            </a:r>
            <a:r>
              <a:rPr sz="2600" spc="-35" dirty="0"/>
              <a:t> </a:t>
            </a:r>
            <a:r>
              <a:rPr sz="2600" dirty="0"/>
              <a:t>=</a:t>
            </a:r>
            <a:r>
              <a:rPr sz="2600" spc="-35" dirty="0"/>
              <a:t> </a:t>
            </a:r>
            <a:r>
              <a:rPr sz="2600" spc="-10" dirty="0"/>
              <a:t>U[0,1]</a:t>
            </a:r>
            <a:endParaRPr sz="2600"/>
          </a:p>
        </p:txBody>
      </p:sp>
      <p:sp>
        <p:nvSpPr>
          <p:cNvPr id="16" name="object 16"/>
          <p:cNvSpPr txBox="1"/>
          <p:nvPr/>
        </p:nvSpPr>
        <p:spPr>
          <a:xfrm>
            <a:off x="8553450" y="4857699"/>
            <a:ext cx="1473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878787"/>
                </a:solidFill>
                <a:latin typeface="Arial"/>
                <a:cs typeface="Arial"/>
              </a:rPr>
              <a:t>30</a:t>
            </a:r>
            <a:endParaRPr sz="9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08684" y="1714245"/>
            <a:ext cx="68243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e.g.,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Gaussian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0" dirty="0">
                <a:latin typeface="Calibri"/>
                <a:cs typeface="Calibri"/>
              </a:rPr>
              <a:t>CDF,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mixture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0" dirty="0">
                <a:latin typeface="Calibri"/>
                <a:cs typeface="Calibri"/>
              </a:rPr>
              <a:t>CDF,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logit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5" dirty="0">
                <a:latin typeface="Calibri"/>
                <a:cs typeface="Calibri"/>
              </a:rPr>
              <a:t>CDF,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multiple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CDFs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18" name="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82896" y="158495"/>
            <a:ext cx="1136903" cy="33375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16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17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118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grpSp>
        <p:nvGrpSpPr>
          <p:cNvPr id="2" name="object 2"/>
          <p:cNvGrpSpPr/>
          <p:nvPr/>
        </p:nvGrpSpPr>
        <p:grpSpPr>
          <a:xfrm>
            <a:off x="0" y="972311"/>
            <a:ext cx="8897620" cy="3142615"/>
            <a:chOff x="0" y="972311"/>
            <a:chExt cx="8897620" cy="3142615"/>
          </a:xfrm>
        </p:grpSpPr>
        <p:sp>
          <p:nvSpPr>
            <p:cNvPr id="3" name="object 3"/>
            <p:cNvSpPr/>
            <p:nvPr/>
          </p:nvSpPr>
          <p:spPr>
            <a:xfrm>
              <a:off x="6314566" y="3227069"/>
              <a:ext cx="21590" cy="638810"/>
            </a:xfrm>
            <a:custGeom>
              <a:avLst/>
              <a:gdLst/>
              <a:ahLst/>
              <a:cxnLst/>
              <a:rect l="l" t="t" r="r" b="b"/>
              <a:pathLst>
                <a:path w="21589" h="638810">
                  <a:moveTo>
                    <a:pt x="0" y="638810"/>
                  </a:moveTo>
                  <a:lnTo>
                    <a:pt x="21590" y="638810"/>
                  </a:lnTo>
                  <a:lnTo>
                    <a:pt x="21590" y="0"/>
                  </a:lnTo>
                  <a:lnTo>
                    <a:pt x="0" y="0"/>
                  </a:lnTo>
                  <a:lnTo>
                    <a:pt x="0" y="63881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71259" y="3119627"/>
              <a:ext cx="108203" cy="10744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10328" y="1050035"/>
              <a:ext cx="3986783" cy="306476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008114" y="2573273"/>
              <a:ext cx="0" cy="1295400"/>
            </a:xfrm>
            <a:custGeom>
              <a:avLst/>
              <a:gdLst/>
              <a:ahLst/>
              <a:cxnLst/>
              <a:rect l="l" t="t" r="r" b="b"/>
              <a:pathLst>
                <a:path h="1295400">
                  <a:moveTo>
                    <a:pt x="0" y="0"/>
                  </a:moveTo>
                  <a:lnTo>
                    <a:pt x="0" y="1295019"/>
                  </a:lnTo>
                </a:path>
              </a:pathLst>
            </a:custGeom>
            <a:ln w="28956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82880" marR="5080" indent="-170815">
              <a:lnSpc>
                <a:spcPts val="2810"/>
              </a:lnSpc>
              <a:spcBef>
                <a:spcPts val="455"/>
              </a:spcBef>
            </a:pPr>
            <a:r>
              <a:rPr sz="2600" spc="-10" dirty="0"/>
              <a:t>Refresher:</a:t>
            </a:r>
            <a:r>
              <a:rPr sz="2600" spc="-70" dirty="0"/>
              <a:t> </a:t>
            </a:r>
            <a:r>
              <a:rPr sz="2600" spc="55" dirty="0"/>
              <a:t>Cumulative</a:t>
            </a:r>
            <a:r>
              <a:rPr sz="2600" spc="-15" dirty="0"/>
              <a:t> </a:t>
            </a:r>
            <a:r>
              <a:rPr sz="2600" spc="-10" dirty="0"/>
              <a:t>Density </a:t>
            </a:r>
            <a:r>
              <a:rPr sz="2600" dirty="0"/>
              <a:t>Function</a:t>
            </a:r>
            <a:r>
              <a:rPr sz="2600" spc="295" dirty="0"/>
              <a:t> </a:t>
            </a:r>
            <a:r>
              <a:rPr sz="2600" spc="-10" dirty="0"/>
              <a:t>(CDF)</a:t>
            </a:r>
            <a:endParaRPr sz="2600"/>
          </a:p>
        </p:txBody>
      </p:sp>
      <p:grpSp>
        <p:nvGrpSpPr>
          <p:cNvPr id="8" name="object 8"/>
          <p:cNvGrpSpPr/>
          <p:nvPr/>
        </p:nvGrpSpPr>
        <p:grpSpPr>
          <a:xfrm>
            <a:off x="362711" y="1080516"/>
            <a:ext cx="3987165" cy="2988945"/>
            <a:chOff x="362711" y="1080516"/>
            <a:chExt cx="3987165" cy="2988945"/>
          </a:xfrm>
        </p:grpSpPr>
        <p:sp>
          <p:nvSpPr>
            <p:cNvPr id="9" name="object 9"/>
            <p:cNvSpPr/>
            <p:nvPr/>
          </p:nvSpPr>
          <p:spPr>
            <a:xfrm>
              <a:off x="821435" y="2520696"/>
              <a:ext cx="970915" cy="1348740"/>
            </a:xfrm>
            <a:custGeom>
              <a:avLst/>
              <a:gdLst/>
              <a:ahLst/>
              <a:cxnLst/>
              <a:rect l="l" t="t" r="r" b="b"/>
              <a:pathLst>
                <a:path w="970914" h="1348739">
                  <a:moveTo>
                    <a:pt x="970533" y="0"/>
                  </a:moveTo>
                  <a:lnTo>
                    <a:pt x="936751" y="25400"/>
                  </a:lnTo>
                  <a:lnTo>
                    <a:pt x="897255" y="39497"/>
                  </a:lnTo>
                  <a:lnTo>
                    <a:pt x="863345" y="76200"/>
                  </a:lnTo>
                  <a:lnTo>
                    <a:pt x="818261" y="141097"/>
                  </a:lnTo>
                  <a:lnTo>
                    <a:pt x="775842" y="234187"/>
                  </a:lnTo>
                  <a:lnTo>
                    <a:pt x="705357" y="361061"/>
                  </a:lnTo>
                  <a:lnTo>
                    <a:pt x="598169" y="626364"/>
                  </a:lnTo>
                  <a:lnTo>
                    <a:pt x="524763" y="770128"/>
                  </a:lnTo>
                  <a:lnTo>
                    <a:pt x="448563" y="911225"/>
                  </a:lnTo>
                  <a:lnTo>
                    <a:pt x="352666" y="1029716"/>
                  </a:lnTo>
                  <a:lnTo>
                    <a:pt x="284962" y="1103122"/>
                  </a:lnTo>
                  <a:lnTo>
                    <a:pt x="200317" y="1153922"/>
                  </a:lnTo>
                  <a:lnTo>
                    <a:pt x="141071" y="1176401"/>
                  </a:lnTo>
                  <a:lnTo>
                    <a:pt x="81826" y="1196213"/>
                  </a:lnTo>
                  <a:lnTo>
                    <a:pt x="0" y="1207516"/>
                  </a:lnTo>
                  <a:lnTo>
                    <a:pt x="0" y="1337310"/>
                  </a:lnTo>
                  <a:lnTo>
                    <a:pt x="970533" y="1348486"/>
                  </a:lnTo>
                  <a:lnTo>
                    <a:pt x="970533" y="0"/>
                  </a:lnTo>
                  <a:close/>
                </a:path>
              </a:pathLst>
            </a:custGeom>
            <a:solidFill>
              <a:srgbClr val="00AF4F">
                <a:alpha val="49803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21435" y="2520696"/>
              <a:ext cx="970915" cy="1348740"/>
            </a:xfrm>
            <a:custGeom>
              <a:avLst/>
              <a:gdLst/>
              <a:ahLst/>
              <a:cxnLst/>
              <a:rect l="l" t="t" r="r" b="b"/>
              <a:pathLst>
                <a:path w="970914" h="1348739">
                  <a:moveTo>
                    <a:pt x="0" y="1337310"/>
                  </a:moveTo>
                  <a:lnTo>
                    <a:pt x="0" y="1207516"/>
                  </a:lnTo>
                  <a:lnTo>
                    <a:pt x="81826" y="1196213"/>
                  </a:lnTo>
                  <a:lnTo>
                    <a:pt x="141071" y="1176401"/>
                  </a:lnTo>
                  <a:lnTo>
                    <a:pt x="200317" y="1153922"/>
                  </a:lnTo>
                  <a:lnTo>
                    <a:pt x="284962" y="1103122"/>
                  </a:lnTo>
                  <a:lnTo>
                    <a:pt x="352678" y="1029716"/>
                  </a:lnTo>
                  <a:lnTo>
                    <a:pt x="448563" y="911225"/>
                  </a:lnTo>
                  <a:lnTo>
                    <a:pt x="524763" y="770255"/>
                  </a:lnTo>
                  <a:lnTo>
                    <a:pt x="598169" y="626364"/>
                  </a:lnTo>
                  <a:lnTo>
                    <a:pt x="657351" y="479552"/>
                  </a:lnTo>
                  <a:lnTo>
                    <a:pt x="705357" y="361061"/>
                  </a:lnTo>
                  <a:lnTo>
                    <a:pt x="775842" y="234187"/>
                  </a:lnTo>
                  <a:lnTo>
                    <a:pt x="818261" y="141097"/>
                  </a:lnTo>
                  <a:lnTo>
                    <a:pt x="863345" y="76200"/>
                  </a:lnTo>
                  <a:lnTo>
                    <a:pt x="897255" y="39497"/>
                  </a:lnTo>
                  <a:lnTo>
                    <a:pt x="936751" y="25400"/>
                  </a:lnTo>
                  <a:lnTo>
                    <a:pt x="970533" y="0"/>
                  </a:lnTo>
                  <a:lnTo>
                    <a:pt x="970533" y="1348613"/>
                  </a:lnTo>
                  <a:lnTo>
                    <a:pt x="0" y="1337310"/>
                  </a:lnTo>
                  <a:close/>
                </a:path>
              </a:pathLst>
            </a:custGeom>
            <a:ln w="12192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792986" y="2518410"/>
              <a:ext cx="0" cy="1350010"/>
            </a:xfrm>
            <a:custGeom>
              <a:avLst/>
              <a:gdLst/>
              <a:ahLst/>
              <a:cxnLst/>
              <a:rect l="l" t="t" r="r" b="b"/>
              <a:pathLst>
                <a:path h="1350010">
                  <a:moveTo>
                    <a:pt x="0" y="1349755"/>
                  </a:moveTo>
                  <a:lnTo>
                    <a:pt x="0" y="0"/>
                  </a:lnTo>
                </a:path>
              </a:pathLst>
            </a:custGeom>
            <a:ln w="28956">
              <a:solidFill>
                <a:srgbClr val="00AF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2711" y="1080516"/>
              <a:ext cx="3986784" cy="2988563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08476" y="4456176"/>
            <a:ext cx="539295" cy="24384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897879" y="4293108"/>
            <a:ext cx="2139696" cy="569976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49525" rIns="0" bIns="0" rtlCol="0">
            <a:spAutoFit/>
          </a:bodyPr>
          <a:lstStyle/>
          <a:p>
            <a:pPr marL="1134110" marR="342265" algn="r">
              <a:lnSpc>
                <a:spcPts val="905"/>
              </a:lnSpc>
              <a:spcBef>
                <a:spcPts val="15"/>
              </a:spcBef>
            </a:pPr>
            <a:r>
              <a:rPr spc="-50" dirty="0"/>
              <a:t>3</a:t>
            </a:r>
          </a:p>
          <a:p>
            <a:pPr marL="1146810">
              <a:lnSpc>
                <a:spcPts val="905"/>
              </a:lnSpc>
            </a:pPr>
            <a:r>
              <a:rPr sz="800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00" b="1" spc="1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0F1141"/>
                </a:solidFill>
              </a:rPr>
              <a:t>Pilani,</a:t>
            </a:r>
            <a:r>
              <a:rPr sz="800" spc="75" dirty="0">
                <a:solidFill>
                  <a:srgbClr val="0F1141"/>
                </a:solidFill>
              </a:rPr>
              <a:t> </a:t>
            </a:r>
            <a:r>
              <a:rPr sz="800" dirty="0">
                <a:solidFill>
                  <a:srgbClr val="0F1141"/>
                </a:solidFill>
              </a:rPr>
              <a:t>Pilani</a:t>
            </a:r>
            <a:r>
              <a:rPr sz="800" spc="-30" dirty="0">
                <a:solidFill>
                  <a:srgbClr val="0F1141"/>
                </a:solidFill>
              </a:rPr>
              <a:t> </a:t>
            </a:r>
            <a:r>
              <a:rPr sz="1350" spc="-60" baseline="-21604" dirty="0"/>
              <a:t>1</a:t>
            </a:r>
            <a:r>
              <a:rPr sz="800" spc="-40" dirty="0">
                <a:solidFill>
                  <a:srgbClr val="0F1141"/>
                </a:solidFill>
              </a:rPr>
              <a:t>Campus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11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5751" y="315595"/>
            <a:ext cx="424370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70" dirty="0"/>
              <a:t>Sampling</a:t>
            </a:r>
            <a:r>
              <a:rPr spc="75" dirty="0"/>
              <a:t> </a:t>
            </a:r>
            <a:r>
              <a:rPr dirty="0"/>
              <a:t>via</a:t>
            </a:r>
            <a:r>
              <a:rPr spc="-70" dirty="0"/>
              <a:t> </a:t>
            </a:r>
            <a:r>
              <a:rPr dirty="0"/>
              <a:t>inverse</a:t>
            </a:r>
            <a:r>
              <a:rPr spc="-75" dirty="0"/>
              <a:t> </a:t>
            </a:r>
            <a:r>
              <a:rPr spc="-135" dirty="0"/>
              <a:t>CDF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2262" y="930605"/>
            <a:ext cx="3542029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rebuchet MS"/>
                <a:cs typeface="Trebuchet MS"/>
              </a:rPr>
              <a:t>Sampling</a:t>
            </a:r>
            <a:r>
              <a:rPr sz="2400" spc="-12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from</a:t>
            </a:r>
            <a:r>
              <a:rPr sz="2400" spc="-11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-13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model: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2262" y="2816098"/>
            <a:ext cx="3322954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spc="90" dirty="0">
                <a:latin typeface="Trebuchet MS"/>
                <a:cs typeface="Trebuchet MS"/>
              </a:rPr>
              <a:t>CDF</a:t>
            </a:r>
            <a:r>
              <a:rPr sz="2400" spc="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is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an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spc="-85" dirty="0">
                <a:latin typeface="Trebuchet MS"/>
                <a:cs typeface="Trebuchet MS"/>
              </a:rPr>
              <a:t>invertible, differentiable</a:t>
            </a:r>
            <a:r>
              <a:rPr sz="2400" spc="-9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map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from </a:t>
            </a:r>
            <a:r>
              <a:rPr sz="2400" spc="-75" dirty="0">
                <a:latin typeface="Trebuchet MS"/>
                <a:cs typeface="Trebuchet MS"/>
              </a:rPr>
              <a:t>data</a:t>
            </a:r>
            <a:r>
              <a:rPr sz="2400" spc="-1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to</a:t>
            </a:r>
            <a:r>
              <a:rPr sz="2400" spc="-140" dirty="0">
                <a:latin typeface="Trebuchet MS"/>
                <a:cs typeface="Trebuchet MS"/>
              </a:rPr>
              <a:t> </a:t>
            </a:r>
            <a:r>
              <a:rPr sz="2400" spc="-110" dirty="0">
                <a:latin typeface="Trebuchet MS"/>
                <a:cs typeface="Trebuchet MS"/>
              </a:rPr>
              <a:t>[0,</a:t>
            </a:r>
            <a:r>
              <a:rPr sz="2400" spc="-14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1]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54024" y="1039367"/>
            <a:ext cx="7469505" cy="2684145"/>
            <a:chOff x="954024" y="1039367"/>
            <a:chExt cx="7469505" cy="268414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35652" y="1039367"/>
              <a:ext cx="3587496" cy="268376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4024" y="1687067"/>
              <a:ext cx="2543555" cy="851916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13476" y="3779675"/>
            <a:ext cx="1920047" cy="505812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49525" rIns="0" bIns="0" rtlCol="0">
            <a:spAutoFit/>
          </a:bodyPr>
          <a:lstStyle/>
          <a:p>
            <a:pPr marL="1134110" marR="342265" algn="r">
              <a:lnSpc>
                <a:spcPts val="905"/>
              </a:lnSpc>
              <a:spcBef>
                <a:spcPts val="15"/>
              </a:spcBef>
            </a:pPr>
            <a:r>
              <a:rPr spc="-50" dirty="0"/>
              <a:t>3</a:t>
            </a:r>
          </a:p>
          <a:p>
            <a:pPr marL="1146810">
              <a:lnSpc>
                <a:spcPts val="905"/>
              </a:lnSpc>
            </a:pPr>
            <a:r>
              <a:rPr sz="800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00" b="1" spc="1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0F1141"/>
                </a:solidFill>
              </a:rPr>
              <a:t>Pilani,</a:t>
            </a:r>
            <a:r>
              <a:rPr sz="800" spc="75" dirty="0">
                <a:solidFill>
                  <a:srgbClr val="0F1141"/>
                </a:solidFill>
              </a:rPr>
              <a:t> </a:t>
            </a:r>
            <a:r>
              <a:rPr sz="800" dirty="0">
                <a:solidFill>
                  <a:srgbClr val="0F1141"/>
                </a:solidFill>
              </a:rPr>
              <a:t>Pilani</a:t>
            </a:r>
            <a:r>
              <a:rPr sz="800" spc="-30" dirty="0">
                <a:solidFill>
                  <a:srgbClr val="0F1141"/>
                </a:solidFill>
              </a:rPr>
              <a:t> </a:t>
            </a:r>
            <a:r>
              <a:rPr sz="1350" spc="-60" baseline="-21604" dirty="0"/>
              <a:t>2</a:t>
            </a:r>
            <a:r>
              <a:rPr sz="800" spc="-40" dirty="0">
                <a:solidFill>
                  <a:srgbClr val="0F1141"/>
                </a:solidFill>
              </a:rPr>
              <a:t>Campus</a:t>
            </a:r>
            <a:endParaRPr sz="800">
              <a:latin typeface="Arial"/>
              <a:cs typeface="Arial"/>
            </a:endParaRPr>
          </a:p>
        </p:txBody>
      </p:sp>
      <p:pic>
        <p:nvPicPr>
          <p:cNvPr id="112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pic>
        <p:nvPicPr>
          <p:cNvPr id="110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17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18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119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grpSp>
        <p:nvGrpSpPr>
          <p:cNvPr id="2" name="object 2"/>
          <p:cNvGrpSpPr/>
          <p:nvPr/>
        </p:nvGrpSpPr>
        <p:grpSpPr>
          <a:xfrm>
            <a:off x="4495800" y="4911852"/>
            <a:ext cx="4648200" cy="38100"/>
            <a:chOff x="4495800" y="4911852"/>
            <a:chExt cx="4648200" cy="38100"/>
          </a:xfrm>
        </p:grpSpPr>
        <p:sp>
          <p:nvSpPr>
            <p:cNvPr id="3" name="object 3"/>
            <p:cNvSpPr/>
            <p:nvPr/>
          </p:nvSpPr>
          <p:spPr>
            <a:xfrm>
              <a:off x="4495800" y="4914900"/>
              <a:ext cx="2329180" cy="35560"/>
            </a:xfrm>
            <a:custGeom>
              <a:avLst/>
              <a:gdLst/>
              <a:ahLst/>
              <a:cxnLst/>
              <a:rect l="l" t="t" r="r" b="b"/>
              <a:pathLst>
                <a:path w="2329179" h="35560">
                  <a:moveTo>
                    <a:pt x="2328672" y="0"/>
                  </a:moveTo>
                  <a:lnTo>
                    <a:pt x="0" y="0"/>
                  </a:lnTo>
                  <a:lnTo>
                    <a:pt x="0" y="35052"/>
                  </a:lnTo>
                  <a:lnTo>
                    <a:pt x="2328672" y="35052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815327" y="4914900"/>
              <a:ext cx="2329180" cy="35560"/>
            </a:xfrm>
            <a:custGeom>
              <a:avLst/>
              <a:gdLst/>
              <a:ahLst/>
              <a:cxnLst/>
              <a:rect l="l" t="t" r="r" b="b"/>
              <a:pathLst>
                <a:path w="2329179" h="35560">
                  <a:moveTo>
                    <a:pt x="2328672" y="0"/>
                  </a:moveTo>
                  <a:lnTo>
                    <a:pt x="0" y="0"/>
                  </a:lnTo>
                  <a:lnTo>
                    <a:pt x="0" y="35052"/>
                  </a:lnTo>
                  <a:lnTo>
                    <a:pt x="2328672" y="35052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29400" y="0"/>
            <a:ext cx="2194559" cy="519684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972311"/>
            <a:ext cx="7010400" cy="33655"/>
            <a:chOff x="0" y="972311"/>
            <a:chExt cx="7010400" cy="33655"/>
          </a:xfrm>
        </p:grpSpPr>
        <p:sp>
          <p:nvSpPr>
            <p:cNvPr id="7" name="object 7"/>
            <p:cNvSpPr/>
            <p:nvPr/>
          </p:nvSpPr>
          <p:spPr>
            <a:xfrm>
              <a:off x="2362200" y="972311"/>
              <a:ext cx="2329180" cy="33655"/>
            </a:xfrm>
            <a:custGeom>
              <a:avLst/>
              <a:gdLst/>
              <a:ahLst/>
              <a:cxnLst/>
              <a:rect l="l" t="t" r="r" b="b"/>
              <a:pathLst>
                <a:path w="2329179" h="33655">
                  <a:moveTo>
                    <a:pt x="2328672" y="0"/>
                  </a:moveTo>
                  <a:lnTo>
                    <a:pt x="0" y="0"/>
                  </a:lnTo>
                  <a:lnTo>
                    <a:pt x="0" y="33527"/>
                  </a:lnTo>
                  <a:lnTo>
                    <a:pt x="2328672" y="33527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972311"/>
              <a:ext cx="2362200" cy="33655"/>
            </a:xfrm>
            <a:custGeom>
              <a:avLst/>
              <a:gdLst/>
              <a:ahLst/>
              <a:cxnLst/>
              <a:rect l="l" t="t" r="r" b="b"/>
              <a:pathLst>
                <a:path w="2362200" h="33655">
                  <a:moveTo>
                    <a:pt x="2362200" y="0"/>
                  </a:moveTo>
                  <a:lnTo>
                    <a:pt x="0" y="0"/>
                  </a:lnTo>
                  <a:lnTo>
                    <a:pt x="0" y="33527"/>
                  </a:lnTo>
                  <a:lnTo>
                    <a:pt x="2362200" y="33527"/>
                  </a:lnTo>
                  <a:lnTo>
                    <a:pt x="23622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681728" y="972311"/>
              <a:ext cx="2329180" cy="33655"/>
            </a:xfrm>
            <a:custGeom>
              <a:avLst/>
              <a:gdLst/>
              <a:ahLst/>
              <a:cxnLst/>
              <a:rect l="l" t="t" r="r" b="b"/>
              <a:pathLst>
                <a:path w="2329179" h="33655">
                  <a:moveTo>
                    <a:pt x="2328672" y="0"/>
                  </a:moveTo>
                  <a:lnTo>
                    <a:pt x="0" y="0"/>
                  </a:lnTo>
                  <a:lnTo>
                    <a:pt x="0" y="33527"/>
                  </a:lnTo>
                  <a:lnTo>
                    <a:pt x="2328672" y="33527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80491" y="1543558"/>
            <a:ext cx="8038465" cy="69913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70"/>
              </a:spcBef>
            </a:pPr>
            <a:r>
              <a:rPr sz="2200" dirty="0">
                <a:latin typeface="Calibri"/>
                <a:cs typeface="Calibri"/>
              </a:rPr>
              <a:t>If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flow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defined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35" dirty="0">
                <a:latin typeface="Calibri"/>
                <a:cs typeface="Calibri"/>
              </a:rPr>
              <a:t>parameterized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5" dirty="0">
                <a:latin typeface="Calibri"/>
                <a:cs typeface="Calibri"/>
              </a:rPr>
              <a:t>CDF,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recover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original objective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fitting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corresponding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spc="-40" dirty="0">
                <a:latin typeface="Calibri"/>
                <a:cs typeface="Calibri"/>
              </a:rPr>
              <a:t>parameterized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PDF.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73296" y="210311"/>
            <a:ext cx="1136903" cy="333756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63396" y="2534411"/>
            <a:ext cx="6461759" cy="647700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631951" y="136906"/>
            <a:ext cx="3518535" cy="77914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82880" marR="5080" indent="-170815">
              <a:lnSpc>
                <a:spcPts val="2810"/>
              </a:lnSpc>
              <a:spcBef>
                <a:spcPts val="455"/>
              </a:spcBef>
            </a:pPr>
            <a:r>
              <a:rPr sz="2600" b="1" dirty="0">
                <a:solidFill>
                  <a:srgbClr val="333399"/>
                </a:solidFill>
                <a:latin typeface="Calibri"/>
                <a:cs typeface="Calibri"/>
              </a:rPr>
              <a:t>CDF</a:t>
            </a:r>
            <a:r>
              <a:rPr sz="2600" b="1" spc="-9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333399"/>
                </a:solidFill>
                <a:latin typeface="Calibri"/>
                <a:cs typeface="Calibri"/>
              </a:rPr>
              <a:t>Flows:</a:t>
            </a:r>
            <a:r>
              <a:rPr sz="2600" b="1" spc="-9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333399"/>
                </a:solidFill>
                <a:latin typeface="Calibri"/>
                <a:cs typeface="Calibri"/>
              </a:rPr>
              <a:t>special</a:t>
            </a:r>
            <a:r>
              <a:rPr sz="2600" b="1" spc="-7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333399"/>
                </a:solidFill>
                <a:latin typeface="Calibri"/>
                <a:cs typeface="Calibri"/>
              </a:rPr>
              <a:t>case</a:t>
            </a:r>
            <a:r>
              <a:rPr sz="2600" b="1" spc="-7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600" b="1" spc="-25" dirty="0">
                <a:solidFill>
                  <a:srgbClr val="333399"/>
                </a:solidFill>
                <a:latin typeface="Calibri"/>
                <a:cs typeface="Calibri"/>
              </a:rPr>
              <a:t>of </a:t>
            </a:r>
            <a:r>
              <a:rPr sz="2600" b="1" dirty="0">
                <a:solidFill>
                  <a:srgbClr val="333399"/>
                </a:solidFill>
                <a:latin typeface="Calibri"/>
                <a:cs typeface="Calibri"/>
              </a:rPr>
              <a:t>and</a:t>
            </a:r>
            <a:r>
              <a:rPr sz="2600" b="1" spc="-7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333399"/>
                </a:solidFill>
                <a:latin typeface="Calibri"/>
                <a:cs typeface="Calibri"/>
              </a:rPr>
              <a:t>p(z)</a:t>
            </a:r>
            <a:r>
              <a:rPr sz="2600" b="1" spc="-80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333399"/>
                </a:solidFill>
                <a:latin typeface="Calibri"/>
                <a:cs typeface="Calibri"/>
              </a:rPr>
              <a:t>=</a:t>
            </a:r>
            <a:r>
              <a:rPr sz="2600" b="1" spc="-10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333399"/>
                </a:solidFill>
                <a:latin typeface="Calibri"/>
                <a:cs typeface="Calibri"/>
              </a:rPr>
              <a:t>U[0,1]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42210" rIns="0" bIns="0" rtlCol="0">
            <a:spAutoFit/>
          </a:bodyPr>
          <a:lstStyle/>
          <a:p>
            <a:pPr marL="1898014">
              <a:lnSpc>
                <a:spcPts val="985"/>
              </a:lnSpc>
              <a:spcBef>
                <a:spcPts val="15"/>
              </a:spcBef>
            </a:pPr>
            <a:r>
              <a:rPr spc="-25" dirty="0"/>
              <a:t>33</a:t>
            </a:r>
          </a:p>
          <a:p>
            <a:pPr marL="1146810">
              <a:lnSpc>
                <a:spcPts val="865"/>
              </a:lnSpc>
            </a:pPr>
            <a:r>
              <a:rPr sz="800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00" b="1" spc="1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0F1141"/>
                </a:solidFill>
              </a:rPr>
              <a:t>Pilani,</a:t>
            </a:r>
            <a:r>
              <a:rPr sz="800" spc="65" dirty="0">
                <a:solidFill>
                  <a:srgbClr val="0F1141"/>
                </a:solidFill>
              </a:rPr>
              <a:t> </a:t>
            </a:r>
            <a:r>
              <a:rPr sz="800" dirty="0">
                <a:solidFill>
                  <a:srgbClr val="0F1141"/>
                </a:solidFill>
              </a:rPr>
              <a:t>Pilani</a:t>
            </a:r>
            <a:r>
              <a:rPr sz="800" spc="80" dirty="0">
                <a:solidFill>
                  <a:srgbClr val="0F1141"/>
                </a:solidFill>
              </a:rPr>
              <a:t> </a:t>
            </a:r>
            <a:r>
              <a:rPr sz="800" spc="-10" dirty="0">
                <a:solidFill>
                  <a:srgbClr val="0F1141"/>
                </a:solidFill>
              </a:rPr>
              <a:t>Campus</a:t>
            </a:r>
            <a:endParaRPr sz="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480684" y="136906"/>
            <a:ext cx="79375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b="1" dirty="0">
                <a:solidFill>
                  <a:srgbClr val="333399"/>
                </a:solidFill>
                <a:latin typeface="Calibri"/>
                <a:cs typeface="Calibri"/>
              </a:rPr>
              <a:t>a</a:t>
            </a:r>
            <a:r>
              <a:rPr sz="2600" b="1" spc="-65" dirty="0">
                <a:solidFill>
                  <a:srgbClr val="333399"/>
                </a:solidFill>
                <a:latin typeface="Calibri"/>
                <a:cs typeface="Calibri"/>
              </a:rPr>
              <a:t> </a:t>
            </a:r>
            <a:r>
              <a:rPr sz="2600" b="1" spc="-25" dirty="0">
                <a:solidFill>
                  <a:srgbClr val="333399"/>
                </a:solidFill>
                <a:latin typeface="Calibri"/>
                <a:cs typeface="Calibri"/>
              </a:rPr>
              <a:t>CDF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22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23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124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grpSp>
        <p:nvGrpSpPr>
          <p:cNvPr id="2" name="object 2"/>
          <p:cNvGrpSpPr/>
          <p:nvPr/>
        </p:nvGrpSpPr>
        <p:grpSpPr>
          <a:xfrm>
            <a:off x="4495800" y="4911852"/>
            <a:ext cx="4648200" cy="38100"/>
            <a:chOff x="4495800" y="4911852"/>
            <a:chExt cx="4648200" cy="38100"/>
          </a:xfrm>
        </p:grpSpPr>
        <p:sp>
          <p:nvSpPr>
            <p:cNvPr id="3" name="object 3"/>
            <p:cNvSpPr/>
            <p:nvPr/>
          </p:nvSpPr>
          <p:spPr>
            <a:xfrm>
              <a:off x="4631436" y="4911852"/>
              <a:ext cx="2329180" cy="38100"/>
            </a:xfrm>
            <a:custGeom>
              <a:avLst/>
              <a:gdLst/>
              <a:ahLst/>
              <a:cxnLst/>
              <a:rect l="l" t="t" r="r" b="b"/>
              <a:pathLst>
                <a:path w="2329179" h="38100">
                  <a:moveTo>
                    <a:pt x="2328671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2328671" y="38100"/>
                  </a:lnTo>
                  <a:lnTo>
                    <a:pt x="2328671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908292" y="4911852"/>
              <a:ext cx="2235835" cy="35560"/>
            </a:xfrm>
            <a:custGeom>
              <a:avLst/>
              <a:gdLst/>
              <a:ahLst/>
              <a:cxnLst/>
              <a:rect l="l" t="t" r="r" b="b"/>
              <a:pathLst>
                <a:path w="2235834" h="35560">
                  <a:moveTo>
                    <a:pt x="2235707" y="0"/>
                  </a:moveTo>
                  <a:lnTo>
                    <a:pt x="0" y="0"/>
                  </a:lnTo>
                  <a:lnTo>
                    <a:pt x="0" y="35052"/>
                  </a:lnTo>
                  <a:lnTo>
                    <a:pt x="2235707" y="35052"/>
                  </a:lnTo>
                  <a:lnTo>
                    <a:pt x="2235707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95800" y="4914900"/>
              <a:ext cx="2329180" cy="35560"/>
            </a:xfrm>
            <a:custGeom>
              <a:avLst/>
              <a:gdLst/>
              <a:ahLst/>
              <a:cxnLst/>
              <a:rect l="l" t="t" r="r" b="b"/>
              <a:pathLst>
                <a:path w="2329179" h="35560">
                  <a:moveTo>
                    <a:pt x="2328672" y="0"/>
                  </a:moveTo>
                  <a:lnTo>
                    <a:pt x="0" y="0"/>
                  </a:lnTo>
                  <a:lnTo>
                    <a:pt x="0" y="35052"/>
                  </a:lnTo>
                  <a:lnTo>
                    <a:pt x="2328672" y="35052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815327" y="4914900"/>
              <a:ext cx="2329180" cy="35560"/>
            </a:xfrm>
            <a:custGeom>
              <a:avLst/>
              <a:gdLst/>
              <a:ahLst/>
              <a:cxnLst/>
              <a:rect l="l" t="t" r="r" b="b"/>
              <a:pathLst>
                <a:path w="2329179" h="35560">
                  <a:moveTo>
                    <a:pt x="2328672" y="0"/>
                  </a:moveTo>
                  <a:lnTo>
                    <a:pt x="0" y="0"/>
                  </a:lnTo>
                  <a:lnTo>
                    <a:pt x="0" y="35052"/>
                  </a:lnTo>
                  <a:lnTo>
                    <a:pt x="2328672" y="35052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29400" y="0"/>
            <a:ext cx="2194559" cy="519684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972311"/>
            <a:ext cx="7010400" cy="33655"/>
            <a:chOff x="0" y="972311"/>
            <a:chExt cx="7010400" cy="33655"/>
          </a:xfrm>
        </p:grpSpPr>
        <p:sp>
          <p:nvSpPr>
            <p:cNvPr id="9" name="object 9"/>
            <p:cNvSpPr/>
            <p:nvPr/>
          </p:nvSpPr>
          <p:spPr>
            <a:xfrm>
              <a:off x="2362200" y="972311"/>
              <a:ext cx="2329180" cy="33655"/>
            </a:xfrm>
            <a:custGeom>
              <a:avLst/>
              <a:gdLst/>
              <a:ahLst/>
              <a:cxnLst/>
              <a:rect l="l" t="t" r="r" b="b"/>
              <a:pathLst>
                <a:path w="2329179" h="33655">
                  <a:moveTo>
                    <a:pt x="2328672" y="0"/>
                  </a:moveTo>
                  <a:lnTo>
                    <a:pt x="0" y="0"/>
                  </a:lnTo>
                  <a:lnTo>
                    <a:pt x="0" y="33527"/>
                  </a:lnTo>
                  <a:lnTo>
                    <a:pt x="2328672" y="33527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972311"/>
              <a:ext cx="2362200" cy="33655"/>
            </a:xfrm>
            <a:custGeom>
              <a:avLst/>
              <a:gdLst/>
              <a:ahLst/>
              <a:cxnLst/>
              <a:rect l="l" t="t" r="r" b="b"/>
              <a:pathLst>
                <a:path w="2362200" h="33655">
                  <a:moveTo>
                    <a:pt x="2362200" y="0"/>
                  </a:moveTo>
                  <a:lnTo>
                    <a:pt x="0" y="0"/>
                  </a:lnTo>
                  <a:lnTo>
                    <a:pt x="0" y="33527"/>
                  </a:lnTo>
                  <a:lnTo>
                    <a:pt x="2362200" y="33527"/>
                  </a:lnTo>
                  <a:lnTo>
                    <a:pt x="23622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681728" y="972311"/>
              <a:ext cx="2329180" cy="33655"/>
            </a:xfrm>
            <a:custGeom>
              <a:avLst/>
              <a:gdLst/>
              <a:ahLst/>
              <a:cxnLst/>
              <a:rect l="l" t="t" r="r" b="b"/>
              <a:pathLst>
                <a:path w="2329179" h="33655">
                  <a:moveTo>
                    <a:pt x="2328672" y="0"/>
                  </a:moveTo>
                  <a:lnTo>
                    <a:pt x="0" y="0"/>
                  </a:lnTo>
                  <a:lnTo>
                    <a:pt x="0" y="33527"/>
                  </a:lnTo>
                  <a:lnTo>
                    <a:pt x="2328672" y="33527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96062" y="1318386"/>
            <a:ext cx="8038465" cy="698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Calibri"/>
                <a:cs typeface="Calibri"/>
              </a:rPr>
              <a:t>If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flow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defined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35" dirty="0">
                <a:latin typeface="Calibri"/>
                <a:cs typeface="Calibri"/>
              </a:rPr>
              <a:t>parameterized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95" dirty="0">
                <a:latin typeface="Calibri"/>
                <a:cs typeface="Calibri"/>
              </a:rPr>
              <a:t>CDF, </a:t>
            </a:r>
            <a:r>
              <a:rPr sz="2200" dirty="0">
                <a:latin typeface="Calibri"/>
                <a:cs typeface="Calibri"/>
              </a:rPr>
              <a:t>we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recover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original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2200" dirty="0">
                <a:latin typeface="Calibri"/>
                <a:cs typeface="Calibri"/>
              </a:rPr>
              <a:t>objective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fitting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corresponding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spc="-40" dirty="0">
                <a:latin typeface="Calibri"/>
                <a:cs typeface="Calibri"/>
              </a:rPr>
              <a:t>parameterized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PDF.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555751" y="125095"/>
            <a:ext cx="3859529" cy="77914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82880" marR="5080" indent="-170815">
              <a:lnSpc>
                <a:spcPts val="2810"/>
              </a:lnSpc>
              <a:spcBef>
                <a:spcPts val="455"/>
              </a:spcBef>
            </a:pPr>
            <a:r>
              <a:rPr sz="2600" dirty="0"/>
              <a:t>CDF</a:t>
            </a:r>
            <a:r>
              <a:rPr sz="2600" spc="-110" dirty="0"/>
              <a:t> </a:t>
            </a:r>
            <a:r>
              <a:rPr sz="2600" dirty="0"/>
              <a:t>Flows:</a:t>
            </a:r>
            <a:r>
              <a:rPr sz="2600" spc="-105" dirty="0"/>
              <a:t> </a:t>
            </a:r>
            <a:r>
              <a:rPr sz="2600" dirty="0"/>
              <a:t>special</a:t>
            </a:r>
            <a:r>
              <a:rPr sz="2600" spc="-85" dirty="0"/>
              <a:t> </a:t>
            </a:r>
            <a:r>
              <a:rPr sz="2600" spc="-20" dirty="0"/>
              <a:t>case </a:t>
            </a:r>
            <a:r>
              <a:rPr sz="2600" dirty="0"/>
              <a:t>CDF</a:t>
            </a:r>
            <a:r>
              <a:rPr sz="2600" spc="-60" dirty="0"/>
              <a:t> </a:t>
            </a:r>
            <a:r>
              <a:rPr sz="2600" dirty="0"/>
              <a:t>and</a:t>
            </a:r>
            <a:r>
              <a:rPr sz="2600" spc="-60" dirty="0"/>
              <a:t> </a:t>
            </a:r>
            <a:r>
              <a:rPr sz="2600" dirty="0"/>
              <a:t>p(z)</a:t>
            </a:r>
            <a:r>
              <a:rPr sz="2600" spc="-50" dirty="0"/>
              <a:t> </a:t>
            </a:r>
            <a:r>
              <a:rPr sz="2600" spc="-10" dirty="0"/>
              <a:t>U[0,1]</a:t>
            </a:r>
            <a:endParaRPr sz="2600"/>
          </a:p>
        </p:txBody>
      </p:sp>
      <p:sp>
        <p:nvSpPr>
          <p:cNvPr id="14" name="object 14"/>
          <p:cNvSpPr txBox="1"/>
          <p:nvPr/>
        </p:nvSpPr>
        <p:spPr>
          <a:xfrm>
            <a:off x="4670171" y="169121"/>
            <a:ext cx="307340" cy="369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875"/>
              </a:lnSpc>
            </a:pPr>
            <a:r>
              <a:rPr sz="2600" b="1" spc="-40" dirty="0">
                <a:latin typeface="Arial"/>
                <a:cs typeface="Arial"/>
              </a:rPr>
              <a:t>of</a:t>
            </a:r>
            <a:endParaRPr sz="2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870828" y="125095"/>
            <a:ext cx="20955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b="1" spc="-50" dirty="0">
                <a:latin typeface="Arial"/>
                <a:cs typeface="Arial"/>
              </a:rPr>
              <a:t>a</a:t>
            </a:r>
            <a:endParaRPr sz="2600">
              <a:latin typeface="Arial"/>
              <a:cs typeface="Arial"/>
            </a:endParaRPr>
          </a:p>
        </p:txBody>
      </p:sp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72000" y="208788"/>
            <a:ext cx="1136903" cy="333755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79575" y="2310383"/>
            <a:ext cx="6461760" cy="646176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3928364" y="3126485"/>
            <a:ext cx="20485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1170" marR="5080" indent="-45910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this</a:t>
            </a:r>
            <a:r>
              <a:rPr sz="18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term</a:t>
            </a:r>
            <a:r>
              <a:rPr sz="18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30" dirty="0">
                <a:solidFill>
                  <a:srgbClr val="FF0000"/>
                </a:solidFill>
                <a:latin typeface="Calibri"/>
                <a:cs typeface="Calibri"/>
              </a:rPr>
              <a:t>constant</a:t>
            </a:r>
            <a:r>
              <a:rPr sz="18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Calibri"/>
                <a:cs typeface="Calibri"/>
              </a:rPr>
              <a:t>per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p(z)</a:t>
            </a:r>
            <a:r>
              <a:rPr sz="1800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uniform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42210" rIns="0" bIns="0" rtlCol="0">
            <a:spAutoFit/>
          </a:bodyPr>
          <a:lstStyle/>
          <a:p>
            <a:pPr marL="1898014">
              <a:lnSpc>
                <a:spcPts val="985"/>
              </a:lnSpc>
              <a:spcBef>
                <a:spcPts val="15"/>
              </a:spcBef>
            </a:pPr>
            <a:r>
              <a:rPr spc="-25" dirty="0"/>
              <a:t>34</a:t>
            </a:r>
          </a:p>
          <a:p>
            <a:pPr marL="1146810">
              <a:lnSpc>
                <a:spcPts val="865"/>
              </a:lnSpc>
            </a:pPr>
            <a:r>
              <a:rPr sz="800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00" b="1" spc="1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0F1141"/>
                </a:solidFill>
              </a:rPr>
              <a:t>Pilani,</a:t>
            </a:r>
            <a:r>
              <a:rPr sz="800" spc="65" dirty="0">
                <a:solidFill>
                  <a:srgbClr val="0F1141"/>
                </a:solidFill>
              </a:rPr>
              <a:t> </a:t>
            </a:r>
            <a:r>
              <a:rPr sz="800" dirty="0">
                <a:solidFill>
                  <a:srgbClr val="0F1141"/>
                </a:solidFill>
              </a:rPr>
              <a:t>Pilani</a:t>
            </a:r>
            <a:r>
              <a:rPr sz="800" spc="80" dirty="0">
                <a:solidFill>
                  <a:srgbClr val="0F1141"/>
                </a:solidFill>
              </a:rPr>
              <a:t> </a:t>
            </a:r>
            <a:r>
              <a:rPr sz="800" spc="-10" dirty="0">
                <a:solidFill>
                  <a:srgbClr val="0F1141"/>
                </a:solidFill>
              </a:rPr>
              <a:t>Campus</a:t>
            </a:r>
            <a:endParaRPr sz="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762115" y="3165729"/>
            <a:ext cx="13798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cdf’(x)</a:t>
            </a:r>
            <a:r>
              <a:rPr sz="1800" spc="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=</a:t>
            </a:r>
            <a:r>
              <a:rPr sz="1800" spc="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pdf(x)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05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06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107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82880" marR="5080" indent="-170815">
              <a:lnSpc>
                <a:spcPts val="2920"/>
              </a:lnSpc>
              <a:spcBef>
                <a:spcPts val="459"/>
              </a:spcBef>
            </a:pPr>
            <a:r>
              <a:rPr dirty="0"/>
              <a:t>Practical</a:t>
            </a:r>
            <a:r>
              <a:rPr spc="95" dirty="0"/>
              <a:t> </a:t>
            </a:r>
            <a:r>
              <a:rPr dirty="0"/>
              <a:t>Parameterizations</a:t>
            </a:r>
            <a:r>
              <a:rPr spc="204" dirty="0"/>
              <a:t> </a:t>
            </a:r>
            <a:r>
              <a:rPr spc="95" dirty="0"/>
              <a:t>of </a:t>
            </a:r>
            <a:r>
              <a:rPr spc="-10" dirty="0"/>
              <a:t>Flows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49525" rIns="0" bIns="0" rtlCol="0">
            <a:spAutoFit/>
          </a:bodyPr>
          <a:lstStyle/>
          <a:p>
            <a:pPr marL="1134110" marR="342265" algn="r">
              <a:lnSpc>
                <a:spcPts val="905"/>
              </a:lnSpc>
              <a:spcBef>
                <a:spcPts val="15"/>
              </a:spcBef>
            </a:pPr>
            <a:r>
              <a:rPr spc="-50" dirty="0"/>
              <a:t>3</a:t>
            </a:r>
          </a:p>
          <a:p>
            <a:pPr marL="1146810">
              <a:lnSpc>
                <a:spcPts val="905"/>
              </a:lnSpc>
            </a:pPr>
            <a:r>
              <a:rPr sz="800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00" b="1" spc="1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0F1141"/>
                </a:solidFill>
              </a:rPr>
              <a:t>Pilani,</a:t>
            </a:r>
            <a:r>
              <a:rPr sz="800" spc="75" dirty="0">
                <a:solidFill>
                  <a:srgbClr val="0F1141"/>
                </a:solidFill>
              </a:rPr>
              <a:t> </a:t>
            </a:r>
            <a:r>
              <a:rPr sz="800" dirty="0">
                <a:solidFill>
                  <a:srgbClr val="0F1141"/>
                </a:solidFill>
              </a:rPr>
              <a:t>Pilani</a:t>
            </a:r>
            <a:r>
              <a:rPr sz="800" spc="-30" dirty="0">
                <a:solidFill>
                  <a:srgbClr val="0F1141"/>
                </a:solidFill>
              </a:rPr>
              <a:t> </a:t>
            </a:r>
            <a:r>
              <a:rPr sz="1350" spc="-60" baseline="-21604" dirty="0"/>
              <a:t>5</a:t>
            </a:r>
            <a:r>
              <a:rPr sz="800" spc="-40" dirty="0">
                <a:solidFill>
                  <a:srgbClr val="0F1141"/>
                </a:solidFill>
              </a:rPr>
              <a:t>Campus</a:t>
            </a:r>
            <a:endParaRPr sz="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2262" y="1029970"/>
            <a:ext cx="5680075" cy="3500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dirty="0">
                <a:latin typeface="Trebuchet MS"/>
                <a:cs typeface="Trebuchet MS"/>
              </a:rPr>
              <a:t>Requirement:</a:t>
            </a:r>
            <a:r>
              <a:rPr sz="2100" spc="85" dirty="0">
                <a:latin typeface="Trebuchet MS"/>
                <a:cs typeface="Trebuchet MS"/>
              </a:rPr>
              <a:t> </a:t>
            </a:r>
            <a:r>
              <a:rPr sz="2100" spc="-60" dirty="0">
                <a:latin typeface="Trebuchet MS"/>
                <a:cs typeface="Trebuchet MS"/>
              </a:rPr>
              <a:t>Invertible</a:t>
            </a:r>
            <a:r>
              <a:rPr sz="2100" spc="-3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and</a:t>
            </a:r>
            <a:r>
              <a:rPr sz="2100" spc="-40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Differentiable</a:t>
            </a:r>
            <a:endParaRPr sz="21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85"/>
              </a:spcBef>
            </a:pPr>
            <a:endParaRPr sz="2100">
              <a:latin typeface="Trebuchet MS"/>
              <a:cs typeface="Trebuchet MS"/>
            </a:endParaRPr>
          </a:p>
          <a:p>
            <a:pPr marL="183515" indent="-170815">
              <a:lnSpc>
                <a:spcPct val="100000"/>
              </a:lnSpc>
              <a:buFont typeface="Arial"/>
              <a:buChar char="•"/>
              <a:tabLst>
                <a:tab pos="183515" algn="l"/>
              </a:tabLst>
            </a:pPr>
            <a:r>
              <a:rPr sz="2100" spc="-10" dirty="0">
                <a:latin typeface="Trebuchet MS"/>
                <a:cs typeface="Trebuchet MS"/>
              </a:rPr>
              <a:t>Cumulative</a:t>
            </a:r>
            <a:r>
              <a:rPr sz="2100" spc="-114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Density</a:t>
            </a:r>
            <a:r>
              <a:rPr sz="2100" spc="-55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Functions</a:t>
            </a:r>
            <a:endParaRPr sz="2100">
              <a:latin typeface="Trebuchet MS"/>
              <a:cs typeface="Trebuchet MS"/>
            </a:endParaRPr>
          </a:p>
          <a:p>
            <a:pPr marL="525780" lvl="1" indent="-170815">
              <a:lnSpc>
                <a:spcPct val="100000"/>
              </a:lnSpc>
              <a:spcBef>
                <a:spcPts val="409"/>
              </a:spcBef>
              <a:buFont typeface="Calibri"/>
              <a:buChar char="–"/>
              <a:tabLst>
                <a:tab pos="525780" algn="l"/>
              </a:tabLst>
            </a:pPr>
            <a:r>
              <a:rPr sz="1800" spc="-10" dirty="0">
                <a:latin typeface="Trebuchet MS"/>
                <a:cs typeface="Trebuchet MS"/>
              </a:rPr>
              <a:t>E.g.</a:t>
            </a:r>
            <a:r>
              <a:rPr sz="1800" spc="-8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Gaussian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mixture</a:t>
            </a:r>
            <a:r>
              <a:rPr sz="1800" spc="-80" dirty="0">
                <a:latin typeface="Trebuchet MS"/>
                <a:cs typeface="Trebuchet MS"/>
              </a:rPr>
              <a:t> </a:t>
            </a:r>
            <a:r>
              <a:rPr sz="1800" spc="-60" dirty="0">
                <a:latin typeface="Trebuchet MS"/>
                <a:cs typeface="Trebuchet MS"/>
              </a:rPr>
              <a:t>density,</a:t>
            </a:r>
            <a:r>
              <a:rPr sz="1800" spc="-75" dirty="0">
                <a:latin typeface="Trebuchet MS"/>
                <a:cs typeface="Trebuchet MS"/>
              </a:rPr>
              <a:t> </a:t>
            </a:r>
            <a:r>
              <a:rPr sz="1800" spc="-30" dirty="0">
                <a:latin typeface="Trebuchet MS"/>
                <a:cs typeface="Trebuchet MS"/>
              </a:rPr>
              <a:t>mixture</a:t>
            </a:r>
            <a:r>
              <a:rPr sz="1800" spc="-7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of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logistics</a:t>
            </a:r>
            <a:endParaRPr sz="1800">
              <a:latin typeface="Trebuchet MS"/>
              <a:cs typeface="Trebuchet MS"/>
            </a:endParaRPr>
          </a:p>
          <a:p>
            <a:pPr marL="183515" indent="-170815">
              <a:lnSpc>
                <a:spcPct val="100000"/>
              </a:lnSpc>
              <a:spcBef>
                <a:spcPts val="1490"/>
              </a:spcBef>
              <a:buFont typeface="Arial"/>
              <a:buChar char="•"/>
              <a:tabLst>
                <a:tab pos="183515" algn="l"/>
              </a:tabLst>
            </a:pPr>
            <a:r>
              <a:rPr sz="2100" spc="-20" dirty="0">
                <a:latin typeface="Trebuchet MS"/>
                <a:cs typeface="Trebuchet MS"/>
              </a:rPr>
              <a:t>Neural</a:t>
            </a:r>
            <a:r>
              <a:rPr sz="2100" spc="-114" dirty="0">
                <a:latin typeface="Trebuchet MS"/>
                <a:cs typeface="Trebuchet MS"/>
              </a:rPr>
              <a:t> </a:t>
            </a:r>
            <a:r>
              <a:rPr sz="2100" spc="-25" dirty="0">
                <a:latin typeface="Trebuchet MS"/>
                <a:cs typeface="Trebuchet MS"/>
              </a:rPr>
              <a:t>Net</a:t>
            </a:r>
            <a:endParaRPr sz="2100">
              <a:latin typeface="Trebuchet MS"/>
              <a:cs typeface="Trebuchet MS"/>
            </a:endParaRPr>
          </a:p>
          <a:p>
            <a:pPr marL="525780" lvl="1" indent="-170815">
              <a:lnSpc>
                <a:spcPct val="100000"/>
              </a:lnSpc>
              <a:spcBef>
                <a:spcPts val="409"/>
              </a:spcBef>
              <a:buFont typeface="Calibri"/>
              <a:buChar char="–"/>
              <a:tabLst>
                <a:tab pos="525780" algn="l"/>
              </a:tabLst>
            </a:pPr>
            <a:r>
              <a:rPr sz="1800" dirty="0">
                <a:latin typeface="Trebuchet MS"/>
                <a:cs typeface="Trebuchet MS"/>
              </a:rPr>
              <a:t>If</a:t>
            </a:r>
            <a:r>
              <a:rPr sz="1800" spc="-9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each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50" dirty="0">
                <a:latin typeface="Trebuchet MS"/>
                <a:cs typeface="Trebuchet MS"/>
              </a:rPr>
              <a:t>layer</a:t>
            </a:r>
            <a:r>
              <a:rPr sz="1800" spc="-120" dirty="0">
                <a:latin typeface="Trebuchet MS"/>
                <a:cs typeface="Trebuchet MS"/>
              </a:rPr>
              <a:t> </a:t>
            </a:r>
            <a:r>
              <a:rPr sz="1800" spc="-80" dirty="0">
                <a:latin typeface="Trebuchet MS"/>
                <a:cs typeface="Trebuchet MS"/>
              </a:rPr>
              <a:t>flow,</a:t>
            </a:r>
            <a:r>
              <a:rPr sz="1800" spc="-10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then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sequencing</a:t>
            </a:r>
            <a:r>
              <a:rPr sz="1800" spc="-8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of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layers</a:t>
            </a:r>
            <a:r>
              <a:rPr sz="1800" spc="-6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=</a:t>
            </a:r>
            <a:r>
              <a:rPr sz="1800" spc="16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flow</a:t>
            </a:r>
            <a:endParaRPr sz="1800">
              <a:latin typeface="Trebuchet MS"/>
              <a:cs typeface="Trebuchet MS"/>
            </a:endParaRPr>
          </a:p>
          <a:p>
            <a:pPr marL="525780" lvl="1" indent="-170815">
              <a:lnSpc>
                <a:spcPct val="100000"/>
              </a:lnSpc>
              <a:spcBef>
                <a:spcPts val="300"/>
              </a:spcBef>
              <a:buFont typeface="Calibri"/>
              <a:buChar char="–"/>
              <a:tabLst>
                <a:tab pos="525780" algn="l"/>
              </a:tabLst>
            </a:pPr>
            <a:r>
              <a:rPr sz="1800" dirty="0">
                <a:latin typeface="Trebuchet MS"/>
                <a:cs typeface="Trebuchet MS"/>
              </a:rPr>
              <a:t>Each</a:t>
            </a:r>
            <a:r>
              <a:rPr sz="1800" spc="2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layer:</a:t>
            </a:r>
            <a:endParaRPr sz="1800">
              <a:latin typeface="Trebuchet MS"/>
              <a:cs typeface="Trebuchet MS"/>
            </a:endParaRPr>
          </a:p>
          <a:p>
            <a:pPr marL="868680" lvl="2" indent="-17018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tabLst>
                <a:tab pos="868680" algn="l"/>
              </a:tabLst>
            </a:pPr>
            <a:r>
              <a:rPr sz="1800" spc="50" dirty="0">
                <a:latin typeface="Trebuchet MS"/>
                <a:cs typeface="Trebuchet MS"/>
              </a:rPr>
              <a:t>ReLU?</a:t>
            </a:r>
            <a:endParaRPr sz="1800">
              <a:latin typeface="Trebuchet MS"/>
              <a:cs typeface="Trebuchet MS"/>
            </a:endParaRPr>
          </a:p>
          <a:p>
            <a:pPr marL="868680" lvl="2" indent="-17018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tabLst>
                <a:tab pos="868680" algn="l"/>
              </a:tabLst>
            </a:pPr>
            <a:r>
              <a:rPr sz="1800" spc="-10" dirty="0">
                <a:latin typeface="Trebuchet MS"/>
                <a:cs typeface="Trebuchet MS"/>
              </a:rPr>
              <a:t>Sigmoid?</a:t>
            </a:r>
            <a:endParaRPr sz="1800">
              <a:latin typeface="Trebuchet MS"/>
              <a:cs typeface="Trebuchet MS"/>
            </a:endParaRPr>
          </a:p>
          <a:p>
            <a:pPr marL="868680" lvl="2" indent="-17018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tabLst>
                <a:tab pos="868680" algn="l"/>
              </a:tabLst>
            </a:pPr>
            <a:r>
              <a:rPr sz="1800" spc="-10" dirty="0">
                <a:latin typeface="Trebuchet MS"/>
                <a:cs typeface="Trebuchet MS"/>
              </a:rPr>
              <a:t>Tanh?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05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06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107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319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40" dirty="0"/>
              <a:t> </a:t>
            </a:r>
            <a:r>
              <a:rPr spc="50" dirty="0"/>
              <a:t>general</a:t>
            </a:r>
            <a:r>
              <a:rPr spc="20" dirty="0"/>
              <a:t> </a:t>
            </a:r>
            <a:r>
              <a:rPr dirty="0"/>
              <a:t>are</a:t>
            </a:r>
            <a:r>
              <a:rPr spc="-60" dirty="0"/>
              <a:t> </a:t>
            </a:r>
            <a:r>
              <a:rPr spc="-10" dirty="0"/>
              <a:t>flows?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49525" rIns="0" bIns="0" rtlCol="0">
            <a:spAutoFit/>
          </a:bodyPr>
          <a:lstStyle/>
          <a:p>
            <a:pPr marL="1134110" marR="342265" algn="r">
              <a:lnSpc>
                <a:spcPts val="905"/>
              </a:lnSpc>
              <a:spcBef>
                <a:spcPts val="15"/>
              </a:spcBef>
            </a:pPr>
            <a:r>
              <a:rPr spc="-50" dirty="0"/>
              <a:t>3</a:t>
            </a:r>
          </a:p>
          <a:p>
            <a:pPr marL="1146810">
              <a:lnSpc>
                <a:spcPts val="905"/>
              </a:lnSpc>
            </a:pPr>
            <a:r>
              <a:rPr sz="800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00" b="1" spc="1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0F1141"/>
                </a:solidFill>
              </a:rPr>
              <a:t>Pilani,</a:t>
            </a:r>
            <a:r>
              <a:rPr sz="800" spc="75" dirty="0">
                <a:solidFill>
                  <a:srgbClr val="0F1141"/>
                </a:solidFill>
              </a:rPr>
              <a:t> </a:t>
            </a:r>
            <a:r>
              <a:rPr sz="800" dirty="0">
                <a:solidFill>
                  <a:srgbClr val="0F1141"/>
                </a:solidFill>
              </a:rPr>
              <a:t>Pilani</a:t>
            </a:r>
            <a:r>
              <a:rPr sz="800" spc="-30" dirty="0">
                <a:solidFill>
                  <a:srgbClr val="0F1141"/>
                </a:solidFill>
              </a:rPr>
              <a:t> </a:t>
            </a:r>
            <a:r>
              <a:rPr sz="1350" spc="-60" baseline="-21604" dirty="0"/>
              <a:t>6</a:t>
            </a:r>
            <a:r>
              <a:rPr sz="800" spc="-40" dirty="0">
                <a:solidFill>
                  <a:srgbClr val="0F1141"/>
                </a:solidFill>
              </a:rPr>
              <a:t>Campus</a:t>
            </a:r>
            <a:endParaRPr sz="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2262" y="1003172"/>
            <a:ext cx="7183755" cy="74803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82880" marR="5080" indent="-170815">
              <a:lnSpc>
                <a:spcPts val="2810"/>
              </a:lnSpc>
              <a:spcBef>
                <a:spcPts val="250"/>
              </a:spcBef>
              <a:buFont typeface="Arial"/>
              <a:buChar char="•"/>
              <a:tabLst>
                <a:tab pos="184785" algn="l"/>
                <a:tab pos="2891790" algn="l"/>
              </a:tabLst>
            </a:pPr>
            <a:r>
              <a:rPr sz="2400" dirty="0">
                <a:latin typeface="Trebuchet MS"/>
                <a:cs typeface="Trebuchet MS"/>
              </a:rPr>
              <a:t>Can</a:t>
            </a:r>
            <a:r>
              <a:rPr sz="2400" spc="-1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every</a:t>
            </a:r>
            <a:r>
              <a:rPr sz="2400" spc="-11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(smooth)</a:t>
            </a:r>
            <a:r>
              <a:rPr sz="2400" spc="-100" dirty="0">
                <a:latin typeface="Trebuchet MS"/>
                <a:cs typeface="Trebuchet MS"/>
              </a:rPr>
              <a:t> </a:t>
            </a:r>
            <a:r>
              <a:rPr sz="2400" spc="-65" dirty="0">
                <a:latin typeface="Trebuchet MS"/>
                <a:cs typeface="Trebuchet MS"/>
              </a:rPr>
              <a:t>distribution</a:t>
            </a:r>
            <a:r>
              <a:rPr sz="2400" spc="-12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be</a:t>
            </a:r>
            <a:r>
              <a:rPr sz="2400" spc="-11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represented</a:t>
            </a:r>
            <a:r>
              <a:rPr sz="2400" spc="-1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by</a:t>
            </a:r>
            <a:r>
              <a:rPr sz="2400" spc="-120" dirty="0">
                <a:latin typeface="Trebuchet MS"/>
                <a:cs typeface="Trebuchet MS"/>
              </a:rPr>
              <a:t> </a:t>
            </a:r>
            <a:r>
              <a:rPr sz="2400" spc="-50" dirty="0">
                <a:latin typeface="Trebuchet MS"/>
                <a:cs typeface="Trebuchet MS"/>
              </a:rPr>
              <a:t>a 	</a:t>
            </a:r>
            <a:r>
              <a:rPr sz="2400" spc="-80" dirty="0">
                <a:latin typeface="Trebuchet MS"/>
                <a:cs typeface="Trebuchet MS"/>
              </a:rPr>
              <a:t>(normalizing)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flow?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25" dirty="0">
                <a:latin typeface="Trebuchet MS"/>
                <a:cs typeface="Trebuchet MS"/>
              </a:rPr>
              <a:t>[considering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spc="-110" dirty="0">
                <a:latin typeface="Trebuchet MS"/>
                <a:cs typeface="Trebuchet MS"/>
              </a:rPr>
              <a:t>1-</a:t>
            </a:r>
            <a:r>
              <a:rPr sz="2400" dirty="0">
                <a:latin typeface="Trebuchet MS"/>
                <a:cs typeface="Trebuchet MS"/>
              </a:rPr>
              <a:t>D</a:t>
            </a:r>
            <a:r>
              <a:rPr sz="2400" spc="160" dirty="0">
                <a:latin typeface="Trebuchet MS"/>
                <a:cs typeface="Trebuchet MS"/>
              </a:rPr>
              <a:t> </a:t>
            </a:r>
            <a:r>
              <a:rPr sz="2400" spc="-40" dirty="0">
                <a:latin typeface="Trebuchet MS"/>
                <a:cs typeface="Trebuchet MS"/>
              </a:rPr>
              <a:t>for</a:t>
            </a:r>
            <a:r>
              <a:rPr sz="2400" spc="-14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now]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25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26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127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319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How</a:t>
            </a:r>
            <a:r>
              <a:rPr spc="40" dirty="0"/>
              <a:t> </a:t>
            </a:r>
            <a:r>
              <a:rPr spc="50" dirty="0"/>
              <a:t>general</a:t>
            </a:r>
            <a:r>
              <a:rPr spc="20" dirty="0"/>
              <a:t> </a:t>
            </a:r>
            <a:r>
              <a:rPr dirty="0"/>
              <a:t>are</a:t>
            </a:r>
            <a:r>
              <a:rPr spc="-60" dirty="0"/>
              <a:t> </a:t>
            </a:r>
            <a:r>
              <a:rPr spc="-10" dirty="0"/>
              <a:t>flows?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2262" y="961356"/>
            <a:ext cx="4318635" cy="74295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82880" indent="-170180">
              <a:lnSpc>
                <a:spcPct val="100000"/>
              </a:lnSpc>
              <a:spcBef>
                <a:spcPts val="405"/>
              </a:spcBef>
              <a:buFont typeface="Arial"/>
              <a:buChar char="•"/>
              <a:tabLst>
                <a:tab pos="182880" algn="l"/>
              </a:tabLst>
            </a:pPr>
            <a:r>
              <a:rPr sz="2100" spc="85" dirty="0">
                <a:latin typeface="Trebuchet MS"/>
                <a:cs typeface="Trebuchet MS"/>
              </a:rPr>
              <a:t>CDF</a:t>
            </a:r>
            <a:r>
              <a:rPr sz="2100" spc="15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turns</a:t>
            </a:r>
            <a:r>
              <a:rPr sz="2100" spc="-11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any</a:t>
            </a:r>
            <a:r>
              <a:rPr sz="2100" spc="-105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density</a:t>
            </a:r>
            <a:r>
              <a:rPr sz="2100" spc="-85" dirty="0">
                <a:latin typeface="Trebuchet MS"/>
                <a:cs typeface="Trebuchet MS"/>
              </a:rPr>
              <a:t> </a:t>
            </a:r>
            <a:r>
              <a:rPr sz="2100" spc="-50" dirty="0">
                <a:latin typeface="Trebuchet MS"/>
                <a:cs typeface="Trebuchet MS"/>
              </a:rPr>
              <a:t>into</a:t>
            </a:r>
            <a:r>
              <a:rPr sz="2100" spc="-145" dirty="0">
                <a:latin typeface="Trebuchet MS"/>
                <a:cs typeface="Trebuchet MS"/>
              </a:rPr>
              <a:t> </a:t>
            </a:r>
            <a:r>
              <a:rPr sz="2100" spc="-10" dirty="0">
                <a:latin typeface="Trebuchet MS"/>
                <a:cs typeface="Trebuchet MS"/>
              </a:rPr>
              <a:t>uniform</a:t>
            </a:r>
            <a:endParaRPr sz="2100">
              <a:latin typeface="Trebuchet MS"/>
              <a:cs typeface="Trebuchet MS"/>
            </a:endParaRPr>
          </a:p>
          <a:p>
            <a:pPr marL="183515" indent="-170815">
              <a:lnSpc>
                <a:spcPct val="100000"/>
              </a:lnSpc>
              <a:spcBef>
                <a:spcPts val="300"/>
              </a:spcBef>
              <a:buFont typeface="Arial"/>
              <a:buChar char="•"/>
              <a:tabLst>
                <a:tab pos="183515" algn="l"/>
              </a:tabLst>
            </a:pPr>
            <a:r>
              <a:rPr sz="2100" dirty="0">
                <a:latin typeface="Trebuchet MS"/>
                <a:cs typeface="Trebuchet MS"/>
              </a:rPr>
              <a:t>Inverse</a:t>
            </a:r>
            <a:r>
              <a:rPr sz="2100" spc="-5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flow</a:t>
            </a:r>
            <a:r>
              <a:rPr sz="2100" spc="-50" dirty="0">
                <a:latin typeface="Trebuchet MS"/>
                <a:cs typeface="Trebuchet MS"/>
              </a:rPr>
              <a:t> </a:t>
            </a:r>
            <a:r>
              <a:rPr sz="2100" dirty="0">
                <a:latin typeface="Trebuchet MS"/>
                <a:cs typeface="Trebuchet MS"/>
              </a:rPr>
              <a:t>is</a:t>
            </a:r>
            <a:r>
              <a:rPr sz="2100" spc="-50" dirty="0">
                <a:latin typeface="Trebuchet MS"/>
                <a:cs typeface="Trebuchet MS"/>
              </a:rPr>
              <a:t> </a:t>
            </a:r>
            <a:r>
              <a:rPr sz="2100" spc="-20" dirty="0">
                <a:latin typeface="Trebuchet MS"/>
                <a:cs typeface="Trebuchet MS"/>
              </a:rPr>
              <a:t>flow</a:t>
            </a:r>
            <a:endParaRPr sz="21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560" y="2139695"/>
            <a:ext cx="416052" cy="429768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624583" y="2049754"/>
            <a:ext cx="678180" cy="601980"/>
            <a:chOff x="1624583" y="2049754"/>
            <a:chExt cx="678180" cy="601980"/>
          </a:xfrm>
        </p:grpSpPr>
        <p:sp>
          <p:nvSpPr>
            <p:cNvPr id="6" name="object 6"/>
            <p:cNvSpPr/>
            <p:nvPr/>
          </p:nvSpPr>
          <p:spPr>
            <a:xfrm>
              <a:off x="1624584" y="2318003"/>
              <a:ext cx="678180" cy="64135"/>
            </a:xfrm>
            <a:custGeom>
              <a:avLst/>
              <a:gdLst/>
              <a:ahLst/>
              <a:cxnLst/>
              <a:rect l="l" t="t" r="r" b="b"/>
              <a:pathLst>
                <a:path w="678180" h="64135">
                  <a:moveTo>
                    <a:pt x="678053" y="32004"/>
                  </a:moveTo>
                  <a:lnTo>
                    <a:pt x="656590" y="21336"/>
                  </a:lnTo>
                  <a:lnTo>
                    <a:pt x="613664" y="0"/>
                  </a:lnTo>
                  <a:lnTo>
                    <a:pt x="613664" y="21336"/>
                  </a:lnTo>
                  <a:lnTo>
                    <a:pt x="0" y="21336"/>
                  </a:lnTo>
                  <a:lnTo>
                    <a:pt x="0" y="42672"/>
                  </a:lnTo>
                  <a:lnTo>
                    <a:pt x="613664" y="42672"/>
                  </a:lnTo>
                  <a:lnTo>
                    <a:pt x="613664" y="64008"/>
                  </a:lnTo>
                  <a:lnTo>
                    <a:pt x="656590" y="42672"/>
                  </a:lnTo>
                  <a:lnTo>
                    <a:pt x="678053" y="320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837181" y="2064232"/>
              <a:ext cx="189230" cy="573405"/>
            </a:xfrm>
            <a:custGeom>
              <a:avLst/>
              <a:gdLst/>
              <a:ahLst/>
              <a:cxnLst/>
              <a:rect l="l" t="t" r="r" b="b"/>
              <a:pathLst>
                <a:path w="189230" h="573405">
                  <a:moveTo>
                    <a:pt x="0" y="572795"/>
                  </a:moveTo>
                  <a:lnTo>
                    <a:pt x="188785" y="572795"/>
                  </a:lnTo>
                  <a:lnTo>
                    <a:pt x="188785" y="0"/>
                  </a:lnTo>
                  <a:lnTo>
                    <a:pt x="0" y="0"/>
                  </a:lnTo>
                  <a:lnTo>
                    <a:pt x="0" y="572795"/>
                  </a:lnTo>
                  <a:close/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59735" y="2191511"/>
            <a:ext cx="420624" cy="35813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14044" y="3084576"/>
            <a:ext cx="341375" cy="38100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459735" y="3140964"/>
            <a:ext cx="420624" cy="356616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1592580" y="2999206"/>
            <a:ext cx="676910" cy="601980"/>
            <a:chOff x="1592580" y="2999206"/>
            <a:chExt cx="676910" cy="601980"/>
          </a:xfrm>
        </p:grpSpPr>
        <p:sp>
          <p:nvSpPr>
            <p:cNvPr id="12" name="object 12"/>
            <p:cNvSpPr/>
            <p:nvPr/>
          </p:nvSpPr>
          <p:spPr>
            <a:xfrm>
              <a:off x="1837182" y="3013684"/>
              <a:ext cx="189230" cy="573405"/>
            </a:xfrm>
            <a:custGeom>
              <a:avLst/>
              <a:gdLst/>
              <a:ahLst/>
              <a:cxnLst/>
              <a:rect l="l" t="t" r="r" b="b"/>
              <a:pathLst>
                <a:path w="189230" h="573404">
                  <a:moveTo>
                    <a:pt x="0" y="572795"/>
                  </a:moveTo>
                  <a:lnTo>
                    <a:pt x="188785" y="572795"/>
                  </a:lnTo>
                  <a:lnTo>
                    <a:pt x="188785" y="0"/>
                  </a:lnTo>
                  <a:lnTo>
                    <a:pt x="0" y="0"/>
                  </a:lnTo>
                  <a:lnTo>
                    <a:pt x="0" y="572795"/>
                  </a:lnTo>
                  <a:close/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592580" y="3267455"/>
              <a:ext cx="676910" cy="64135"/>
            </a:xfrm>
            <a:custGeom>
              <a:avLst/>
              <a:gdLst/>
              <a:ahLst/>
              <a:cxnLst/>
              <a:rect l="l" t="t" r="r" b="b"/>
              <a:pathLst>
                <a:path w="676910" h="64135">
                  <a:moveTo>
                    <a:pt x="676529" y="32004"/>
                  </a:moveTo>
                  <a:lnTo>
                    <a:pt x="655066" y="21336"/>
                  </a:lnTo>
                  <a:lnTo>
                    <a:pt x="612267" y="0"/>
                  </a:lnTo>
                  <a:lnTo>
                    <a:pt x="612267" y="21336"/>
                  </a:lnTo>
                  <a:lnTo>
                    <a:pt x="0" y="21336"/>
                  </a:lnTo>
                  <a:lnTo>
                    <a:pt x="0" y="42672"/>
                  </a:lnTo>
                  <a:lnTo>
                    <a:pt x="612267" y="42672"/>
                  </a:lnTo>
                  <a:lnTo>
                    <a:pt x="612267" y="64008"/>
                  </a:lnTo>
                  <a:lnTo>
                    <a:pt x="655066" y="42672"/>
                  </a:lnTo>
                  <a:lnTo>
                    <a:pt x="676529" y="320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860035" y="2542032"/>
            <a:ext cx="416051" cy="429768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5433059" y="2453614"/>
            <a:ext cx="678180" cy="601980"/>
            <a:chOff x="5433059" y="2453614"/>
            <a:chExt cx="678180" cy="601980"/>
          </a:xfrm>
        </p:grpSpPr>
        <p:sp>
          <p:nvSpPr>
            <p:cNvPr id="16" name="object 16"/>
            <p:cNvSpPr/>
            <p:nvPr/>
          </p:nvSpPr>
          <p:spPr>
            <a:xfrm>
              <a:off x="5433060" y="2721863"/>
              <a:ext cx="678180" cy="64135"/>
            </a:xfrm>
            <a:custGeom>
              <a:avLst/>
              <a:gdLst/>
              <a:ahLst/>
              <a:cxnLst/>
              <a:rect l="l" t="t" r="r" b="b"/>
              <a:pathLst>
                <a:path w="678179" h="64135">
                  <a:moveTo>
                    <a:pt x="678053" y="32004"/>
                  </a:moveTo>
                  <a:lnTo>
                    <a:pt x="656590" y="21336"/>
                  </a:lnTo>
                  <a:lnTo>
                    <a:pt x="613664" y="0"/>
                  </a:lnTo>
                  <a:lnTo>
                    <a:pt x="613664" y="21336"/>
                  </a:lnTo>
                  <a:lnTo>
                    <a:pt x="0" y="21336"/>
                  </a:lnTo>
                  <a:lnTo>
                    <a:pt x="0" y="42672"/>
                  </a:lnTo>
                  <a:lnTo>
                    <a:pt x="613664" y="42672"/>
                  </a:lnTo>
                  <a:lnTo>
                    <a:pt x="613664" y="64008"/>
                  </a:lnTo>
                  <a:lnTo>
                    <a:pt x="656590" y="42672"/>
                  </a:lnTo>
                  <a:lnTo>
                    <a:pt x="678053" y="320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645657" y="2468092"/>
              <a:ext cx="189230" cy="573405"/>
            </a:xfrm>
            <a:custGeom>
              <a:avLst/>
              <a:gdLst/>
              <a:ahLst/>
              <a:cxnLst/>
              <a:rect l="l" t="t" r="r" b="b"/>
              <a:pathLst>
                <a:path w="189229" h="573405">
                  <a:moveTo>
                    <a:pt x="0" y="572795"/>
                  </a:moveTo>
                  <a:lnTo>
                    <a:pt x="188785" y="572795"/>
                  </a:lnTo>
                  <a:lnTo>
                    <a:pt x="188785" y="0"/>
                  </a:lnTo>
                  <a:lnTo>
                    <a:pt x="0" y="0"/>
                  </a:lnTo>
                  <a:lnTo>
                    <a:pt x="0" y="572795"/>
                  </a:lnTo>
                  <a:close/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268211" y="2555748"/>
            <a:ext cx="420623" cy="342900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642859" y="2555748"/>
            <a:ext cx="362711" cy="396239"/>
          </a:xfrm>
          <a:prstGeom prst="rect">
            <a:avLst/>
          </a:prstGeom>
        </p:spPr>
      </p:pic>
      <p:grpSp>
        <p:nvGrpSpPr>
          <p:cNvPr id="20" name="object 20"/>
          <p:cNvGrpSpPr/>
          <p:nvPr/>
        </p:nvGrpSpPr>
        <p:grpSpPr>
          <a:xfrm>
            <a:off x="6813804" y="2423134"/>
            <a:ext cx="676910" cy="601980"/>
            <a:chOff x="6813804" y="2423134"/>
            <a:chExt cx="676910" cy="601980"/>
          </a:xfrm>
        </p:grpSpPr>
        <p:sp>
          <p:nvSpPr>
            <p:cNvPr id="21" name="object 21"/>
            <p:cNvSpPr/>
            <p:nvPr/>
          </p:nvSpPr>
          <p:spPr>
            <a:xfrm>
              <a:off x="6954774" y="2437612"/>
              <a:ext cx="187325" cy="573405"/>
            </a:xfrm>
            <a:custGeom>
              <a:avLst/>
              <a:gdLst/>
              <a:ahLst/>
              <a:cxnLst/>
              <a:rect l="l" t="t" r="r" b="b"/>
              <a:pathLst>
                <a:path w="187325" h="573405">
                  <a:moveTo>
                    <a:pt x="0" y="572795"/>
                  </a:moveTo>
                  <a:lnTo>
                    <a:pt x="187261" y="572795"/>
                  </a:lnTo>
                  <a:lnTo>
                    <a:pt x="187261" y="0"/>
                  </a:lnTo>
                  <a:lnTo>
                    <a:pt x="0" y="0"/>
                  </a:lnTo>
                  <a:lnTo>
                    <a:pt x="0" y="572795"/>
                  </a:lnTo>
                  <a:close/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813804" y="2721863"/>
              <a:ext cx="676910" cy="64135"/>
            </a:xfrm>
            <a:custGeom>
              <a:avLst/>
              <a:gdLst/>
              <a:ahLst/>
              <a:cxnLst/>
              <a:rect l="l" t="t" r="r" b="b"/>
              <a:pathLst>
                <a:path w="676909" h="64135">
                  <a:moveTo>
                    <a:pt x="676529" y="32004"/>
                  </a:moveTo>
                  <a:lnTo>
                    <a:pt x="655066" y="21336"/>
                  </a:lnTo>
                  <a:lnTo>
                    <a:pt x="612267" y="0"/>
                  </a:lnTo>
                  <a:lnTo>
                    <a:pt x="612267" y="21336"/>
                  </a:lnTo>
                  <a:lnTo>
                    <a:pt x="0" y="21336"/>
                  </a:lnTo>
                  <a:lnTo>
                    <a:pt x="0" y="42672"/>
                  </a:lnTo>
                  <a:lnTo>
                    <a:pt x="612267" y="42672"/>
                  </a:lnTo>
                  <a:lnTo>
                    <a:pt x="612267" y="64008"/>
                  </a:lnTo>
                  <a:lnTo>
                    <a:pt x="655066" y="42672"/>
                  </a:lnTo>
                  <a:lnTo>
                    <a:pt x="676529" y="320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67664" y="3894531"/>
            <a:ext cx="840105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dirty="0">
                <a:solidFill>
                  <a:srgbClr val="0431FF"/>
                </a:solidFill>
                <a:latin typeface="Times New Roman"/>
                <a:cs typeface="Times New Roman"/>
              </a:rPr>
              <a:t>→</a:t>
            </a:r>
            <a:r>
              <a:rPr sz="2700" spc="120" dirty="0">
                <a:solidFill>
                  <a:srgbClr val="0431FF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0431FF"/>
                </a:solidFill>
                <a:latin typeface="Trebuchet MS"/>
                <a:cs typeface="Trebuchet MS"/>
              </a:rPr>
              <a:t>can</a:t>
            </a:r>
            <a:r>
              <a:rPr sz="2700" spc="70" dirty="0">
                <a:solidFill>
                  <a:srgbClr val="0431FF"/>
                </a:solidFill>
                <a:latin typeface="Trebuchet MS"/>
                <a:cs typeface="Trebuchet MS"/>
              </a:rPr>
              <a:t> </a:t>
            </a:r>
            <a:r>
              <a:rPr sz="2700" dirty="0">
                <a:solidFill>
                  <a:srgbClr val="0431FF"/>
                </a:solidFill>
                <a:latin typeface="Trebuchet MS"/>
                <a:cs typeface="Trebuchet MS"/>
              </a:rPr>
              <a:t>turn</a:t>
            </a:r>
            <a:r>
              <a:rPr sz="2700" spc="50" dirty="0">
                <a:solidFill>
                  <a:srgbClr val="0431FF"/>
                </a:solidFill>
                <a:latin typeface="Trebuchet MS"/>
                <a:cs typeface="Trebuchet MS"/>
              </a:rPr>
              <a:t> </a:t>
            </a:r>
            <a:r>
              <a:rPr sz="2700" spc="80" dirty="0">
                <a:solidFill>
                  <a:srgbClr val="0431FF"/>
                </a:solidFill>
                <a:latin typeface="Trebuchet MS"/>
                <a:cs typeface="Trebuchet MS"/>
              </a:rPr>
              <a:t>any</a:t>
            </a:r>
            <a:r>
              <a:rPr sz="2700" spc="125" dirty="0">
                <a:solidFill>
                  <a:srgbClr val="0431FF"/>
                </a:solidFill>
                <a:latin typeface="Trebuchet MS"/>
                <a:cs typeface="Trebuchet MS"/>
              </a:rPr>
              <a:t> </a:t>
            </a:r>
            <a:r>
              <a:rPr sz="2700" spc="65" dirty="0">
                <a:solidFill>
                  <a:srgbClr val="0431FF"/>
                </a:solidFill>
                <a:latin typeface="Trebuchet MS"/>
                <a:cs typeface="Trebuchet MS"/>
              </a:rPr>
              <a:t>(smooth)</a:t>
            </a:r>
            <a:r>
              <a:rPr sz="2700" spc="75" dirty="0">
                <a:solidFill>
                  <a:srgbClr val="0431FF"/>
                </a:solidFill>
                <a:latin typeface="Trebuchet MS"/>
                <a:cs typeface="Trebuchet MS"/>
              </a:rPr>
              <a:t> </a:t>
            </a:r>
            <a:r>
              <a:rPr sz="2700" dirty="0">
                <a:solidFill>
                  <a:srgbClr val="0431FF"/>
                </a:solidFill>
                <a:latin typeface="Trebuchet MS"/>
                <a:cs typeface="Trebuchet MS"/>
              </a:rPr>
              <a:t>p(x)</a:t>
            </a:r>
            <a:r>
              <a:rPr sz="2700" spc="-20" dirty="0">
                <a:solidFill>
                  <a:srgbClr val="0431FF"/>
                </a:solidFill>
                <a:latin typeface="Trebuchet MS"/>
                <a:cs typeface="Trebuchet MS"/>
              </a:rPr>
              <a:t> </a:t>
            </a:r>
            <a:r>
              <a:rPr sz="2700" dirty="0">
                <a:solidFill>
                  <a:srgbClr val="0431FF"/>
                </a:solidFill>
                <a:latin typeface="Trebuchet MS"/>
                <a:cs typeface="Trebuchet MS"/>
              </a:rPr>
              <a:t>into</a:t>
            </a:r>
            <a:r>
              <a:rPr sz="2700" spc="50" dirty="0">
                <a:solidFill>
                  <a:srgbClr val="0431FF"/>
                </a:solidFill>
                <a:latin typeface="Trebuchet MS"/>
                <a:cs typeface="Trebuchet MS"/>
              </a:rPr>
              <a:t> </a:t>
            </a:r>
            <a:r>
              <a:rPr sz="2700" spc="80" dirty="0">
                <a:solidFill>
                  <a:srgbClr val="0431FF"/>
                </a:solidFill>
                <a:latin typeface="Trebuchet MS"/>
                <a:cs typeface="Trebuchet MS"/>
              </a:rPr>
              <a:t>any</a:t>
            </a:r>
            <a:r>
              <a:rPr sz="2700" spc="125" dirty="0">
                <a:solidFill>
                  <a:srgbClr val="0431FF"/>
                </a:solidFill>
                <a:latin typeface="Trebuchet MS"/>
                <a:cs typeface="Trebuchet MS"/>
              </a:rPr>
              <a:t> </a:t>
            </a:r>
            <a:r>
              <a:rPr sz="2700" spc="65" dirty="0">
                <a:solidFill>
                  <a:srgbClr val="0431FF"/>
                </a:solidFill>
                <a:latin typeface="Trebuchet MS"/>
                <a:cs typeface="Trebuchet MS"/>
              </a:rPr>
              <a:t>(smooth)</a:t>
            </a:r>
            <a:r>
              <a:rPr sz="2700" spc="60" dirty="0">
                <a:solidFill>
                  <a:srgbClr val="0431FF"/>
                </a:solidFill>
                <a:latin typeface="Trebuchet MS"/>
                <a:cs typeface="Trebuchet MS"/>
              </a:rPr>
              <a:t> </a:t>
            </a:r>
            <a:r>
              <a:rPr sz="2700" spc="-20" dirty="0">
                <a:solidFill>
                  <a:srgbClr val="0431FF"/>
                </a:solidFill>
                <a:latin typeface="Trebuchet MS"/>
                <a:cs typeface="Trebuchet MS"/>
              </a:rPr>
              <a:t>p(z)</a:t>
            </a:r>
            <a:endParaRPr sz="270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49525" rIns="0" bIns="0" rtlCol="0">
            <a:spAutoFit/>
          </a:bodyPr>
          <a:lstStyle/>
          <a:p>
            <a:pPr marL="1134110" marR="342265" algn="r">
              <a:lnSpc>
                <a:spcPts val="905"/>
              </a:lnSpc>
              <a:spcBef>
                <a:spcPts val="15"/>
              </a:spcBef>
            </a:pPr>
            <a:r>
              <a:rPr spc="-50" dirty="0"/>
              <a:t>3</a:t>
            </a:r>
          </a:p>
          <a:p>
            <a:pPr marL="1146810">
              <a:lnSpc>
                <a:spcPts val="905"/>
              </a:lnSpc>
            </a:pPr>
            <a:r>
              <a:rPr sz="800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00" b="1" spc="1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0F1141"/>
                </a:solidFill>
              </a:rPr>
              <a:t>Pilani,</a:t>
            </a:r>
            <a:r>
              <a:rPr sz="800" spc="75" dirty="0">
                <a:solidFill>
                  <a:srgbClr val="0F1141"/>
                </a:solidFill>
              </a:rPr>
              <a:t> </a:t>
            </a:r>
            <a:r>
              <a:rPr sz="800" dirty="0">
                <a:solidFill>
                  <a:srgbClr val="0F1141"/>
                </a:solidFill>
              </a:rPr>
              <a:t>Pilani</a:t>
            </a:r>
            <a:r>
              <a:rPr sz="800" spc="-30" dirty="0">
                <a:solidFill>
                  <a:srgbClr val="0F1141"/>
                </a:solidFill>
              </a:rPr>
              <a:t> </a:t>
            </a:r>
            <a:r>
              <a:rPr sz="1350" spc="-60" baseline="-21604" dirty="0"/>
              <a:t>7</a:t>
            </a:r>
            <a:r>
              <a:rPr sz="800" spc="-40" dirty="0">
                <a:solidFill>
                  <a:srgbClr val="0F1141"/>
                </a:solidFill>
              </a:rPr>
              <a:t>Campus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18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19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120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7802118" y="4967122"/>
            <a:ext cx="1285240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00" b="1" spc="1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0F1141"/>
                </a:solidFill>
                <a:latin typeface="Arial"/>
                <a:cs typeface="Arial"/>
              </a:rPr>
              <a:t>Pilani,</a:t>
            </a:r>
            <a:r>
              <a:rPr sz="800" spc="6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0F1141"/>
                </a:solidFill>
                <a:latin typeface="Arial"/>
                <a:cs typeface="Arial"/>
              </a:rPr>
              <a:t>Pilani</a:t>
            </a:r>
            <a:r>
              <a:rPr sz="800" spc="8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0F1141"/>
                </a:solidFill>
                <a:latin typeface="Arial"/>
                <a:cs typeface="Arial"/>
              </a:rPr>
              <a:t>Campus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495800" y="4911852"/>
            <a:ext cx="4648200" cy="38100"/>
            <a:chOff x="4495800" y="4911852"/>
            <a:chExt cx="4648200" cy="38100"/>
          </a:xfrm>
        </p:grpSpPr>
        <p:sp>
          <p:nvSpPr>
            <p:cNvPr id="4" name="object 4"/>
            <p:cNvSpPr/>
            <p:nvPr/>
          </p:nvSpPr>
          <p:spPr>
            <a:xfrm>
              <a:off x="4631436" y="4911852"/>
              <a:ext cx="2329180" cy="38100"/>
            </a:xfrm>
            <a:custGeom>
              <a:avLst/>
              <a:gdLst/>
              <a:ahLst/>
              <a:cxnLst/>
              <a:rect l="l" t="t" r="r" b="b"/>
              <a:pathLst>
                <a:path w="2329179" h="38100">
                  <a:moveTo>
                    <a:pt x="2328671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2328671" y="38100"/>
                  </a:lnTo>
                  <a:lnTo>
                    <a:pt x="2328671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908292" y="4911852"/>
              <a:ext cx="2235835" cy="35560"/>
            </a:xfrm>
            <a:custGeom>
              <a:avLst/>
              <a:gdLst/>
              <a:ahLst/>
              <a:cxnLst/>
              <a:rect l="l" t="t" r="r" b="b"/>
              <a:pathLst>
                <a:path w="2235834" h="35560">
                  <a:moveTo>
                    <a:pt x="2235707" y="0"/>
                  </a:moveTo>
                  <a:lnTo>
                    <a:pt x="0" y="0"/>
                  </a:lnTo>
                  <a:lnTo>
                    <a:pt x="0" y="35052"/>
                  </a:lnTo>
                  <a:lnTo>
                    <a:pt x="2235707" y="35052"/>
                  </a:lnTo>
                  <a:lnTo>
                    <a:pt x="2235707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95800" y="4914900"/>
              <a:ext cx="2329180" cy="35560"/>
            </a:xfrm>
            <a:custGeom>
              <a:avLst/>
              <a:gdLst/>
              <a:ahLst/>
              <a:cxnLst/>
              <a:rect l="l" t="t" r="r" b="b"/>
              <a:pathLst>
                <a:path w="2329179" h="35560">
                  <a:moveTo>
                    <a:pt x="2328672" y="0"/>
                  </a:moveTo>
                  <a:lnTo>
                    <a:pt x="0" y="0"/>
                  </a:lnTo>
                  <a:lnTo>
                    <a:pt x="0" y="35052"/>
                  </a:lnTo>
                  <a:lnTo>
                    <a:pt x="2328672" y="35052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15327" y="4914900"/>
              <a:ext cx="2329180" cy="35560"/>
            </a:xfrm>
            <a:custGeom>
              <a:avLst/>
              <a:gdLst/>
              <a:ahLst/>
              <a:cxnLst/>
              <a:rect l="l" t="t" r="r" b="b"/>
              <a:pathLst>
                <a:path w="2329179" h="35560">
                  <a:moveTo>
                    <a:pt x="2328672" y="0"/>
                  </a:moveTo>
                  <a:lnTo>
                    <a:pt x="0" y="0"/>
                  </a:lnTo>
                  <a:lnTo>
                    <a:pt x="0" y="35052"/>
                  </a:lnTo>
                  <a:lnTo>
                    <a:pt x="2328672" y="35052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29400" y="0"/>
            <a:ext cx="2194559" cy="519684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0" y="972311"/>
            <a:ext cx="7010400" cy="33655"/>
            <a:chOff x="0" y="972311"/>
            <a:chExt cx="7010400" cy="33655"/>
          </a:xfrm>
        </p:grpSpPr>
        <p:sp>
          <p:nvSpPr>
            <p:cNvPr id="10" name="object 10"/>
            <p:cNvSpPr/>
            <p:nvPr/>
          </p:nvSpPr>
          <p:spPr>
            <a:xfrm>
              <a:off x="2362200" y="972311"/>
              <a:ext cx="2329180" cy="33655"/>
            </a:xfrm>
            <a:custGeom>
              <a:avLst/>
              <a:gdLst/>
              <a:ahLst/>
              <a:cxnLst/>
              <a:rect l="l" t="t" r="r" b="b"/>
              <a:pathLst>
                <a:path w="2329179" h="33655">
                  <a:moveTo>
                    <a:pt x="2328672" y="0"/>
                  </a:moveTo>
                  <a:lnTo>
                    <a:pt x="0" y="0"/>
                  </a:lnTo>
                  <a:lnTo>
                    <a:pt x="0" y="33527"/>
                  </a:lnTo>
                  <a:lnTo>
                    <a:pt x="2328672" y="33527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972311"/>
              <a:ext cx="2362200" cy="33655"/>
            </a:xfrm>
            <a:custGeom>
              <a:avLst/>
              <a:gdLst/>
              <a:ahLst/>
              <a:cxnLst/>
              <a:rect l="l" t="t" r="r" b="b"/>
              <a:pathLst>
                <a:path w="2362200" h="33655">
                  <a:moveTo>
                    <a:pt x="2362200" y="0"/>
                  </a:moveTo>
                  <a:lnTo>
                    <a:pt x="0" y="0"/>
                  </a:lnTo>
                  <a:lnTo>
                    <a:pt x="0" y="33527"/>
                  </a:lnTo>
                  <a:lnTo>
                    <a:pt x="2362200" y="33527"/>
                  </a:lnTo>
                  <a:lnTo>
                    <a:pt x="23622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681728" y="972311"/>
              <a:ext cx="2329180" cy="33655"/>
            </a:xfrm>
            <a:custGeom>
              <a:avLst/>
              <a:gdLst/>
              <a:ahLst/>
              <a:cxnLst/>
              <a:rect l="l" t="t" r="r" b="b"/>
              <a:pathLst>
                <a:path w="2329179" h="33655">
                  <a:moveTo>
                    <a:pt x="2328672" y="0"/>
                  </a:moveTo>
                  <a:lnTo>
                    <a:pt x="0" y="0"/>
                  </a:lnTo>
                  <a:lnTo>
                    <a:pt x="0" y="33527"/>
                  </a:lnTo>
                  <a:lnTo>
                    <a:pt x="2328672" y="33527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319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Outline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553450" y="4857699"/>
            <a:ext cx="1473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878787"/>
                </a:solidFill>
                <a:latin typeface="Arial"/>
                <a:cs typeface="Arial"/>
              </a:rPr>
              <a:t>38</a:t>
            </a:r>
            <a:endParaRPr sz="9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61491" y="1109700"/>
            <a:ext cx="3639185" cy="2226310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351155" indent="-338455">
              <a:lnSpc>
                <a:spcPct val="100000"/>
              </a:lnSpc>
              <a:spcBef>
                <a:spcPts val="1500"/>
              </a:spcBef>
              <a:buClr>
                <a:srgbClr val="3333CC"/>
              </a:buClr>
              <a:buSzPct val="58333"/>
              <a:buFont typeface="Arial"/>
              <a:buChar char="■"/>
              <a:tabLst>
                <a:tab pos="351155" algn="l"/>
              </a:tabLst>
            </a:pPr>
            <a:r>
              <a:rPr sz="2400" spc="-25" dirty="0">
                <a:solidFill>
                  <a:schemeClr val="bg1">
                    <a:lumMod val="85000"/>
                  </a:schemeClr>
                </a:solidFill>
                <a:latin typeface="Calibri"/>
                <a:cs typeface="Calibri"/>
              </a:rPr>
              <a:t>Foundations</a:t>
            </a:r>
            <a:r>
              <a:rPr sz="2400" spc="-50" dirty="0">
                <a:solidFill>
                  <a:schemeClr val="bg1">
                    <a:lumMod val="85000"/>
                  </a:schemeClr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bg1">
                    <a:lumMod val="85000"/>
                  </a:schemeClr>
                </a:solidFill>
                <a:latin typeface="Calibri"/>
                <a:cs typeface="Calibri"/>
              </a:rPr>
              <a:t>of</a:t>
            </a:r>
            <a:r>
              <a:rPr sz="2400" spc="-50" dirty="0">
                <a:solidFill>
                  <a:schemeClr val="bg1">
                    <a:lumMod val="85000"/>
                  </a:schemeClr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chemeClr val="bg1">
                    <a:lumMod val="85000"/>
                  </a:schemeClr>
                </a:solidFill>
                <a:latin typeface="Calibri"/>
                <a:cs typeface="Calibri"/>
              </a:rPr>
              <a:t>Flows</a:t>
            </a:r>
            <a:r>
              <a:rPr sz="2400" spc="-65" dirty="0">
                <a:solidFill>
                  <a:schemeClr val="bg1">
                    <a:lumMod val="85000"/>
                  </a:schemeClr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chemeClr val="bg1">
                    <a:lumMod val="85000"/>
                  </a:schemeClr>
                </a:solidFill>
                <a:latin typeface="Calibri"/>
                <a:cs typeface="Calibri"/>
              </a:rPr>
              <a:t>(1-D)</a:t>
            </a:r>
            <a:endParaRPr sz="2400" dirty="0">
              <a:solidFill>
                <a:schemeClr val="bg1">
                  <a:lumMod val="85000"/>
                </a:schemeClr>
              </a:solidFill>
              <a:latin typeface="Calibri"/>
              <a:cs typeface="Calibri"/>
            </a:endParaRPr>
          </a:p>
          <a:p>
            <a:pPr marL="351155" indent="-338455">
              <a:lnSpc>
                <a:spcPct val="100000"/>
              </a:lnSpc>
              <a:spcBef>
                <a:spcPts val="1405"/>
              </a:spcBef>
              <a:buClr>
                <a:srgbClr val="3333CC"/>
              </a:buClr>
              <a:buSzPct val="58333"/>
              <a:buFont typeface="Arial"/>
              <a:buChar char="■"/>
              <a:tabLst>
                <a:tab pos="351155" algn="l"/>
              </a:tabLst>
            </a:pPr>
            <a:r>
              <a:rPr sz="2400" b="1" i="1" spc="-30" dirty="0">
                <a:latin typeface="Calibri"/>
                <a:cs typeface="Calibri"/>
              </a:rPr>
              <a:t>2-</a:t>
            </a:r>
            <a:r>
              <a:rPr sz="2400" b="1" i="1" dirty="0">
                <a:latin typeface="Calibri"/>
                <a:cs typeface="Calibri"/>
              </a:rPr>
              <a:t>D</a:t>
            </a:r>
            <a:r>
              <a:rPr sz="2400" b="1" i="1" spc="15" dirty="0">
                <a:latin typeface="Calibri"/>
                <a:cs typeface="Calibri"/>
              </a:rPr>
              <a:t> </a:t>
            </a:r>
            <a:r>
              <a:rPr sz="2400" b="1" i="1" spc="-20" dirty="0">
                <a:latin typeface="Calibri"/>
                <a:cs typeface="Calibri"/>
              </a:rPr>
              <a:t>Flows</a:t>
            </a:r>
            <a:endParaRPr sz="2400" dirty="0">
              <a:latin typeface="Calibri"/>
              <a:cs typeface="Calibri"/>
            </a:endParaRPr>
          </a:p>
          <a:p>
            <a:pPr marL="351155" indent="-338455">
              <a:lnSpc>
                <a:spcPct val="100000"/>
              </a:lnSpc>
              <a:spcBef>
                <a:spcPts val="1500"/>
              </a:spcBef>
              <a:buClr>
                <a:srgbClr val="3333CC"/>
              </a:buClr>
              <a:buSzPct val="58333"/>
              <a:buFont typeface="Arial"/>
              <a:buChar char="■"/>
              <a:tabLst>
                <a:tab pos="351155" algn="l"/>
              </a:tabLst>
            </a:pPr>
            <a:r>
              <a:rPr sz="2400" spc="-50" dirty="0">
                <a:solidFill>
                  <a:srgbClr val="A6A6A6"/>
                </a:solidFill>
                <a:latin typeface="Calibri"/>
                <a:cs typeface="Calibri"/>
              </a:rPr>
              <a:t>N-</a:t>
            </a:r>
            <a:r>
              <a:rPr sz="2400" dirty="0">
                <a:solidFill>
                  <a:srgbClr val="A6A6A6"/>
                </a:solidFill>
                <a:latin typeface="Calibri"/>
                <a:cs typeface="Calibri"/>
              </a:rPr>
              <a:t>D</a:t>
            </a:r>
            <a:r>
              <a:rPr sz="2400" spc="1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A6A6A6"/>
                </a:solidFill>
                <a:latin typeface="Calibri"/>
                <a:cs typeface="Calibri"/>
              </a:rPr>
              <a:t>Flows</a:t>
            </a:r>
            <a:endParaRPr sz="2400" dirty="0">
              <a:latin typeface="Calibri"/>
              <a:cs typeface="Calibri"/>
            </a:endParaRPr>
          </a:p>
          <a:p>
            <a:pPr marL="351155" indent="-338455">
              <a:lnSpc>
                <a:spcPct val="100000"/>
              </a:lnSpc>
              <a:spcBef>
                <a:spcPts val="1500"/>
              </a:spcBef>
              <a:buClr>
                <a:srgbClr val="3333CC"/>
              </a:buClr>
              <a:buSzPct val="58333"/>
              <a:buFont typeface="Arial"/>
              <a:buChar char="■"/>
              <a:tabLst>
                <a:tab pos="351155" algn="l"/>
              </a:tabLst>
            </a:pPr>
            <a:r>
              <a:rPr sz="2400" spc="-10" dirty="0">
                <a:solidFill>
                  <a:srgbClr val="A6A6A6"/>
                </a:solidFill>
                <a:latin typeface="Calibri"/>
                <a:cs typeface="Calibri"/>
              </a:rPr>
              <a:t>Dequantization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07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08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319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2-</a:t>
            </a:r>
            <a:r>
              <a:rPr dirty="0"/>
              <a:t>D</a:t>
            </a:r>
            <a:r>
              <a:rPr spc="-100" dirty="0"/>
              <a:t> </a:t>
            </a:r>
            <a:r>
              <a:rPr spc="-20" dirty="0"/>
              <a:t>Autoregressive</a:t>
            </a:r>
            <a:r>
              <a:rPr spc="-70" dirty="0"/>
              <a:t> </a:t>
            </a:r>
            <a:r>
              <a:rPr spc="-20" dirty="0"/>
              <a:t>Flow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01496" y="1456944"/>
            <a:ext cx="2555748" cy="72999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4395" y="2684526"/>
            <a:ext cx="7809865" cy="1403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Note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dependence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x1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f_theta2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arbitrarily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complex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(including </a:t>
            </a:r>
            <a:r>
              <a:rPr sz="1800" spc="-25" dirty="0">
                <a:latin typeface="Calibri"/>
                <a:cs typeface="Calibri"/>
              </a:rPr>
              <a:t>any </a:t>
            </a:r>
            <a:r>
              <a:rPr sz="1800" spc="-10" dirty="0">
                <a:latin typeface="Calibri"/>
                <a:cs typeface="Calibri"/>
              </a:rPr>
              <a:t>neural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net),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invertibility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requirements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20" dirty="0">
                <a:latin typeface="Calibri"/>
                <a:cs typeface="Calibri"/>
              </a:rPr>
              <a:t>Why?</a:t>
            </a:r>
            <a:endParaRPr sz="18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x1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also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given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when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inverting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z2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x2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10555" y="1363980"/>
            <a:ext cx="3048000" cy="8382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42210" rIns="0" bIns="0" rtlCol="0">
            <a:spAutoFit/>
          </a:bodyPr>
          <a:lstStyle/>
          <a:p>
            <a:pPr marL="1898014">
              <a:lnSpc>
                <a:spcPts val="985"/>
              </a:lnSpc>
              <a:spcBef>
                <a:spcPts val="15"/>
              </a:spcBef>
            </a:pPr>
            <a:r>
              <a:rPr spc="-25" dirty="0"/>
              <a:t>39</a:t>
            </a:r>
          </a:p>
          <a:p>
            <a:pPr marL="1146810">
              <a:lnSpc>
                <a:spcPts val="865"/>
              </a:lnSpc>
            </a:pPr>
            <a:r>
              <a:rPr sz="800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00" b="1" spc="1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0F1141"/>
                </a:solidFill>
              </a:rPr>
              <a:t>Pilani,</a:t>
            </a:r>
            <a:r>
              <a:rPr sz="800" spc="65" dirty="0">
                <a:solidFill>
                  <a:srgbClr val="0F1141"/>
                </a:solidFill>
              </a:rPr>
              <a:t> </a:t>
            </a:r>
            <a:r>
              <a:rPr sz="800" dirty="0">
                <a:solidFill>
                  <a:srgbClr val="0F1141"/>
                </a:solidFill>
              </a:rPr>
              <a:t>Pilani</a:t>
            </a:r>
            <a:r>
              <a:rPr sz="800" spc="80" dirty="0">
                <a:solidFill>
                  <a:srgbClr val="0F1141"/>
                </a:solidFill>
              </a:rPr>
              <a:t> </a:t>
            </a:r>
            <a:r>
              <a:rPr sz="800" spc="-10" dirty="0">
                <a:solidFill>
                  <a:srgbClr val="0F1141"/>
                </a:solidFill>
              </a:rPr>
              <a:t>Campus</a:t>
            </a:r>
            <a:endParaRPr sz="800">
              <a:latin typeface="Arial"/>
              <a:cs typeface="Arial"/>
            </a:endParaRPr>
          </a:p>
        </p:txBody>
      </p:sp>
      <p:pic>
        <p:nvPicPr>
          <p:cNvPr id="109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06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07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108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319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</a:t>
            </a:r>
            <a:r>
              <a:rPr spc="-125" dirty="0"/>
              <a:t> </a:t>
            </a:r>
            <a:r>
              <a:rPr spc="-25" dirty="0"/>
              <a:t>2-</a:t>
            </a:r>
            <a:r>
              <a:rPr dirty="0"/>
              <a:t>D</a:t>
            </a:r>
            <a:r>
              <a:rPr spc="-105" dirty="0"/>
              <a:t> </a:t>
            </a:r>
            <a:r>
              <a:rPr spc="-20" dirty="0"/>
              <a:t>Autoregressive</a:t>
            </a:r>
            <a:r>
              <a:rPr spc="-100" dirty="0"/>
              <a:t> </a:t>
            </a:r>
            <a:r>
              <a:rPr spc="-20" dirty="0"/>
              <a:t>Flow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06851" y="1101852"/>
            <a:ext cx="2555748" cy="72999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33600" y="1962911"/>
            <a:ext cx="4290060" cy="275539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42210" rIns="0" bIns="0" rtlCol="0">
            <a:spAutoFit/>
          </a:bodyPr>
          <a:lstStyle/>
          <a:p>
            <a:pPr marL="1898014">
              <a:lnSpc>
                <a:spcPts val="985"/>
              </a:lnSpc>
              <a:spcBef>
                <a:spcPts val="15"/>
              </a:spcBef>
            </a:pPr>
            <a:r>
              <a:rPr spc="-25" dirty="0"/>
              <a:t>40</a:t>
            </a:r>
          </a:p>
          <a:p>
            <a:pPr marL="1146810">
              <a:lnSpc>
                <a:spcPts val="865"/>
              </a:lnSpc>
            </a:pPr>
            <a:r>
              <a:rPr sz="800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00" b="1" spc="1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0F1141"/>
                </a:solidFill>
              </a:rPr>
              <a:t>Pilani,</a:t>
            </a:r>
            <a:r>
              <a:rPr sz="800" spc="65" dirty="0">
                <a:solidFill>
                  <a:srgbClr val="0F1141"/>
                </a:solidFill>
              </a:rPr>
              <a:t> </a:t>
            </a:r>
            <a:r>
              <a:rPr sz="800" dirty="0">
                <a:solidFill>
                  <a:srgbClr val="0F1141"/>
                </a:solidFill>
              </a:rPr>
              <a:t>Pilani</a:t>
            </a:r>
            <a:r>
              <a:rPr sz="800" spc="80" dirty="0">
                <a:solidFill>
                  <a:srgbClr val="0F1141"/>
                </a:solidFill>
              </a:rPr>
              <a:t> </a:t>
            </a:r>
            <a:r>
              <a:rPr sz="800" spc="-10" dirty="0">
                <a:solidFill>
                  <a:srgbClr val="0F1141"/>
                </a:solidFill>
              </a:rPr>
              <a:t>Campus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06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07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108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319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Training</a:t>
            </a:r>
            <a:r>
              <a:rPr spc="-130" dirty="0"/>
              <a:t> </a:t>
            </a:r>
            <a:r>
              <a:rPr spc="-10" dirty="0"/>
              <a:t>Objective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78280" y="2372867"/>
            <a:ext cx="6092952" cy="21046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83992" y="1149096"/>
            <a:ext cx="2555748" cy="72999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42210" rIns="0" bIns="0" rtlCol="0">
            <a:spAutoFit/>
          </a:bodyPr>
          <a:lstStyle/>
          <a:p>
            <a:pPr marL="1898014">
              <a:lnSpc>
                <a:spcPts val="985"/>
              </a:lnSpc>
              <a:spcBef>
                <a:spcPts val="15"/>
              </a:spcBef>
            </a:pPr>
            <a:r>
              <a:rPr spc="-25" dirty="0"/>
              <a:t>41</a:t>
            </a:r>
          </a:p>
          <a:p>
            <a:pPr marL="1146810">
              <a:lnSpc>
                <a:spcPts val="865"/>
              </a:lnSpc>
            </a:pPr>
            <a:r>
              <a:rPr sz="800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00" b="1" spc="1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0F1141"/>
                </a:solidFill>
              </a:rPr>
              <a:t>Pilani,</a:t>
            </a:r>
            <a:r>
              <a:rPr sz="800" spc="65" dirty="0">
                <a:solidFill>
                  <a:srgbClr val="0F1141"/>
                </a:solidFill>
              </a:rPr>
              <a:t> </a:t>
            </a:r>
            <a:r>
              <a:rPr sz="800" dirty="0">
                <a:solidFill>
                  <a:srgbClr val="0F1141"/>
                </a:solidFill>
              </a:rPr>
              <a:t>Pilani</a:t>
            </a:r>
            <a:r>
              <a:rPr sz="800" spc="80" dirty="0">
                <a:solidFill>
                  <a:srgbClr val="0F1141"/>
                </a:solidFill>
              </a:rPr>
              <a:t> </a:t>
            </a:r>
            <a:r>
              <a:rPr sz="800" spc="-10" dirty="0">
                <a:solidFill>
                  <a:srgbClr val="0F1141"/>
                </a:solidFill>
              </a:rPr>
              <a:t>Campus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05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06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107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319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Autoregressive</a:t>
            </a:r>
            <a:r>
              <a:rPr spc="-95" dirty="0"/>
              <a:t> </a:t>
            </a:r>
            <a:r>
              <a:rPr spc="-20" dirty="0"/>
              <a:t>flows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88920" y="1200911"/>
            <a:ext cx="3566159" cy="317449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42210" rIns="0" bIns="0" rtlCol="0">
            <a:spAutoFit/>
          </a:bodyPr>
          <a:lstStyle/>
          <a:p>
            <a:pPr marL="1898014">
              <a:lnSpc>
                <a:spcPts val="985"/>
              </a:lnSpc>
              <a:spcBef>
                <a:spcPts val="15"/>
              </a:spcBef>
            </a:pPr>
            <a:r>
              <a:rPr spc="-25" dirty="0"/>
              <a:t>42</a:t>
            </a:r>
          </a:p>
          <a:p>
            <a:pPr marL="1146810">
              <a:lnSpc>
                <a:spcPts val="865"/>
              </a:lnSpc>
            </a:pPr>
            <a:r>
              <a:rPr sz="800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00" b="1" spc="1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0F1141"/>
                </a:solidFill>
              </a:rPr>
              <a:t>Pilani,</a:t>
            </a:r>
            <a:r>
              <a:rPr sz="800" spc="65" dirty="0">
                <a:solidFill>
                  <a:srgbClr val="0F1141"/>
                </a:solidFill>
              </a:rPr>
              <a:t> </a:t>
            </a:r>
            <a:r>
              <a:rPr sz="800" dirty="0">
                <a:solidFill>
                  <a:srgbClr val="0F1141"/>
                </a:solidFill>
              </a:rPr>
              <a:t>Pilani</a:t>
            </a:r>
            <a:r>
              <a:rPr sz="800" spc="80" dirty="0">
                <a:solidFill>
                  <a:srgbClr val="0F1141"/>
                </a:solidFill>
              </a:rPr>
              <a:t> </a:t>
            </a:r>
            <a:r>
              <a:rPr sz="800" spc="-10" dirty="0">
                <a:solidFill>
                  <a:srgbClr val="0F1141"/>
                </a:solidFill>
              </a:rPr>
              <a:t>Campus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10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0725" y="329895"/>
            <a:ext cx="6040755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2-</a:t>
            </a:r>
            <a:r>
              <a:rPr dirty="0"/>
              <a:t>D</a:t>
            </a:r>
            <a:r>
              <a:rPr spc="-105" dirty="0"/>
              <a:t> </a:t>
            </a:r>
            <a:r>
              <a:rPr spc="-20" dirty="0"/>
              <a:t>Autoregressive</a:t>
            </a:r>
            <a:r>
              <a:rPr spc="-100" dirty="0"/>
              <a:t> </a:t>
            </a:r>
            <a:r>
              <a:rPr dirty="0"/>
              <a:t>Flow:</a:t>
            </a:r>
            <a:r>
              <a:rPr spc="-95" dirty="0"/>
              <a:t> </a:t>
            </a:r>
            <a:r>
              <a:rPr spc="-20" dirty="0"/>
              <a:t>Two</a:t>
            </a:r>
            <a:r>
              <a:rPr spc="-130" dirty="0"/>
              <a:t> </a:t>
            </a:r>
            <a:r>
              <a:rPr spc="-10" dirty="0"/>
              <a:t>Moons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454" y="962659"/>
            <a:ext cx="5459730" cy="198310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500" spc="-10" dirty="0">
                <a:latin typeface="Calibri"/>
                <a:cs typeface="Calibri"/>
              </a:rPr>
              <a:t>Architecture:</a:t>
            </a:r>
            <a:endParaRPr sz="1500">
              <a:latin typeface="Calibri"/>
              <a:cs typeface="Calibri"/>
            </a:endParaRPr>
          </a:p>
          <a:p>
            <a:pPr marL="469265" indent="-269240">
              <a:lnSpc>
                <a:spcPct val="100000"/>
              </a:lnSpc>
              <a:spcBef>
                <a:spcPts val="500"/>
              </a:spcBef>
              <a:buClr>
                <a:srgbClr val="3333CC"/>
              </a:buClr>
              <a:buSzPct val="33333"/>
              <a:buFont typeface="Arial"/>
              <a:buChar char="■"/>
              <a:tabLst>
                <a:tab pos="469265" algn="l"/>
              </a:tabLst>
            </a:pPr>
            <a:r>
              <a:rPr sz="1500" dirty="0">
                <a:latin typeface="Calibri"/>
                <a:cs typeface="Calibri"/>
              </a:rPr>
              <a:t>Base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distribution: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Uniform[0,1]^2</a:t>
            </a:r>
            <a:endParaRPr sz="1500">
              <a:latin typeface="Calibri"/>
              <a:cs typeface="Calibri"/>
            </a:endParaRPr>
          </a:p>
          <a:p>
            <a:pPr marL="469265" indent="-269240">
              <a:lnSpc>
                <a:spcPct val="100000"/>
              </a:lnSpc>
              <a:buClr>
                <a:srgbClr val="3333CC"/>
              </a:buClr>
              <a:buSzPct val="33333"/>
              <a:buFont typeface="Arial"/>
              <a:buChar char="■"/>
              <a:tabLst>
                <a:tab pos="469265" algn="l"/>
              </a:tabLst>
            </a:pPr>
            <a:r>
              <a:rPr sz="1500" dirty="0">
                <a:latin typeface="Calibri"/>
                <a:cs typeface="Calibri"/>
              </a:rPr>
              <a:t>x1: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mixture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5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Gaussians</a:t>
            </a:r>
            <a:endParaRPr sz="1500">
              <a:latin typeface="Calibri"/>
              <a:cs typeface="Calibri"/>
            </a:endParaRPr>
          </a:p>
          <a:p>
            <a:pPr marL="926465" lvl="1" indent="-281305">
              <a:lnSpc>
                <a:spcPct val="100000"/>
              </a:lnSpc>
              <a:spcBef>
                <a:spcPts val="5"/>
              </a:spcBef>
              <a:buClr>
                <a:srgbClr val="FF0000"/>
              </a:buClr>
              <a:buSzPct val="46666"/>
              <a:buFont typeface="Arial"/>
              <a:buChar char="■"/>
              <a:tabLst>
                <a:tab pos="926465" algn="l"/>
              </a:tabLst>
            </a:pPr>
            <a:r>
              <a:rPr sz="1500" dirty="0">
                <a:latin typeface="Calibri"/>
                <a:cs typeface="Calibri"/>
              </a:rPr>
              <a:t>i.e.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z1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=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cdf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Mo5G</a:t>
            </a:r>
            <a:endParaRPr sz="1500">
              <a:latin typeface="Calibri"/>
              <a:cs typeface="Calibri"/>
            </a:endParaRPr>
          </a:p>
          <a:p>
            <a:pPr marL="469265" indent="-269240">
              <a:lnSpc>
                <a:spcPct val="100000"/>
              </a:lnSpc>
              <a:buClr>
                <a:srgbClr val="3333CC"/>
              </a:buClr>
              <a:buSzPct val="33333"/>
              <a:buFont typeface="Arial"/>
              <a:buChar char="■"/>
              <a:tabLst>
                <a:tab pos="469265" algn="l"/>
              </a:tabLst>
            </a:pPr>
            <a:r>
              <a:rPr sz="1500" dirty="0">
                <a:latin typeface="Calibri"/>
                <a:cs typeface="Calibri"/>
              </a:rPr>
              <a:t>x2: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mixture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5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Gaussians,</a:t>
            </a:r>
            <a:r>
              <a:rPr sz="1500" spc="-60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conditioned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on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x1</a:t>
            </a:r>
            <a:endParaRPr sz="1500">
              <a:latin typeface="Calibri"/>
              <a:cs typeface="Calibri"/>
            </a:endParaRPr>
          </a:p>
          <a:p>
            <a:pPr marL="926465" marR="5080" lvl="1" indent="-281940">
              <a:lnSpc>
                <a:spcPct val="100000"/>
              </a:lnSpc>
              <a:buClr>
                <a:srgbClr val="FF0000"/>
              </a:buClr>
              <a:buSzPct val="46666"/>
              <a:buFont typeface="Arial"/>
              <a:buChar char="■"/>
              <a:tabLst>
                <a:tab pos="926465" algn="l"/>
              </a:tabLst>
            </a:pPr>
            <a:r>
              <a:rPr sz="1500" dirty="0">
                <a:latin typeface="Calibri"/>
                <a:cs typeface="Calibri"/>
              </a:rPr>
              <a:t>I.e.</a:t>
            </a:r>
            <a:r>
              <a:rPr sz="1500" spc="-8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z2</a:t>
            </a:r>
            <a:r>
              <a:rPr sz="1500" spc="-7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=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cdf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Mo5G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with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mixture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weights</a:t>
            </a:r>
            <a:r>
              <a:rPr sz="1500" spc="-60" dirty="0">
                <a:latin typeface="Calibri"/>
                <a:cs typeface="Calibri"/>
              </a:rPr>
              <a:t> </a:t>
            </a:r>
            <a:r>
              <a:rPr sz="1500" spc="-114" dirty="0">
                <a:latin typeface="Calibri"/>
                <a:cs typeface="Calibri"/>
              </a:rPr>
              <a:t>w,</a:t>
            </a:r>
            <a:r>
              <a:rPr sz="1500" spc="-7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means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mu, </a:t>
            </a:r>
            <a:r>
              <a:rPr sz="1500" spc="-20" dirty="0">
                <a:latin typeface="Calibri"/>
                <a:cs typeface="Calibri"/>
              </a:rPr>
              <a:t>variances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sigma</a:t>
            </a:r>
            <a:r>
              <a:rPr sz="1500" spc="-20" dirty="0">
                <a:latin typeface="Calibri"/>
                <a:cs typeface="Calibri"/>
              </a:rPr>
              <a:t> conditioned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on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x1.</a:t>
            </a:r>
            <a:r>
              <a:rPr sz="1500" spc="3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I.e.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arbitrary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NN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can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be </a:t>
            </a:r>
            <a:r>
              <a:rPr sz="1500" spc="-20" dirty="0">
                <a:latin typeface="Calibri"/>
                <a:cs typeface="Calibri"/>
              </a:rPr>
              <a:t>trained</a:t>
            </a:r>
            <a:r>
              <a:rPr sz="1500" spc="-6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-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map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from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x1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spc="-120" dirty="0">
                <a:latin typeface="Calibri"/>
                <a:cs typeface="Calibri"/>
              </a:rPr>
              <a:t>w,</a:t>
            </a:r>
            <a:r>
              <a:rPr sz="1500" spc="-8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mu,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sigma</a:t>
            </a:r>
            <a:endParaRPr sz="15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7639" y="3072144"/>
            <a:ext cx="2857755" cy="138250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45535" y="3072144"/>
            <a:ext cx="2857755" cy="138250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23432" y="3034044"/>
            <a:ext cx="2857755" cy="138250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75832" y="1105207"/>
            <a:ext cx="2567625" cy="172486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42210" rIns="0" bIns="0" rtlCol="0">
            <a:spAutoFit/>
          </a:bodyPr>
          <a:lstStyle/>
          <a:p>
            <a:pPr marL="1898014">
              <a:lnSpc>
                <a:spcPts val="985"/>
              </a:lnSpc>
              <a:spcBef>
                <a:spcPts val="15"/>
              </a:spcBef>
            </a:pPr>
            <a:r>
              <a:rPr spc="-25" dirty="0"/>
              <a:t>43</a:t>
            </a:r>
          </a:p>
          <a:p>
            <a:pPr marL="1146810">
              <a:lnSpc>
                <a:spcPts val="865"/>
              </a:lnSpc>
            </a:pPr>
            <a:r>
              <a:rPr sz="800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00" b="1" spc="1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0F1141"/>
                </a:solidFill>
              </a:rPr>
              <a:t>Pilani,</a:t>
            </a:r>
            <a:r>
              <a:rPr sz="800" spc="65" dirty="0">
                <a:solidFill>
                  <a:srgbClr val="0F1141"/>
                </a:solidFill>
              </a:rPr>
              <a:t> </a:t>
            </a:r>
            <a:r>
              <a:rPr sz="800" dirty="0">
                <a:solidFill>
                  <a:srgbClr val="0F1141"/>
                </a:solidFill>
              </a:rPr>
              <a:t>Pilani</a:t>
            </a:r>
            <a:r>
              <a:rPr sz="800" spc="80" dirty="0">
                <a:solidFill>
                  <a:srgbClr val="0F1141"/>
                </a:solidFill>
              </a:rPr>
              <a:t> </a:t>
            </a:r>
            <a:r>
              <a:rPr sz="800" spc="-10" dirty="0">
                <a:solidFill>
                  <a:srgbClr val="0F1141"/>
                </a:solidFill>
              </a:rPr>
              <a:t>Campus</a:t>
            </a:r>
            <a:endParaRPr sz="800">
              <a:latin typeface="Arial"/>
              <a:cs typeface="Arial"/>
            </a:endParaRPr>
          </a:p>
        </p:txBody>
      </p:sp>
      <p:pic>
        <p:nvPicPr>
          <p:cNvPr id="111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pic>
        <p:nvPicPr>
          <p:cNvPr id="109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23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7802118" y="4967122"/>
            <a:ext cx="1285240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00" b="1" spc="1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0F1141"/>
                </a:solidFill>
                <a:latin typeface="Arial"/>
                <a:cs typeface="Arial"/>
              </a:rPr>
              <a:t>Pilani,</a:t>
            </a:r>
            <a:r>
              <a:rPr sz="800" spc="6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0F1141"/>
                </a:solidFill>
                <a:latin typeface="Arial"/>
                <a:cs typeface="Arial"/>
              </a:rPr>
              <a:t>Pilani</a:t>
            </a:r>
            <a:r>
              <a:rPr sz="800" spc="8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0F1141"/>
                </a:solidFill>
                <a:latin typeface="Arial"/>
                <a:cs typeface="Arial"/>
              </a:rPr>
              <a:t>Campus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495800" y="4911852"/>
            <a:ext cx="4648200" cy="38100"/>
            <a:chOff x="4495800" y="4911852"/>
            <a:chExt cx="4648200" cy="38100"/>
          </a:xfrm>
        </p:grpSpPr>
        <p:sp>
          <p:nvSpPr>
            <p:cNvPr id="4" name="object 4"/>
            <p:cNvSpPr/>
            <p:nvPr/>
          </p:nvSpPr>
          <p:spPr>
            <a:xfrm>
              <a:off x="4631436" y="4911852"/>
              <a:ext cx="2329180" cy="38100"/>
            </a:xfrm>
            <a:custGeom>
              <a:avLst/>
              <a:gdLst/>
              <a:ahLst/>
              <a:cxnLst/>
              <a:rect l="l" t="t" r="r" b="b"/>
              <a:pathLst>
                <a:path w="2329179" h="38100">
                  <a:moveTo>
                    <a:pt x="2328671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2328671" y="38100"/>
                  </a:lnTo>
                  <a:lnTo>
                    <a:pt x="2328671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908292" y="4911852"/>
              <a:ext cx="2235835" cy="35560"/>
            </a:xfrm>
            <a:custGeom>
              <a:avLst/>
              <a:gdLst/>
              <a:ahLst/>
              <a:cxnLst/>
              <a:rect l="l" t="t" r="r" b="b"/>
              <a:pathLst>
                <a:path w="2235834" h="35560">
                  <a:moveTo>
                    <a:pt x="2235707" y="0"/>
                  </a:moveTo>
                  <a:lnTo>
                    <a:pt x="0" y="0"/>
                  </a:lnTo>
                  <a:lnTo>
                    <a:pt x="0" y="35052"/>
                  </a:lnTo>
                  <a:lnTo>
                    <a:pt x="2235707" y="35052"/>
                  </a:lnTo>
                  <a:lnTo>
                    <a:pt x="2235707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95800" y="4914900"/>
              <a:ext cx="2329180" cy="35560"/>
            </a:xfrm>
            <a:custGeom>
              <a:avLst/>
              <a:gdLst/>
              <a:ahLst/>
              <a:cxnLst/>
              <a:rect l="l" t="t" r="r" b="b"/>
              <a:pathLst>
                <a:path w="2329179" h="35560">
                  <a:moveTo>
                    <a:pt x="2328672" y="0"/>
                  </a:moveTo>
                  <a:lnTo>
                    <a:pt x="0" y="0"/>
                  </a:lnTo>
                  <a:lnTo>
                    <a:pt x="0" y="35052"/>
                  </a:lnTo>
                  <a:lnTo>
                    <a:pt x="2328672" y="35052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15327" y="4914900"/>
              <a:ext cx="2329180" cy="35560"/>
            </a:xfrm>
            <a:custGeom>
              <a:avLst/>
              <a:gdLst/>
              <a:ahLst/>
              <a:cxnLst/>
              <a:rect l="l" t="t" r="r" b="b"/>
              <a:pathLst>
                <a:path w="2329179" h="35560">
                  <a:moveTo>
                    <a:pt x="2328672" y="0"/>
                  </a:moveTo>
                  <a:lnTo>
                    <a:pt x="0" y="0"/>
                  </a:lnTo>
                  <a:lnTo>
                    <a:pt x="0" y="35052"/>
                  </a:lnTo>
                  <a:lnTo>
                    <a:pt x="2328672" y="35052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29400" y="0"/>
            <a:ext cx="2194559" cy="519684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0" y="972311"/>
            <a:ext cx="7010400" cy="33655"/>
            <a:chOff x="0" y="972311"/>
            <a:chExt cx="7010400" cy="33655"/>
          </a:xfrm>
        </p:grpSpPr>
        <p:sp>
          <p:nvSpPr>
            <p:cNvPr id="10" name="object 10"/>
            <p:cNvSpPr/>
            <p:nvPr/>
          </p:nvSpPr>
          <p:spPr>
            <a:xfrm>
              <a:off x="2362200" y="972311"/>
              <a:ext cx="2329180" cy="33655"/>
            </a:xfrm>
            <a:custGeom>
              <a:avLst/>
              <a:gdLst/>
              <a:ahLst/>
              <a:cxnLst/>
              <a:rect l="l" t="t" r="r" b="b"/>
              <a:pathLst>
                <a:path w="2329179" h="33655">
                  <a:moveTo>
                    <a:pt x="2328672" y="0"/>
                  </a:moveTo>
                  <a:lnTo>
                    <a:pt x="0" y="0"/>
                  </a:lnTo>
                  <a:lnTo>
                    <a:pt x="0" y="33527"/>
                  </a:lnTo>
                  <a:lnTo>
                    <a:pt x="2328672" y="33527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972311"/>
              <a:ext cx="2362200" cy="33655"/>
            </a:xfrm>
            <a:custGeom>
              <a:avLst/>
              <a:gdLst/>
              <a:ahLst/>
              <a:cxnLst/>
              <a:rect l="l" t="t" r="r" b="b"/>
              <a:pathLst>
                <a:path w="2362200" h="33655">
                  <a:moveTo>
                    <a:pt x="2362200" y="0"/>
                  </a:moveTo>
                  <a:lnTo>
                    <a:pt x="0" y="0"/>
                  </a:lnTo>
                  <a:lnTo>
                    <a:pt x="0" y="33527"/>
                  </a:lnTo>
                  <a:lnTo>
                    <a:pt x="2362200" y="33527"/>
                  </a:lnTo>
                  <a:lnTo>
                    <a:pt x="23622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681728" y="972311"/>
              <a:ext cx="2329180" cy="33655"/>
            </a:xfrm>
            <a:custGeom>
              <a:avLst/>
              <a:gdLst/>
              <a:ahLst/>
              <a:cxnLst/>
              <a:rect l="l" t="t" r="r" b="b"/>
              <a:pathLst>
                <a:path w="2329179" h="33655">
                  <a:moveTo>
                    <a:pt x="2328672" y="0"/>
                  </a:moveTo>
                  <a:lnTo>
                    <a:pt x="0" y="0"/>
                  </a:lnTo>
                  <a:lnTo>
                    <a:pt x="0" y="33527"/>
                  </a:lnTo>
                  <a:lnTo>
                    <a:pt x="2328672" y="33527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319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2-</a:t>
            </a:r>
            <a:r>
              <a:rPr dirty="0"/>
              <a:t>D</a:t>
            </a:r>
            <a:r>
              <a:rPr spc="-114" dirty="0"/>
              <a:t> </a:t>
            </a:r>
            <a:r>
              <a:rPr spc="-20" dirty="0"/>
              <a:t>Autoregressive</a:t>
            </a:r>
            <a:r>
              <a:rPr spc="-90" dirty="0"/>
              <a:t> </a:t>
            </a:r>
            <a:r>
              <a:rPr dirty="0"/>
              <a:t>Flow:</a:t>
            </a:r>
            <a:r>
              <a:rPr spc="-110" dirty="0"/>
              <a:t> </a:t>
            </a:r>
            <a:r>
              <a:rPr spc="-20" dirty="0"/>
              <a:t>Face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553450" y="4857699"/>
            <a:ext cx="1473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878787"/>
                </a:solidFill>
                <a:latin typeface="Arial"/>
                <a:cs typeface="Arial"/>
              </a:rPr>
              <a:t>44</a:t>
            </a:r>
            <a:endParaRPr sz="9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31977" y="1031265"/>
            <a:ext cx="4875530" cy="130746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900" spc="-10" dirty="0">
                <a:latin typeface="Calibri"/>
                <a:cs typeface="Calibri"/>
              </a:rPr>
              <a:t>Architecture:</a:t>
            </a:r>
            <a:endParaRPr sz="1900">
              <a:latin typeface="Calibri"/>
              <a:cs typeface="Calibri"/>
            </a:endParaRPr>
          </a:p>
          <a:p>
            <a:pPr marL="469265" indent="-299720">
              <a:lnSpc>
                <a:spcPts val="2250"/>
              </a:lnSpc>
              <a:spcBef>
                <a:spcPts val="500"/>
              </a:spcBef>
              <a:buClr>
                <a:srgbClr val="3333CC"/>
              </a:buClr>
              <a:buSzPct val="47368"/>
              <a:buFont typeface="Arial"/>
              <a:buChar char="■"/>
              <a:tabLst>
                <a:tab pos="469265" algn="l"/>
              </a:tabLst>
            </a:pPr>
            <a:r>
              <a:rPr sz="1900" dirty="0">
                <a:latin typeface="Calibri"/>
                <a:cs typeface="Calibri"/>
              </a:rPr>
              <a:t>Base</a:t>
            </a:r>
            <a:r>
              <a:rPr sz="1900" spc="-70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distribution: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Uniform[0,1]^2</a:t>
            </a:r>
            <a:endParaRPr sz="1900">
              <a:latin typeface="Calibri"/>
              <a:cs typeface="Calibri"/>
            </a:endParaRPr>
          </a:p>
          <a:p>
            <a:pPr marL="469265" indent="-299720">
              <a:lnSpc>
                <a:spcPts val="2250"/>
              </a:lnSpc>
              <a:buClr>
                <a:srgbClr val="3333CC"/>
              </a:buClr>
              <a:buSzPct val="47368"/>
              <a:buFont typeface="Arial"/>
              <a:buChar char="■"/>
              <a:tabLst>
                <a:tab pos="469265" algn="l"/>
              </a:tabLst>
            </a:pPr>
            <a:r>
              <a:rPr sz="1900" dirty="0">
                <a:latin typeface="Calibri"/>
                <a:cs typeface="Calibri"/>
              </a:rPr>
              <a:t>x1: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mixture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8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5</a:t>
            </a:r>
            <a:r>
              <a:rPr sz="1900" spc="-7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Gaussians</a:t>
            </a:r>
            <a:endParaRPr sz="1900">
              <a:latin typeface="Calibri"/>
              <a:cs typeface="Calibri"/>
            </a:endParaRPr>
          </a:p>
          <a:p>
            <a:pPr marL="469265" indent="-299720">
              <a:lnSpc>
                <a:spcPct val="100000"/>
              </a:lnSpc>
              <a:spcBef>
                <a:spcPts val="30"/>
              </a:spcBef>
              <a:buClr>
                <a:srgbClr val="3333CC"/>
              </a:buClr>
              <a:buSzPct val="47368"/>
              <a:buFont typeface="Arial"/>
              <a:buChar char="■"/>
              <a:tabLst>
                <a:tab pos="469265" algn="l"/>
              </a:tabLst>
            </a:pPr>
            <a:r>
              <a:rPr sz="1900" dirty="0">
                <a:latin typeface="Calibri"/>
                <a:cs typeface="Calibri"/>
              </a:rPr>
              <a:t>x2: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mixture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7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5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Gaussians,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conditioned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on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x1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18" name="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77000" y="972311"/>
            <a:ext cx="2525268" cy="1795272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9728" y="3050777"/>
            <a:ext cx="2861855" cy="1381014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145535" y="3050777"/>
            <a:ext cx="2861855" cy="1381014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181344" y="3050777"/>
            <a:ext cx="2861855" cy="1381014"/>
          </a:xfrm>
          <a:prstGeom prst="rect">
            <a:avLst/>
          </a:prstGeom>
        </p:spPr>
      </p:pic>
      <p:pic>
        <p:nvPicPr>
          <p:cNvPr id="124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pic>
        <p:nvPicPr>
          <p:cNvPr id="122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07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08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109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319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Inverse</a:t>
            </a:r>
            <a:r>
              <a:rPr spc="-120" dirty="0"/>
              <a:t> </a:t>
            </a:r>
            <a:r>
              <a:rPr spc="-25" dirty="0"/>
              <a:t>autoregressive</a:t>
            </a:r>
            <a:r>
              <a:rPr spc="-75" dirty="0"/>
              <a:t> </a:t>
            </a:r>
            <a:r>
              <a:rPr spc="-10" dirty="0"/>
              <a:t>flows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2223" y="1107185"/>
            <a:ext cx="7572375" cy="179705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379730" marR="873125" indent="-367665">
              <a:lnSpc>
                <a:spcPts val="2100"/>
              </a:lnSpc>
              <a:spcBef>
                <a:spcPts val="219"/>
              </a:spcBef>
              <a:buClr>
                <a:srgbClr val="3333CC"/>
              </a:buClr>
              <a:buFont typeface="Arial"/>
              <a:buChar char="■"/>
              <a:tabLst>
                <a:tab pos="379730" algn="l"/>
              </a:tabLst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inverse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autoregressive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flow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also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75" dirty="0">
                <a:latin typeface="Calibri"/>
                <a:cs typeface="Calibri"/>
              </a:rPr>
              <a:t>flow,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called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inverse </a:t>
            </a:r>
            <a:r>
              <a:rPr sz="1800" b="1" spc="-25" dirty="0">
                <a:latin typeface="Calibri"/>
                <a:cs typeface="Calibri"/>
              </a:rPr>
              <a:t>autoregressive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flow</a:t>
            </a:r>
            <a:r>
              <a:rPr sz="1800" b="1" spc="30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(IAF)</a:t>
            </a:r>
            <a:endParaRPr sz="1800">
              <a:latin typeface="Calibri"/>
              <a:cs typeface="Calibri"/>
            </a:endParaRPr>
          </a:p>
          <a:p>
            <a:pPr marL="836930" lvl="1" indent="-367030">
              <a:lnSpc>
                <a:spcPct val="100000"/>
              </a:lnSpc>
              <a:spcBef>
                <a:spcPts val="1560"/>
              </a:spcBef>
              <a:buClr>
                <a:srgbClr val="FF0000"/>
              </a:buClr>
              <a:buFont typeface="Arial"/>
              <a:buChar char="■"/>
              <a:tabLst>
                <a:tab pos="836930" algn="l"/>
              </a:tabLst>
            </a:pPr>
            <a:r>
              <a:rPr sz="1800" b="1" dirty="0">
                <a:latin typeface="Calibri"/>
                <a:cs typeface="Calibri"/>
              </a:rPr>
              <a:t>x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Arial"/>
                <a:cs typeface="Arial"/>
              </a:rPr>
              <a:t>→</a:t>
            </a:r>
            <a:r>
              <a:rPr sz="1800" b="1" spc="-135" dirty="0">
                <a:latin typeface="Arial"/>
                <a:cs typeface="Arial"/>
              </a:rPr>
              <a:t> </a:t>
            </a:r>
            <a:r>
              <a:rPr sz="1800" b="1" dirty="0">
                <a:latin typeface="Calibri"/>
                <a:cs typeface="Calibri"/>
              </a:rPr>
              <a:t>z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same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structure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sampling</a:t>
            </a:r>
            <a:r>
              <a:rPr sz="1800" b="1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autoregressive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model</a:t>
            </a:r>
            <a:endParaRPr sz="1800">
              <a:latin typeface="Calibri"/>
              <a:cs typeface="Calibri"/>
            </a:endParaRPr>
          </a:p>
          <a:p>
            <a:pPr marL="836930" marR="746125" lvl="1" indent="-367665">
              <a:lnSpc>
                <a:spcPts val="2150"/>
              </a:lnSpc>
              <a:spcBef>
                <a:spcPts val="1675"/>
              </a:spcBef>
              <a:buClr>
                <a:srgbClr val="FF0000"/>
              </a:buClr>
              <a:buFont typeface="Arial"/>
              <a:buChar char="■"/>
              <a:tabLst>
                <a:tab pos="836930" algn="l"/>
              </a:tabLst>
            </a:pPr>
            <a:r>
              <a:rPr sz="1800" b="1" dirty="0">
                <a:latin typeface="Calibri"/>
                <a:cs typeface="Calibri"/>
              </a:rPr>
              <a:t>z</a:t>
            </a:r>
            <a:r>
              <a:rPr sz="1800" b="1" spc="-70" dirty="0">
                <a:latin typeface="Calibri"/>
                <a:cs typeface="Calibri"/>
              </a:rPr>
              <a:t> </a:t>
            </a:r>
            <a:r>
              <a:rPr sz="1800" b="1" dirty="0">
                <a:latin typeface="Arial"/>
                <a:cs typeface="Arial"/>
              </a:rPr>
              <a:t>→</a:t>
            </a:r>
            <a:r>
              <a:rPr sz="1800" b="1" spc="-130" dirty="0">
                <a:latin typeface="Arial"/>
                <a:cs typeface="Arial"/>
              </a:rPr>
              <a:t> </a:t>
            </a:r>
            <a:r>
              <a:rPr sz="1800" b="1" dirty="0">
                <a:latin typeface="Calibri"/>
                <a:cs typeface="Calibri"/>
              </a:rPr>
              <a:t>x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same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structure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log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likelihood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computation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an autoregressive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model.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So,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IAF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sampling</a:t>
            </a:r>
            <a:r>
              <a:rPr sz="1800" b="1" spc="-8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is</a:t>
            </a:r>
            <a:r>
              <a:rPr sz="1800" b="1" spc="-6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fast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86271" y="3350293"/>
            <a:ext cx="1961387" cy="103371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88235" y="3339090"/>
            <a:ext cx="1961388" cy="1062221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42210" rIns="0" bIns="0" rtlCol="0">
            <a:spAutoFit/>
          </a:bodyPr>
          <a:lstStyle/>
          <a:p>
            <a:pPr marL="1898014">
              <a:lnSpc>
                <a:spcPts val="985"/>
              </a:lnSpc>
              <a:spcBef>
                <a:spcPts val="15"/>
              </a:spcBef>
            </a:pPr>
            <a:r>
              <a:rPr spc="-25" dirty="0"/>
              <a:t>45</a:t>
            </a:r>
          </a:p>
          <a:p>
            <a:pPr marL="1146810">
              <a:lnSpc>
                <a:spcPts val="865"/>
              </a:lnSpc>
            </a:pPr>
            <a:r>
              <a:rPr sz="800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00" b="1" spc="1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0F1141"/>
                </a:solidFill>
              </a:rPr>
              <a:t>Pilani,</a:t>
            </a:r>
            <a:r>
              <a:rPr sz="800" spc="65" dirty="0">
                <a:solidFill>
                  <a:srgbClr val="0F1141"/>
                </a:solidFill>
              </a:rPr>
              <a:t> </a:t>
            </a:r>
            <a:r>
              <a:rPr sz="800" dirty="0">
                <a:solidFill>
                  <a:srgbClr val="0F1141"/>
                </a:solidFill>
              </a:rPr>
              <a:t>Pilani</a:t>
            </a:r>
            <a:r>
              <a:rPr sz="800" spc="80" dirty="0">
                <a:solidFill>
                  <a:srgbClr val="0F1141"/>
                </a:solidFill>
              </a:rPr>
              <a:t> </a:t>
            </a:r>
            <a:r>
              <a:rPr sz="800" spc="-10" dirty="0">
                <a:solidFill>
                  <a:srgbClr val="0F1141"/>
                </a:solidFill>
              </a:rPr>
              <a:t>Campus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11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grpSp>
        <p:nvGrpSpPr>
          <p:cNvPr id="2" name="object 2"/>
          <p:cNvGrpSpPr/>
          <p:nvPr/>
        </p:nvGrpSpPr>
        <p:grpSpPr>
          <a:xfrm>
            <a:off x="0" y="972311"/>
            <a:ext cx="8679180" cy="3251200"/>
            <a:chOff x="0" y="972311"/>
            <a:chExt cx="8679180" cy="3251200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2587" y="1048511"/>
              <a:ext cx="3567684" cy="317449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49011" y="1048511"/>
              <a:ext cx="3630167" cy="3174491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32891" y="69926"/>
            <a:ext cx="6680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0" spc="-25" dirty="0">
                <a:latin typeface="Arial"/>
                <a:cs typeface="Arial"/>
              </a:rPr>
              <a:t>AF</a:t>
            </a:r>
            <a:endParaRPr sz="40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42210" rIns="0" bIns="0" rtlCol="0">
            <a:spAutoFit/>
          </a:bodyPr>
          <a:lstStyle/>
          <a:p>
            <a:pPr marL="1898014">
              <a:lnSpc>
                <a:spcPts val="985"/>
              </a:lnSpc>
              <a:spcBef>
                <a:spcPts val="15"/>
              </a:spcBef>
            </a:pPr>
            <a:r>
              <a:rPr spc="-25" dirty="0"/>
              <a:t>46</a:t>
            </a:r>
          </a:p>
          <a:p>
            <a:pPr marL="1146810">
              <a:lnSpc>
                <a:spcPts val="865"/>
              </a:lnSpc>
            </a:pPr>
            <a:r>
              <a:rPr sz="800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00" b="1" spc="1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0F1141"/>
                </a:solidFill>
              </a:rPr>
              <a:t>Pilani,</a:t>
            </a:r>
            <a:r>
              <a:rPr sz="800" spc="65" dirty="0">
                <a:solidFill>
                  <a:srgbClr val="0F1141"/>
                </a:solidFill>
              </a:rPr>
              <a:t> </a:t>
            </a:r>
            <a:r>
              <a:rPr sz="800" dirty="0">
                <a:solidFill>
                  <a:srgbClr val="0F1141"/>
                </a:solidFill>
              </a:rPr>
              <a:t>Pilani</a:t>
            </a:r>
            <a:r>
              <a:rPr sz="800" spc="80" dirty="0">
                <a:solidFill>
                  <a:srgbClr val="0F1141"/>
                </a:solidFill>
              </a:rPr>
              <a:t> </a:t>
            </a:r>
            <a:r>
              <a:rPr sz="800" spc="-10" dirty="0">
                <a:solidFill>
                  <a:srgbClr val="0F1141"/>
                </a:solidFill>
              </a:rPr>
              <a:t>Campus</a:t>
            </a:r>
            <a:endParaRPr sz="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80075" y="57734"/>
            <a:ext cx="6711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5" dirty="0">
                <a:solidFill>
                  <a:srgbClr val="333399"/>
                </a:solidFill>
                <a:latin typeface="Calibri"/>
                <a:cs typeface="Calibri"/>
              </a:rPr>
              <a:t>IAF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96127" y="4228896"/>
            <a:ext cx="2072639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40" dirty="0">
                <a:latin typeface="Calibri"/>
                <a:cs typeface="Calibri"/>
              </a:rPr>
              <a:t>Training: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long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serial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chain</a:t>
            </a:r>
            <a:endParaRPr sz="1600">
              <a:latin typeface="Calibri"/>
              <a:cs typeface="Calibri"/>
            </a:endParaRPr>
          </a:p>
          <a:p>
            <a:pPr marL="88900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Calibri"/>
                <a:cs typeface="Calibri"/>
              </a:rPr>
              <a:t>Sampling: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parallel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/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fast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8352" y="4228896"/>
            <a:ext cx="219329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15875" algn="ctr">
              <a:lnSpc>
                <a:spcPct val="100000"/>
              </a:lnSpc>
              <a:spcBef>
                <a:spcPts val="95"/>
              </a:spcBef>
            </a:pPr>
            <a:r>
              <a:rPr sz="1600" spc="-40" dirty="0">
                <a:latin typeface="Calibri"/>
                <a:cs typeface="Calibri"/>
              </a:rPr>
              <a:t>Training: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parallel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/</a:t>
            </a:r>
            <a:r>
              <a:rPr sz="1600" spc="-20" dirty="0">
                <a:latin typeface="Calibri"/>
                <a:cs typeface="Calibri"/>
              </a:rPr>
              <a:t> fast</a:t>
            </a:r>
            <a:endParaRPr sz="1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Calibri"/>
                <a:cs typeface="Calibri"/>
              </a:rPr>
              <a:t>Sampling:</a:t>
            </a:r>
            <a:r>
              <a:rPr sz="1600" spc="-8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long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serial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chain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112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pic>
        <p:nvPicPr>
          <p:cNvPr id="110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Watermark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-211367" y="3057707"/>
            <a:ext cx="2497376" cy="2497376"/>
          </a:xfrm>
          <a:prstGeom prst="rect">
            <a:avLst/>
          </a:prstGeom>
        </p:spPr>
      </p:pic>
      <p:pic>
        <p:nvPicPr>
          <p:cNvPr id="118" name="Watermark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3072" y="3186243"/>
            <a:ext cx="2497376" cy="2497376"/>
          </a:xfrm>
          <a:prstGeom prst="rect">
            <a:avLst/>
          </a:prstGeom>
        </p:spPr>
      </p:pic>
      <p:pic>
        <p:nvPicPr>
          <p:cNvPr id="119" name="Watermark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490737"/>
            <a:ext cx="2497376" cy="2497376"/>
          </a:xfrm>
          <a:prstGeom prst="rect">
            <a:avLst/>
          </a:prstGeom>
        </p:spPr>
      </p:pic>
      <p:pic>
        <p:nvPicPr>
          <p:cNvPr id="120" name="Watermark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4121095">
            <a:off x="5975941" y="-294104"/>
            <a:ext cx="2497376" cy="2497376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7802118" y="4967122"/>
            <a:ext cx="1285240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800" b="1" spc="1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0F1141"/>
                </a:solidFill>
                <a:latin typeface="Arial"/>
                <a:cs typeface="Arial"/>
              </a:rPr>
              <a:t>Pilani,</a:t>
            </a:r>
            <a:r>
              <a:rPr sz="800" spc="65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0F1141"/>
                </a:solidFill>
                <a:latin typeface="Arial"/>
                <a:cs typeface="Arial"/>
              </a:rPr>
              <a:t>Pilani</a:t>
            </a:r>
            <a:r>
              <a:rPr sz="800" spc="8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0F1141"/>
                </a:solidFill>
                <a:latin typeface="Arial"/>
                <a:cs typeface="Arial"/>
              </a:rPr>
              <a:t>Campus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495800" y="4911852"/>
            <a:ext cx="4648200" cy="38100"/>
            <a:chOff x="4495800" y="4911852"/>
            <a:chExt cx="4648200" cy="38100"/>
          </a:xfrm>
        </p:grpSpPr>
        <p:sp>
          <p:nvSpPr>
            <p:cNvPr id="4" name="object 4"/>
            <p:cNvSpPr/>
            <p:nvPr/>
          </p:nvSpPr>
          <p:spPr>
            <a:xfrm>
              <a:off x="4631436" y="4911852"/>
              <a:ext cx="2329180" cy="38100"/>
            </a:xfrm>
            <a:custGeom>
              <a:avLst/>
              <a:gdLst/>
              <a:ahLst/>
              <a:cxnLst/>
              <a:rect l="l" t="t" r="r" b="b"/>
              <a:pathLst>
                <a:path w="2329179" h="38100">
                  <a:moveTo>
                    <a:pt x="2328671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2328671" y="38100"/>
                  </a:lnTo>
                  <a:lnTo>
                    <a:pt x="2328671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908292" y="4911852"/>
              <a:ext cx="2235835" cy="35560"/>
            </a:xfrm>
            <a:custGeom>
              <a:avLst/>
              <a:gdLst/>
              <a:ahLst/>
              <a:cxnLst/>
              <a:rect l="l" t="t" r="r" b="b"/>
              <a:pathLst>
                <a:path w="2235834" h="35560">
                  <a:moveTo>
                    <a:pt x="2235707" y="0"/>
                  </a:moveTo>
                  <a:lnTo>
                    <a:pt x="0" y="0"/>
                  </a:lnTo>
                  <a:lnTo>
                    <a:pt x="0" y="35052"/>
                  </a:lnTo>
                  <a:lnTo>
                    <a:pt x="2235707" y="35052"/>
                  </a:lnTo>
                  <a:lnTo>
                    <a:pt x="2235707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95800" y="4914900"/>
              <a:ext cx="2329180" cy="35560"/>
            </a:xfrm>
            <a:custGeom>
              <a:avLst/>
              <a:gdLst/>
              <a:ahLst/>
              <a:cxnLst/>
              <a:rect l="l" t="t" r="r" b="b"/>
              <a:pathLst>
                <a:path w="2329179" h="35560">
                  <a:moveTo>
                    <a:pt x="2328672" y="0"/>
                  </a:moveTo>
                  <a:lnTo>
                    <a:pt x="0" y="0"/>
                  </a:lnTo>
                  <a:lnTo>
                    <a:pt x="0" y="35052"/>
                  </a:lnTo>
                  <a:lnTo>
                    <a:pt x="2328672" y="35052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15327" y="4914900"/>
              <a:ext cx="2329180" cy="35560"/>
            </a:xfrm>
            <a:custGeom>
              <a:avLst/>
              <a:gdLst/>
              <a:ahLst/>
              <a:cxnLst/>
              <a:rect l="l" t="t" r="r" b="b"/>
              <a:pathLst>
                <a:path w="2329179" h="35560">
                  <a:moveTo>
                    <a:pt x="2328672" y="0"/>
                  </a:moveTo>
                  <a:lnTo>
                    <a:pt x="0" y="0"/>
                  </a:lnTo>
                  <a:lnTo>
                    <a:pt x="0" y="35052"/>
                  </a:lnTo>
                  <a:lnTo>
                    <a:pt x="2328672" y="35052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29400" y="0"/>
            <a:ext cx="2194559" cy="519684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0" y="972311"/>
            <a:ext cx="7010400" cy="33655"/>
            <a:chOff x="0" y="972311"/>
            <a:chExt cx="7010400" cy="33655"/>
          </a:xfrm>
        </p:grpSpPr>
        <p:sp>
          <p:nvSpPr>
            <p:cNvPr id="10" name="object 10"/>
            <p:cNvSpPr/>
            <p:nvPr/>
          </p:nvSpPr>
          <p:spPr>
            <a:xfrm>
              <a:off x="2362200" y="972311"/>
              <a:ext cx="2329180" cy="33655"/>
            </a:xfrm>
            <a:custGeom>
              <a:avLst/>
              <a:gdLst/>
              <a:ahLst/>
              <a:cxnLst/>
              <a:rect l="l" t="t" r="r" b="b"/>
              <a:pathLst>
                <a:path w="2329179" h="33655">
                  <a:moveTo>
                    <a:pt x="2328672" y="0"/>
                  </a:moveTo>
                  <a:lnTo>
                    <a:pt x="0" y="0"/>
                  </a:lnTo>
                  <a:lnTo>
                    <a:pt x="0" y="33527"/>
                  </a:lnTo>
                  <a:lnTo>
                    <a:pt x="2328672" y="33527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972311"/>
              <a:ext cx="2362200" cy="33655"/>
            </a:xfrm>
            <a:custGeom>
              <a:avLst/>
              <a:gdLst/>
              <a:ahLst/>
              <a:cxnLst/>
              <a:rect l="l" t="t" r="r" b="b"/>
              <a:pathLst>
                <a:path w="2362200" h="33655">
                  <a:moveTo>
                    <a:pt x="2362200" y="0"/>
                  </a:moveTo>
                  <a:lnTo>
                    <a:pt x="0" y="0"/>
                  </a:lnTo>
                  <a:lnTo>
                    <a:pt x="0" y="33527"/>
                  </a:lnTo>
                  <a:lnTo>
                    <a:pt x="2362200" y="33527"/>
                  </a:lnTo>
                  <a:lnTo>
                    <a:pt x="23622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681728" y="972311"/>
              <a:ext cx="2329180" cy="33655"/>
            </a:xfrm>
            <a:custGeom>
              <a:avLst/>
              <a:gdLst/>
              <a:ahLst/>
              <a:cxnLst/>
              <a:rect l="l" t="t" r="r" b="b"/>
              <a:pathLst>
                <a:path w="2329179" h="33655">
                  <a:moveTo>
                    <a:pt x="2328672" y="0"/>
                  </a:moveTo>
                  <a:lnTo>
                    <a:pt x="0" y="0"/>
                  </a:lnTo>
                  <a:lnTo>
                    <a:pt x="0" y="33527"/>
                  </a:lnTo>
                  <a:lnTo>
                    <a:pt x="2328672" y="33527"/>
                  </a:lnTo>
                  <a:lnTo>
                    <a:pt x="23286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319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AF</a:t>
            </a:r>
            <a:r>
              <a:rPr spc="-55" dirty="0"/>
              <a:t> </a:t>
            </a:r>
            <a:r>
              <a:rPr dirty="0"/>
              <a:t>vs</a:t>
            </a:r>
            <a:r>
              <a:rPr spc="-60" dirty="0"/>
              <a:t> </a:t>
            </a:r>
            <a:r>
              <a:rPr spc="-25" dirty="0"/>
              <a:t>IAF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553450" y="4857699"/>
            <a:ext cx="1473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878787"/>
                </a:solidFill>
                <a:latin typeface="Arial"/>
                <a:cs typeface="Arial"/>
              </a:rPr>
              <a:t>47</a:t>
            </a:r>
            <a:endParaRPr sz="900">
              <a:latin typeface="Arial"/>
              <a:cs typeface="Arial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1155" indent="-338455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58333"/>
              <a:buFont typeface="Arial"/>
              <a:buChar char="■"/>
              <a:tabLst>
                <a:tab pos="351155" algn="l"/>
              </a:tabLst>
            </a:pPr>
            <a:r>
              <a:rPr spc="-35" dirty="0"/>
              <a:t>Autoregressive</a:t>
            </a:r>
            <a:r>
              <a:rPr spc="-15" dirty="0"/>
              <a:t> </a:t>
            </a:r>
            <a:r>
              <a:rPr spc="-20" dirty="0"/>
              <a:t>flow</a:t>
            </a:r>
          </a:p>
          <a:p>
            <a:pPr marL="808355" lvl="1" indent="-312420">
              <a:lnSpc>
                <a:spcPct val="100000"/>
              </a:lnSpc>
              <a:spcBef>
                <a:spcPts val="25"/>
              </a:spcBef>
              <a:buClr>
                <a:srgbClr val="FF0000"/>
              </a:buClr>
              <a:buSzPct val="55000"/>
              <a:buFont typeface="Arial"/>
              <a:buChar char="■"/>
              <a:tabLst>
                <a:tab pos="808355" algn="l"/>
              </a:tabLst>
            </a:pPr>
            <a:r>
              <a:rPr sz="2000" b="1" spc="-20" dirty="0">
                <a:solidFill>
                  <a:srgbClr val="0000FF"/>
                </a:solidFill>
                <a:latin typeface="Calibri"/>
                <a:cs typeface="Calibri"/>
              </a:rPr>
              <a:t>Fast</a:t>
            </a:r>
            <a:r>
              <a:rPr sz="2000" b="1" spc="-8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evaluation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p(x)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for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arbitrary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x</a:t>
            </a:r>
            <a:endParaRPr sz="2000">
              <a:latin typeface="Calibri"/>
              <a:cs typeface="Calibri"/>
            </a:endParaRPr>
          </a:p>
          <a:p>
            <a:pPr marL="808355" lvl="1" indent="-312420">
              <a:lnSpc>
                <a:spcPts val="2350"/>
              </a:lnSpc>
              <a:buSzPct val="55000"/>
              <a:buFont typeface="Arial"/>
              <a:buChar char="■"/>
              <a:tabLst>
                <a:tab pos="808355" algn="l"/>
              </a:tabLst>
            </a:pP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Slow</a:t>
            </a:r>
            <a:r>
              <a:rPr sz="2000" b="1" spc="-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sampling</a:t>
            </a:r>
            <a:endParaRPr sz="2000">
              <a:latin typeface="Calibri"/>
              <a:cs typeface="Calibri"/>
            </a:endParaRPr>
          </a:p>
          <a:p>
            <a:pPr marL="351155" indent="-338455">
              <a:lnSpc>
                <a:spcPts val="2830"/>
              </a:lnSpc>
              <a:buClr>
                <a:srgbClr val="3333CC"/>
              </a:buClr>
              <a:buSzPct val="58333"/>
              <a:buFont typeface="Arial"/>
              <a:buChar char="■"/>
              <a:tabLst>
                <a:tab pos="351155" algn="l"/>
              </a:tabLst>
            </a:pPr>
            <a:r>
              <a:rPr spc="-40" dirty="0"/>
              <a:t>Inverse</a:t>
            </a:r>
            <a:r>
              <a:rPr spc="-60" dirty="0"/>
              <a:t> </a:t>
            </a:r>
            <a:r>
              <a:rPr spc="-35" dirty="0"/>
              <a:t>autoregressive</a:t>
            </a:r>
            <a:r>
              <a:rPr spc="-25" dirty="0"/>
              <a:t> </a:t>
            </a:r>
            <a:r>
              <a:rPr spc="-20" dirty="0"/>
              <a:t>flow</a:t>
            </a:r>
          </a:p>
          <a:p>
            <a:pPr marL="808355" lvl="1" indent="-312420">
              <a:lnSpc>
                <a:spcPct val="100000"/>
              </a:lnSpc>
              <a:spcBef>
                <a:spcPts val="220"/>
              </a:spcBef>
              <a:buSzPct val="55000"/>
              <a:buFont typeface="Arial"/>
              <a:buChar char="■"/>
              <a:tabLst>
                <a:tab pos="808355" algn="l"/>
              </a:tabLst>
            </a:pP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Slow</a:t>
            </a:r>
            <a:r>
              <a:rPr sz="2000" b="1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evaluation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p(x)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arbitrary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x,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training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directly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by</a:t>
            </a:r>
            <a:endParaRPr sz="2000">
              <a:latin typeface="Calibri"/>
              <a:cs typeface="Calibri"/>
            </a:endParaRPr>
          </a:p>
          <a:p>
            <a:pPr marL="808355">
              <a:lnSpc>
                <a:spcPts val="2355"/>
              </a:lnSpc>
            </a:pPr>
            <a:r>
              <a:rPr sz="2000" spc="-20" dirty="0"/>
              <a:t>maximum</a:t>
            </a:r>
            <a:r>
              <a:rPr sz="2000" spc="-65" dirty="0"/>
              <a:t> </a:t>
            </a:r>
            <a:r>
              <a:rPr sz="2000" spc="-25" dirty="0"/>
              <a:t>likelihood</a:t>
            </a:r>
            <a:r>
              <a:rPr sz="2000" spc="-50" dirty="0"/>
              <a:t> </a:t>
            </a:r>
            <a:r>
              <a:rPr sz="2000" dirty="0"/>
              <a:t>is</a:t>
            </a:r>
            <a:r>
              <a:rPr sz="2000" spc="-60" dirty="0"/>
              <a:t> </a:t>
            </a:r>
            <a:r>
              <a:rPr sz="2000" spc="-20" dirty="0"/>
              <a:t>slow.</a:t>
            </a:r>
            <a:endParaRPr sz="2000"/>
          </a:p>
          <a:p>
            <a:pPr marL="808355" lvl="1" indent="-312420">
              <a:lnSpc>
                <a:spcPts val="2355"/>
              </a:lnSpc>
              <a:buClr>
                <a:srgbClr val="FF0000"/>
              </a:buClr>
              <a:buSzPct val="55000"/>
              <a:buFont typeface="Arial"/>
              <a:buChar char="■"/>
              <a:tabLst>
                <a:tab pos="808355" algn="l"/>
              </a:tabLst>
            </a:pPr>
            <a:r>
              <a:rPr sz="2000" b="1" spc="-30" dirty="0">
                <a:solidFill>
                  <a:srgbClr val="0000FF"/>
                </a:solidFill>
                <a:latin typeface="Calibri"/>
                <a:cs typeface="Calibri"/>
              </a:rPr>
              <a:t>Fast</a:t>
            </a:r>
            <a:r>
              <a:rPr sz="2000" b="1" spc="-9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sampling</a:t>
            </a:r>
            <a:endParaRPr sz="2000">
              <a:latin typeface="Calibri"/>
              <a:cs typeface="Calibri"/>
            </a:endParaRPr>
          </a:p>
          <a:p>
            <a:pPr marL="808355" lvl="1" indent="-312420">
              <a:lnSpc>
                <a:spcPts val="2400"/>
              </a:lnSpc>
              <a:buClr>
                <a:srgbClr val="FF0000"/>
              </a:buClr>
              <a:buSzPct val="55000"/>
              <a:buFont typeface="Arial"/>
              <a:buChar char="■"/>
              <a:tabLst>
                <a:tab pos="808355" algn="l"/>
              </a:tabLst>
            </a:pPr>
            <a:r>
              <a:rPr sz="2000" b="1" spc="-10" dirty="0">
                <a:solidFill>
                  <a:srgbClr val="0000FF"/>
                </a:solidFill>
                <a:latin typeface="Calibri"/>
                <a:cs typeface="Calibri"/>
              </a:rPr>
              <a:t>Fast</a:t>
            </a:r>
            <a:r>
              <a:rPr sz="2000" b="1" spc="-8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evaluation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p(x)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x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sample</a:t>
            </a:r>
            <a:endParaRPr sz="2000">
              <a:latin typeface="Calibri"/>
              <a:cs typeface="Calibri"/>
            </a:endParaRPr>
          </a:p>
          <a:p>
            <a:pPr marL="351155" indent="-338455">
              <a:lnSpc>
                <a:spcPts val="2880"/>
              </a:lnSpc>
              <a:buClr>
                <a:srgbClr val="3333CC"/>
              </a:buClr>
              <a:buSzPct val="58333"/>
              <a:buFont typeface="Arial"/>
              <a:buChar char="■"/>
              <a:tabLst>
                <a:tab pos="351155" algn="l"/>
              </a:tabLst>
            </a:pPr>
            <a:r>
              <a:rPr spc="-20" dirty="0"/>
              <a:t>There</a:t>
            </a:r>
            <a:r>
              <a:rPr spc="-70" dirty="0"/>
              <a:t> </a:t>
            </a:r>
            <a:r>
              <a:rPr dirty="0"/>
              <a:t>are</a:t>
            </a:r>
            <a:r>
              <a:rPr spc="-70" dirty="0"/>
              <a:t> </a:t>
            </a:r>
            <a:r>
              <a:rPr dirty="0"/>
              <a:t>models</a:t>
            </a:r>
            <a:r>
              <a:rPr spc="-90" dirty="0"/>
              <a:t> </a:t>
            </a:r>
            <a:r>
              <a:rPr spc="-30" dirty="0"/>
              <a:t>(Parallel</a:t>
            </a:r>
            <a:r>
              <a:rPr spc="-105" dirty="0"/>
              <a:t> </a:t>
            </a:r>
            <a:r>
              <a:rPr spc="-50" dirty="0"/>
              <a:t>WaveNet,</a:t>
            </a:r>
            <a:r>
              <a:rPr spc="-114" dirty="0"/>
              <a:t> </a:t>
            </a:r>
            <a:r>
              <a:rPr spc="-25" dirty="0"/>
              <a:t>IAF-</a:t>
            </a:r>
            <a:r>
              <a:rPr spc="-45" dirty="0"/>
              <a:t>VAE)</a:t>
            </a:r>
            <a:r>
              <a:rPr spc="-80" dirty="0"/>
              <a:t> </a:t>
            </a:r>
            <a:r>
              <a:rPr dirty="0"/>
              <a:t>that</a:t>
            </a:r>
            <a:r>
              <a:rPr spc="-90" dirty="0"/>
              <a:t> </a:t>
            </a:r>
            <a:r>
              <a:rPr spc="-10" dirty="0"/>
              <a:t>exploit</a:t>
            </a:r>
          </a:p>
          <a:p>
            <a:pPr marL="351155">
              <a:lnSpc>
                <a:spcPct val="100000"/>
              </a:lnSpc>
              <a:spcBef>
                <a:spcPts val="30"/>
              </a:spcBef>
            </a:pPr>
            <a:r>
              <a:rPr spc="-50" dirty="0"/>
              <a:t>IAF’s</a:t>
            </a:r>
            <a:r>
              <a:rPr spc="-105" dirty="0"/>
              <a:t> </a:t>
            </a:r>
            <a:r>
              <a:rPr spc="-25" dirty="0"/>
              <a:t>fast</a:t>
            </a:r>
            <a:r>
              <a:rPr spc="-95" dirty="0"/>
              <a:t> </a:t>
            </a:r>
            <a:r>
              <a:rPr spc="-10" dirty="0"/>
              <a:t>sampling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1065</TotalTime>
  <Words>1594</Words>
  <Application>Microsoft Office PowerPoint</Application>
  <PresentationFormat>On-screen Show (16:9)</PresentationFormat>
  <Paragraphs>345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Arial</vt:lpstr>
      <vt:lpstr>Calibri</vt:lpstr>
      <vt:lpstr>Georgia</vt:lpstr>
      <vt:lpstr>Times New Roman</vt:lpstr>
      <vt:lpstr>Trebuchet MS</vt:lpstr>
      <vt:lpstr>Wingdings</vt:lpstr>
      <vt:lpstr>Office Theme</vt:lpstr>
      <vt:lpstr>BITS Pilani Pilani Campus</vt:lpstr>
      <vt:lpstr>Likelihood Based Model: Flow Models</vt:lpstr>
      <vt:lpstr>Lecture overview</vt:lpstr>
      <vt:lpstr>Overview</vt:lpstr>
      <vt:lpstr>Our Goal Today</vt:lpstr>
      <vt:lpstr>Quick Refresher: Probability Density Models</vt:lpstr>
      <vt:lpstr>How to fit a density model?</vt:lpstr>
      <vt:lpstr>Example Density Model: Mixtures of Gaussians</vt:lpstr>
      <vt:lpstr>PowerPoint Presentation</vt:lpstr>
      <vt:lpstr>Flows: Main Idea</vt:lpstr>
      <vt:lpstr>Change of Variables</vt:lpstr>
      <vt:lpstr>Change of Variable Density Needs to Be Normalized</vt:lpstr>
      <vt:lpstr>Flows: Training</vt:lpstr>
      <vt:lpstr>Flow Models: Training</vt:lpstr>
      <vt:lpstr>Flow Models: Examples</vt:lpstr>
      <vt:lpstr>Example: Flow to Gaussian z</vt:lpstr>
      <vt:lpstr>Example: Flow to Uniform z</vt:lpstr>
      <vt:lpstr>Example: Flow to Beta(5,5) z</vt:lpstr>
      <vt:lpstr>What do we need to keep in mind for f?</vt:lpstr>
      <vt:lpstr>Flows: Sampling</vt:lpstr>
      <vt:lpstr>1-D Flow Models Summary</vt:lpstr>
      <vt:lpstr>Aside: special case of a CDF and p(z) = U[0,1]</vt:lpstr>
      <vt:lpstr>Refresher: Cumulative Density Function (CDF)</vt:lpstr>
      <vt:lpstr>Sampling via inverse CDF</vt:lpstr>
      <vt:lpstr>PowerPoint Presentation</vt:lpstr>
      <vt:lpstr>CDF Flows: special case CDF and p(z) U[0,1]</vt:lpstr>
      <vt:lpstr>Practical Parameterizations of Flows</vt:lpstr>
      <vt:lpstr>How general are flows?</vt:lpstr>
      <vt:lpstr>How general are flows?</vt:lpstr>
      <vt:lpstr>Outline</vt:lpstr>
      <vt:lpstr>2-D Autoregressive Flow</vt:lpstr>
      <vt:lpstr>Example 2-D Autoregressive Flow</vt:lpstr>
      <vt:lpstr>Training Objective</vt:lpstr>
      <vt:lpstr>Autoregressive flows</vt:lpstr>
      <vt:lpstr>2-D Autoregressive Flow: Two Moons</vt:lpstr>
      <vt:lpstr>2-D Autoregressive Flow: Face</vt:lpstr>
      <vt:lpstr>Inverse autoregressive flows</vt:lpstr>
      <vt:lpstr>AF</vt:lpstr>
      <vt:lpstr>AF vs IAF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Biases and Fairness</dc:title>
  <dc:creator>bits</dc:creator>
  <cp:lastModifiedBy>Hema Medi</cp:lastModifiedBy>
  <cp:revision>6</cp:revision>
  <dcterms:created xsi:type="dcterms:W3CDTF">2025-11-29T11:16:01Z</dcterms:created>
  <dcterms:modified xsi:type="dcterms:W3CDTF">2026-08-30T08:51:14Z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2025-06-09T00:00:00Z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2025-11-29T00:00:00Z</vt:filetime>
  </property>
  <property fmtid="{D5CDD505-2E9C-101B-9397-08002B2CF9AE}" pid="5" name="Producer">
    <vt:lpwstr>3-Heights(TM) PDF Security Shell 4.8.25.2 (http://www.pdf-tools.com)</vt:lpwstr>
  </property>
</Properties>
</file>