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20.jpg" ContentType="image/jpg"/>
  <Override PartName="/ppt/media/image21.jpg" ContentType="image/jpg"/>
  <Override PartName="/ppt/ink/ink1.xml" ContentType="application/inkml+xml"/>
  <Override PartName="/ppt/media/image28.jpg" ContentType="image/jpg"/>
  <Override PartName="/ppt/media/image31.jpg" ContentType="image/jpg"/>
  <Override PartName="/ppt/media/image38.jpg" ContentType="image/jpg"/>
  <Override PartName="/ppt/media/image43.jpg" ContentType="image/jpg"/>
  <Override PartName="/ppt/media/image44.jpg" ContentType="image/jpg"/>
  <Override PartName="/ppt/media/image67.jpg" ContentType="image/jpg"/>
  <Override PartName="/ppt/media/image68.jpg" ContentType="image/jpg"/>
  <Override PartName="/ppt/ink/ink2.xml" ContentType="application/inkml+xml"/>
  <Override PartName="/ppt/ink/ink3.xml" ContentType="application/inkml+xml"/>
  <Override PartName="/ppt/media/image92.jpg" ContentType="image/jpg"/>
  <Override PartName="/ppt/media/image94.jpg" ContentType="image/jpg"/>
  <Override PartName="/ppt/media/image95.jpg" ContentType="image/jpg"/>
  <Override PartName="/ppt/media/image96.jpg" ContentType="image/jpg"/>
  <Override PartName="/ppt/media/image114.jpg" ContentType="image/jpg"/>
  <Override PartName="/ppt/media/image115.jpg" ContentType="image/jpg"/>
  <Override PartName="/ppt/media/image116.jpg" ContentType="image/jpg"/>
  <Override PartName="/ppt/media/image117.jpg" ContentType="image/jpg"/>
  <Override PartName="/ppt/media/image118.jpg" ContentType="image/jpg"/>
  <Override PartName="/ppt/media/image119.jpg" ContentType="image/jpg"/>
  <Override PartName="/ppt/media/image120.jpg" ContentType="image/jpg"/>
  <Override PartName="/ppt/media/image122.jpg" ContentType="image/jpg"/>
  <Override PartName="/ppt/media/image12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68" r:id="rId2"/>
  </p:sldMasterIdLst>
  <p:notesMasterIdLst>
    <p:notesMasterId r:id="rId69"/>
  </p:notesMasterIdLst>
  <p:sldIdLst>
    <p:sldId id="315" r:id="rId3"/>
    <p:sldId id="316" r:id="rId4"/>
    <p:sldId id="432" r:id="rId5"/>
    <p:sldId id="464" r:id="rId6"/>
    <p:sldId id="281" r:id="rId7"/>
    <p:sldId id="282" r:id="rId8"/>
    <p:sldId id="283" r:id="rId9"/>
    <p:sldId id="284" r:id="rId10"/>
    <p:sldId id="285" r:id="rId11"/>
    <p:sldId id="292" r:id="rId12"/>
    <p:sldId id="293" r:id="rId13"/>
    <p:sldId id="294" r:id="rId14"/>
    <p:sldId id="295" r:id="rId15"/>
    <p:sldId id="296" r:id="rId16"/>
    <p:sldId id="278" r:id="rId17"/>
    <p:sldId id="516" r:id="rId18"/>
    <p:sldId id="279" r:id="rId19"/>
    <p:sldId id="280" r:id="rId20"/>
    <p:sldId id="287" r:id="rId21"/>
    <p:sldId id="289" r:id="rId22"/>
    <p:sldId id="290" r:id="rId23"/>
    <p:sldId id="467" r:id="rId24"/>
    <p:sldId id="272" r:id="rId25"/>
    <p:sldId id="273" r:id="rId26"/>
    <p:sldId id="274" r:id="rId27"/>
    <p:sldId id="275" r:id="rId28"/>
    <p:sldId id="276" r:id="rId29"/>
    <p:sldId id="468" r:id="rId30"/>
    <p:sldId id="471" r:id="rId31"/>
    <p:sldId id="472" r:id="rId32"/>
    <p:sldId id="473" r:id="rId33"/>
    <p:sldId id="474" r:id="rId34"/>
    <p:sldId id="475" r:id="rId35"/>
    <p:sldId id="476" r:id="rId36"/>
    <p:sldId id="477" r:id="rId37"/>
    <p:sldId id="265" r:id="rId38"/>
    <p:sldId id="266" r:id="rId39"/>
    <p:sldId id="267" r:id="rId40"/>
    <p:sldId id="268" r:id="rId41"/>
    <p:sldId id="269" r:id="rId42"/>
    <p:sldId id="303" r:id="rId43"/>
    <p:sldId id="479" r:id="rId44"/>
    <p:sldId id="270" r:id="rId45"/>
    <p:sldId id="271" r:id="rId46"/>
    <p:sldId id="483" r:id="rId47"/>
    <p:sldId id="481" r:id="rId48"/>
    <p:sldId id="484" r:id="rId49"/>
    <p:sldId id="486" r:id="rId50"/>
    <p:sldId id="488" r:id="rId51"/>
    <p:sldId id="487" r:id="rId52"/>
    <p:sldId id="312" r:id="rId53"/>
    <p:sldId id="313" r:id="rId54"/>
    <p:sldId id="314" r:id="rId55"/>
    <p:sldId id="514" r:id="rId56"/>
    <p:sldId id="490" r:id="rId57"/>
    <p:sldId id="492" r:id="rId58"/>
    <p:sldId id="493" r:id="rId59"/>
    <p:sldId id="494" r:id="rId60"/>
    <p:sldId id="495" r:id="rId61"/>
    <p:sldId id="496" r:id="rId62"/>
    <p:sldId id="497" r:id="rId63"/>
    <p:sldId id="498" r:id="rId64"/>
    <p:sldId id="499" r:id="rId65"/>
    <p:sldId id="261" r:id="rId66"/>
    <p:sldId id="320" r:id="rId67"/>
    <p:sldId id="321" r:id="rId68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80182" autoAdjust="0"/>
  </p:normalViewPr>
  <p:slideViewPr>
    <p:cSldViewPr>
      <p:cViewPr varScale="1">
        <p:scale>
          <a:sx n="117" d="100"/>
          <a:sy n="117" d="100"/>
        </p:scale>
        <p:origin x="494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12-14T06:19:55.0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16338 5159 0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12-14T07:04:09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6376 12052 0,'14'0'78,"-1"0"-62,0 0-16,0 0 15,1 0-15,25 0 16,1 0-1,26 0 1</inkml:trace>
  <inkml:trace contextRef="#ctx0" brushRef="#br0" timeOffset="149.83">6456 12224 0,'0'0'0,"79"0"15</inkml:trace>
  <inkml:trace contextRef="#ctx0" brushRef="#br0" timeOffset="932.27">9432 12091 0,'0'0'0,"14"0"62,-1 0-46,0 0-1,27 0 1,13 0 0</inkml:trace>
  <inkml:trace contextRef="#ctx0" brushRef="#br0" timeOffset="1065.86">9604 12277 0,'0'0'0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12-14T07:07:30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3109 12105 0,'0'-27'47,"13"27"62,0 0-93,1 0-16,12 0 16,-13 0-1,0 0 1,-13 13 78</inkml:trace>
  <inkml:trace contextRef="#ctx0" brushRef="#br0" timeOffset="286.65">3016 12211 0,'80'-14'47,"-54"1"-32,1 13-15,-1 0 16</inkml:trace>
  <inkml:trace contextRef="#ctx0" brushRef="#br0" timeOffset="442.83">3122 12224 0,'0'0'0,"66"0"63</inkml:trace>
  <inkml:trace contextRef="#ctx0" brushRef="#br0" timeOffset="1484.74">7501 12171 0,'40'0'63,"-14"0"-63,14 13 15,26 0-15</inkml:trace>
  <inkml:trace contextRef="#ctx0" brushRef="#br0" timeOffset="1618.79">7580 12303 0,'0'0'15,"66"0"1,1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966F2-D852-4790-88BA-F937A7B6C53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7C2E1-0CBE-46AD-AE44-0D86F64F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Lecture-1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2" name="Google Shape;442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543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7"/>
          <p:cNvSpPr/>
          <p:nvPr/>
        </p:nvSpPr>
        <p:spPr>
          <a:xfrm>
            <a:off x="0" y="3211116"/>
            <a:ext cx="9144000" cy="19323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" name="Google Shape;35;p7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7"/>
          <p:cNvSpPr/>
          <p:nvPr/>
        </p:nvSpPr>
        <p:spPr>
          <a:xfrm>
            <a:off x="2882900" y="5081588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77"/>
          <p:cNvSpPr/>
          <p:nvPr/>
        </p:nvSpPr>
        <p:spPr>
          <a:xfrm>
            <a:off x="-12700" y="5081588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77"/>
          <p:cNvSpPr/>
          <p:nvPr/>
        </p:nvSpPr>
        <p:spPr>
          <a:xfrm>
            <a:off x="5778500" y="5081588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77"/>
          <p:cNvSpPr txBox="1"/>
          <p:nvPr/>
        </p:nvSpPr>
        <p:spPr>
          <a:xfrm>
            <a:off x="6858000" y="57150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77"/>
          <p:cNvSpPr txBox="1"/>
          <p:nvPr/>
        </p:nvSpPr>
        <p:spPr>
          <a:xfrm>
            <a:off x="7086600" y="87868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77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9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B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347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B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4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B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18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55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5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694" y="-43994"/>
            <a:ext cx="8876030" cy="670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UC</a:t>
            </a:r>
            <a:r>
              <a:rPr spc="-35" dirty="0"/>
              <a:t> </a:t>
            </a:r>
            <a:r>
              <a:rPr spc="-10" dirty="0"/>
              <a:t>Berkeley</a:t>
            </a:r>
            <a:r>
              <a:rPr spc="-30" dirty="0"/>
              <a:t> </a:t>
            </a:r>
            <a:r>
              <a:rPr spc="-10" dirty="0"/>
              <a:t>-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Spring</a:t>
            </a:r>
            <a:r>
              <a:rPr spc="-35" dirty="0"/>
              <a:t> </a:t>
            </a:r>
            <a:r>
              <a:rPr dirty="0"/>
              <a:t>2024</a:t>
            </a:r>
            <a:r>
              <a:rPr spc="-30" dirty="0"/>
              <a:t> </a:t>
            </a:r>
            <a:r>
              <a:rPr spc="-10" dirty="0"/>
              <a:t>-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Deep</a:t>
            </a:r>
            <a:r>
              <a:rPr spc="-35" dirty="0"/>
              <a:t> </a:t>
            </a:r>
            <a:r>
              <a:rPr dirty="0"/>
              <a:t>Unsupervised</a:t>
            </a:r>
            <a:r>
              <a:rPr spc="-30" dirty="0"/>
              <a:t> </a:t>
            </a:r>
            <a:r>
              <a:rPr dirty="0"/>
              <a:t>Learning</a:t>
            </a:r>
            <a:r>
              <a:rPr spc="-30" dirty="0"/>
              <a:t> </a:t>
            </a:r>
            <a:r>
              <a:rPr spc="-10" dirty="0"/>
              <a:t>-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Pieter</a:t>
            </a:r>
            <a:r>
              <a:rPr spc="-30" dirty="0"/>
              <a:t> </a:t>
            </a:r>
            <a:r>
              <a:rPr dirty="0"/>
              <a:t>Abbeel,</a:t>
            </a:r>
            <a:r>
              <a:rPr spc="-30" dirty="0"/>
              <a:t> </a:t>
            </a:r>
            <a:r>
              <a:rPr dirty="0"/>
              <a:t>Kevin</a:t>
            </a:r>
            <a:r>
              <a:rPr spc="-30" dirty="0"/>
              <a:t> </a:t>
            </a:r>
            <a:r>
              <a:rPr dirty="0"/>
              <a:t>Frans,</a:t>
            </a:r>
            <a:r>
              <a:rPr spc="-35" dirty="0"/>
              <a:t> </a:t>
            </a:r>
            <a:r>
              <a:rPr dirty="0"/>
              <a:t>Philipp</a:t>
            </a:r>
            <a:r>
              <a:rPr spc="-30" dirty="0"/>
              <a:t> </a:t>
            </a:r>
            <a:r>
              <a:rPr dirty="0"/>
              <a:t>Wu,</a:t>
            </a:r>
            <a:r>
              <a:rPr spc="-30" dirty="0"/>
              <a:t> </a:t>
            </a:r>
            <a:r>
              <a:rPr dirty="0"/>
              <a:t>Wilson</a:t>
            </a:r>
            <a:r>
              <a:rPr spc="-35" dirty="0"/>
              <a:t> </a:t>
            </a:r>
            <a:r>
              <a:rPr spc="-20" dirty="0"/>
              <a:t>Yan</a:t>
            </a:r>
            <a:r>
              <a:rPr spc="-30" dirty="0"/>
              <a:t> </a:t>
            </a:r>
            <a:r>
              <a:rPr spc="-10" dirty="0"/>
              <a:t>-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L3</a:t>
            </a:r>
            <a:r>
              <a:rPr spc="-35" dirty="0"/>
              <a:t> </a:t>
            </a:r>
            <a:r>
              <a:rPr dirty="0"/>
              <a:t>Flow</a:t>
            </a:r>
            <a:r>
              <a:rPr spc="-30" dirty="0"/>
              <a:t> </a:t>
            </a:r>
            <a:r>
              <a:rPr spc="-10" dirty="0"/>
              <a:t>Models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04592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644029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8132982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8-10-13-flow-models/#linear-algebra-basics-recap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udlbook/udlbook/tree/main/Notebooks/Chap16" TargetMode="External"/><Relationship Id="rId4" Type="http://schemas.openxmlformats.org/officeDocument/2006/relationships/hyperlink" Target="https://blog.evjang.com/2018/01/nf1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epmind.google/discover/blog/high-fidelity-speech-synthesis-with-wavenet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4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0.cs.ucl.ac.uk/staff/A.Sztrajman/webpage/blog/rnvp/rnvp.html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4" Type="http://schemas.openxmlformats.org/officeDocument/2006/relationships/customXml" Target="../ink/ink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jlkeng.io/posts/normalizing-flows-with-real-nvp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12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3.xml"/><Relationship Id="rId4" Type="http://schemas.openxmlformats.org/officeDocument/2006/relationships/image" Target="../media/image9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glow/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uvadlc-notebooks.readthedocs.io/en/latest/tutorial_notebooks/DL2/Advanced_Generative_Models/Normalizing_flows/advancednormflow.html" TargetMode="External"/><Relationship Id="rId4" Type="http://schemas.openxmlformats.org/officeDocument/2006/relationships/image" Target="../media/image94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7.png"/><Relationship Id="rId4" Type="http://schemas.openxmlformats.org/officeDocument/2006/relationships/image" Target="../media/image5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jpg"/><Relationship Id="rId4" Type="http://schemas.openxmlformats.org/officeDocument/2006/relationships/image" Target="../media/image115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jpg"/><Relationship Id="rId4" Type="http://schemas.openxmlformats.org/officeDocument/2006/relationships/image" Target="../media/image118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jp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53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53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54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Unsupervised Deep Learning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ZG533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54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54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54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444" name="Google Shape;444;p2"/>
          <p:cNvSpPr txBox="1">
            <a:spLocks noGrp="1"/>
          </p:cNvSpPr>
          <p:nvPr>
            <p:ph type="body" idx="1"/>
          </p:nvPr>
        </p:nvSpPr>
        <p:spPr>
          <a:xfrm>
            <a:off x="1371600" y="3314700"/>
            <a:ext cx="63436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85000" lnSpcReduction="20000"/>
          </a:bodyPr>
          <a:lstStyle/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Session 7</a:t>
            </a:r>
            <a:endParaRPr dirty="0"/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dirty="0"/>
          </a:p>
          <a:p>
            <a:pPr marL="0" marR="132398" indent="0">
              <a:lnSpc>
                <a:spcPct val="120000"/>
              </a:lnSpc>
              <a:spcBef>
                <a:spcPts val="878"/>
              </a:spcBef>
              <a:buSzPct val="100000"/>
            </a:pPr>
            <a:r>
              <a:rPr lang="en-US" sz="1950" b="0" dirty="0">
                <a:latin typeface="Calibri"/>
                <a:ea typeface="Calibri"/>
                <a:cs typeface="Calibri"/>
                <a:sym typeface="Calibri"/>
              </a:rPr>
              <a:t>These slides are prepared by the instructor, with grateful acknowledgement of many others who made  their course materials freely available online.</a:t>
            </a:r>
            <a:endParaRPr dirty="0"/>
          </a:p>
          <a:p>
            <a:pPr marL="0" indent="0">
              <a:lnSpc>
                <a:spcPct val="117083"/>
              </a:lnSpc>
              <a:buSzPct val="100000"/>
            </a:pPr>
            <a:endParaRPr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sz="27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4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5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6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FAAB7D-CE69-48D6-8FD6-876007D5C10F}"/>
              </a:ext>
            </a:extLst>
          </p:cNvPr>
          <p:cNvSpPr txBox="1"/>
          <p:nvPr/>
        </p:nvSpPr>
        <p:spPr>
          <a:xfrm>
            <a:off x="1600200" y="3257550"/>
            <a:ext cx="667362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Readings:</a:t>
            </a:r>
          </a:p>
          <a:p>
            <a:pPr marL="342900" indent="-342900">
              <a:buAutoNum type="arabicPeriod"/>
            </a:pPr>
            <a:r>
              <a:rPr lang="en-US" dirty="0"/>
              <a:t>Simon D. Prince, Understanding Deep Learning, Chapter 16</a:t>
            </a:r>
          </a:p>
          <a:p>
            <a:pPr marL="342900" indent="-342900">
              <a:buAutoNum type="arabicPeriod"/>
            </a:pPr>
            <a:r>
              <a:rPr lang="en-US" sz="1400" dirty="0">
                <a:hlinkClick r:id="rId3"/>
              </a:rPr>
              <a:t>Normalizing Flow Blog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IN" sz="1400" dirty="0">
                <a:hlinkClick r:id="rId4"/>
              </a:rPr>
              <a:t>Normalizing Flow Tutorial</a:t>
            </a:r>
            <a:endParaRPr lang="en-IN" sz="1400" dirty="0"/>
          </a:p>
          <a:p>
            <a:pPr marL="342900" indent="-342900">
              <a:buAutoNum type="arabicPeriod"/>
            </a:pPr>
            <a:r>
              <a:rPr lang="en-IN" sz="1400" spc="79" dirty="0">
                <a:solidFill>
                  <a:srgbClr val="000000"/>
                </a:solidFill>
                <a:hlinkClick r:id="rId5"/>
              </a:rPr>
              <a:t>https://github.com/udlbook/udlbook/tree/main/Notebooks/Chap16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ECB8A-40F0-4540-B82E-8E4A441D54CC}"/>
              </a:ext>
            </a:extLst>
          </p:cNvPr>
          <p:cNvSpPr txBox="1"/>
          <p:nvPr/>
        </p:nvSpPr>
        <p:spPr>
          <a:xfrm>
            <a:off x="2069880" y="1885950"/>
            <a:ext cx="5734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Likelihood Based Model: Flow Models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Lecture</a:t>
            </a:r>
            <a:r>
              <a:rPr lang="en-IN" spc="71" dirty="0"/>
              <a:t> </a:t>
            </a:r>
            <a:r>
              <a:rPr lang="en-IN" spc="-8" dirty="0"/>
              <a:t>overview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836">
              <a:spcBef>
                <a:spcPts val="75"/>
              </a:spcBef>
            </a:pPr>
            <a:r>
              <a:rPr spc="-19" dirty="0"/>
              <a:t>34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69" y="873633"/>
            <a:ext cx="7589520" cy="3232776"/>
          </a:xfrm>
          <a:prstGeom prst="rect">
            <a:avLst/>
          </a:prstGeom>
        </p:spPr>
        <p:txBody>
          <a:bodyPr vert="horz" wrap="square" lIns="0" tIns="173831" rIns="0" bIns="0" rtlCol="0">
            <a:spAutoFit/>
          </a:bodyPr>
          <a:lstStyle/>
          <a:p>
            <a:pPr marL="180499" indent="-170974">
              <a:spcBef>
                <a:spcPts val="1369"/>
              </a:spcBef>
              <a:buFont typeface="Arial"/>
              <a:buChar char="•"/>
              <a:tabLst>
                <a:tab pos="180499" algn="l"/>
              </a:tabLst>
            </a:pPr>
            <a:r>
              <a:rPr sz="210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Foundations</a:t>
            </a:r>
            <a:r>
              <a:rPr sz="2100" spc="-68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2100" spc="-71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100" spc="53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Flows</a:t>
            </a:r>
            <a:r>
              <a:rPr sz="2100" spc="-68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100" spc="-116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(1-</a:t>
            </a:r>
            <a:r>
              <a:rPr sz="2100" spc="-19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D)</a:t>
            </a:r>
            <a:endParaRPr sz="2100" dirty="0">
              <a:solidFill>
                <a:schemeClr val="bg1">
                  <a:lumMod val="75000"/>
                </a:schemeClr>
              </a:solidFill>
              <a:latin typeface="Trebuchet MS"/>
              <a:cs typeface="Trebuchet MS"/>
            </a:endParaRPr>
          </a:p>
          <a:p>
            <a:pPr marL="180499" indent="-170974">
              <a:spcBef>
                <a:spcPts val="1298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-75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2-</a:t>
            </a:r>
            <a:r>
              <a:rPr sz="2100" spc="217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D</a:t>
            </a:r>
            <a:r>
              <a:rPr sz="2100" spc="-38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Flows</a:t>
            </a:r>
            <a:endParaRPr sz="2100" dirty="0">
              <a:solidFill>
                <a:schemeClr val="bg1">
                  <a:lumMod val="75000"/>
                </a:schemeClr>
              </a:solidFill>
              <a:latin typeface="Trebuchet MS"/>
              <a:cs typeface="Trebuchet MS"/>
            </a:endParaRPr>
          </a:p>
          <a:p>
            <a:pPr marL="180499" indent="-170974">
              <a:spcBef>
                <a:spcPts val="1241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94" dirty="0">
                <a:latin typeface="Trebuchet MS"/>
                <a:cs typeface="Trebuchet MS"/>
              </a:rPr>
              <a:t>N-</a:t>
            </a:r>
            <a:r>
              <a:rPr sz="2100" spc="217" dirty="0">
                <a:latin typeface="Trebuchet MS"/>
                <a:cs typeface="Trebuchet MS"/>
              </a:rPr>
              <a:t>D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98" dirty="0">
                <a:latin typeface="Trebuchet MS"/>
                <a:cs typeface="Trebuchet MS"/>
              </a:rPr>
              <a:t>Flows</a:t>
            </a:r>
            <a:endParaRPr sz="2100" dirty="0">
              <a:latin typeface="Trebuchet MS"/>
              <a:cs typeface="Trebuchet MS"/>
            </a:endParaRPr>
          </a:p>
          <a:p>
            <a:pPr marL="523875" lvl="1" indent="-171450">
              <a:spcBef>
                <a:spcPts val="848"/>
              </a:spcBef>
              <a:buFont typeface="Carlito"/>
              <a:buChar char="–"/>
              <a:tabLst>
                <a:tab pos="523875" algn="l"/>
              </a:tabLst>
            </a:pPr>
            <a:r>
              <a:rPr sz="2100" spc="83" dirty="0">
                <a:latin typeface="Trebuchet MS"/>
                <a:cs typeface="Trebuchet MS"/>
              </a:rPr>
              <a:t>Autoregressive</a:t>
            </a:r>
            <a:r>
              <a:rPr sz="2100" spc="-41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Flows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94" dirty="0">
                <a:latin typeface="Trebuchet MS"/>
                <a:cs typeface="Trebuchet MS"/>
              </a:rPr>
              <a:t>and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68" dirty="0">
                <a:latin typeface="Trebuchet MS"/>
                <a:cs typeface="Trebuchet MS"/>
              </a:rPr>
              <a:t>Inverse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spc="83" dirty="0">
                <a:latin typeface="Trebuchet MS"/>
                <a:cs typeface="Trebuchet MS"/>
              </a:rPr>
              <a:t>Autoregressive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spc="98" dirty="0">
                <a:latin typeface="Trebuchet MS"/>
                <a:cs typeface="Trebuchet MS"/>
              </a:rPr>
              <a:t>Flows</a:t>
            </a:r>
            <a:endParaRPr sz="2100" dirty="0">
              <a:latin typeface="Trebuchet MS"/>
              <a:cs typeface="Trebuchet MS"/>
            </a:endParaRPr>
          </a:p>
          <a:p>
            <a:pPr marL="523875" lvl="1" indent="-171450">
              <a:spcBef>
                <a:spcPts val="934"/>
              </a:spcBef>
              <a:buFont typeface="Carlito"/>
              <a:buChar char="–"/>
              <a:tabLst>
                <a:tab pos="523875" algn="l"/>
              </a:tabLst>
            </a:pPr>
            <a:r>
              <a:rPr sz="2100" spc="38" dirty="0">
                <a:latin typeface="Trebuchet MS"/>
                <a:cs typeface="Trebuchet MS"/>
              </a:rPr>
              <a:t>RealNVP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-120" dirty="0">
                <a:latin typeface="Trebuchet MS"/>
                <a:cs typeface="Trebuchet MS"/>
              </a:rPr>
              <a:t>(like)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architectures</a:t>
            </a:r>
            <a:endParaRPr sz="2100" dirty="0">
              <a:latin typeface="Trebuchet MS"/>
              <a:cs typeface="Trebuchet MS"/>
            </a:endParaRPr>
          </a:p>
          <a:p>
            <a:pPr marL="523875" lvl="1" indent="-171450">
              <a:spcBef>
                <a:spcPts val="848"/>
              </a:spcBef>
              <a:buFont typeface="Carlito"/>
              <a:buChar char="–"/>
              <a:tabLst>
                <a:tab pos="523875" algn="l"/>
              </a:tabLst>
            </a:pPr>
            <a:r>
              <a:rPr dirty="0">
                <a:latin typeface="Trebuchet MS"/>
                <a:cs typeface="Trebuchet MS"/>
              </a:rPr>
              <a:t>Glow,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64" dirty="0">
                <a:latin typeface="Trebuchet MS"/>
                <a:cs typeface="Trebuchet MS"/>
              </a:rPr>
              <a:t>Flow++,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109" dirty="0">
                <a:latin typeface="Trebuchet MS"/>
                <a:cs typeface="Trebuchet MS"/>
              </a:rPr>
              <a:t>FFJORD</a:t>
            </a:r>
            <a:endParaRPr dirty="0">
              <a:latin typeface="Trebuchet MS"/>
              <a:cs typeface="Trebuchet MS"/>
            </a:endParaRPr>
          </a:p>
          <a:p>
            <a:pPr marL="180499" indent="-170974">
              <a:spcBef>
                <a:spcPts val="1241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-8" dirty="0">
                <a:latin typeface="Trebuchet MS"/>
                <a:cs typeface="Trebuchet MS"/>
              </a:rPr>
              <a:t>Dequantization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D8BDF0-44CD-494A-AD50-B6665CE3A4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2-</a:t>
            </a:r>
            <a:r>
              <a:rPr lang="en-IN" dirty="0"/>
              <a:t>D</a:t>
            </a:r>
            <a:r>
              <a:rPr lang="en-IN" spc="-95" dirty="0"/>
              <a:t> </a:t>
            </a:r>
            <a:r>
              <a:rPr lang="en-IN" spc="-10" dirty="0"/>
              <a:t>Autoregressive</a:t>
            </a:r>
            <a:r>
              <a:rPr lang="en-IN" spc="-90" dirty="0"/>
              <a:t> </a:t>
            </a:r>
            <a:r>
              <a:rPr lang="en-IN" spc="-20" dirty="0"/>
              <a:t>Flow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159" y="1160278"/>
            <a:ext cx="2556514" cy="730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74799" y="2402701"/>
                <a:ext cx="7896859" cy="142673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dirty="0">
                    <a:latin typeface="Calibri"/>
                    <a:cs typeface="Calibri"/>
                  </a:rPr>
                  <a:t>Note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that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the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spc="-10" dirty="0">
                    <a:latin typeface="Calibri"/>
                    <a:cs typeface="Calibri"/>
                  </a:rPr>
                  <a:t>dependence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on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x1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in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pc="-4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1800" b="0" i="1" spc="-40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i="1" spc="-4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i="1" spc="-40">
                                <a:latin typeface="Cambria Math" panose="02040503050406030204" pitchFamily="18" charset="0"/>
                                <a:cs typeface="Calibri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spc="-4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latin typeface="Calibri"/>
                    <a:cs typeface="Calibri"/>
                  </a:rPr>
                  <a:t>can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be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arbitrarily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spc="-10" dirty="0">
                    <a:latin typeface="Calibri"/>
                    <a:cs typeface="Calibri"/>
                  </a:rPr>
                  <a:t>complex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spc="-10" dirty="0">
                    <a:latin typeface="Calibri"/>
                    <a:cs typeface="Calibri"/>
                  </a:rPr>
                  <a:t>(including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spc="-25" dirty="0">
                    <a:latin typeface="Calibri"/>
                    <a:cs typeface="Calibri"/>
                  </a:rPr>
                  <a:t>any </a:t>
                </a:r>
                <a:r>
                  <a:rPr lang="en-US" sz="1800" dirty="0">
                    <a:latin typeface="Calibri"/>
                    <a:cs typeface="Calibri"/>
                  </a:rPr>
                  <a:t>neural</a:t>
                </a:r>
                <a:r>
                  <a:rPr lang="en-US" sz="1800" spc="-5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net),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no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spc="-10" dirty="0">
                    <a:latin typeface="Calibri"/>
                    <a:cs typeface="Calibri"/>
                  </a:rPr>
                  <a:t>invertibility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spc="-10" dirty="0">
                    <a:latin typeface="Calibri"/>
                    <a:cs typeface="Calibri"/>
                  </a:rPr>
                  <a:t>requirements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160"/>
                  </a:spcBef>
                </a:pPr>
                <a:r>
                  <a:rPr lang="en-US" sz="1800" spc="-20" dirty="0">
                    <a:latin typeface="Calibri"/>
                    <a:cs typeface="Calibri"/>
                  </a:rPr>
                  <a:t>Why?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469265">
                  <a:lnSpc>
                    <a:spcPct val="100000"/>
                  </a:lnSpc>
                </a:pPr>
                <a:r>
                  <a:rPr lang="en-US" sz="1800" dirty="0">
                    <a:latin typeface="Calibri"/>
                    <a:cs typeface="Calibri"/>
                  </a:rPr>
                  <a:t>x1</a:t>
                </a:r>
                <a:r>
                  <a:rPr lang="en-US" sz="1800" spc="-45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is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also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given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when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spc="-10" dirty="0">
                    <a:latin typeface="Calibri"/>
                    <a:cs typeface="Calibri"/>
                  </a:rPr>
                  <a:t>inverting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from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z2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dirty="0">
                    <a:latin typeface="Calibri"/>
                    <a:cs typeface="Calibri"/>
                  </a:rPr>
                  <a:t>to</a:t>
                </a:r>
                <a:r>
                  <a:rPr lang="en-US" sz="1800" spc="-40" dirty="0">
                    <a:latin typeface="Calibri"/>
                    <a:cs typeface="Calibri"/>
                  </a:rPr>
                  <a:t> </a:t>
                </a:r>
                <a:r>
                  <a:rPr lang="en-US" sz="1800" spc="-25" dirty="0">
                    <a:latin typeface="Calibri"/>
                    <a:cs typeface="Calibri"/>
                  </a:rPr>
                  <a:t>x2</a:t>
                </a:r>
                <a:endParaRPr sz="1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99" y="2402701"/>
                <a:ext cx="7896859" cy="1426737"/>
              </a:xfrm>
              <a:prstGeom prst="rect">
                <a:avLst/>
              </a:prstGeom>
              <a:blipFill>
                <a:blip r:embed="rId5"/>
                <a:stretch>
                  <a:fillRect l="-1620" t="-4274" r="-1620" b="-94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10214" y="1068310"/>
            <a:ext cx="3047993" cy="838198"/>
          </a:xfrm>
          <a:prstGeom prst="rect">
            <a:avLst/>
          </a:prstGeom>
        </p:spPr>
      </p:pic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7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C6E6C4-AD3A-409C-ACA3-6CD4D6FE3EA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Example</a:t>
            </a:r>
            <a:r>
              <a:rPr lang="en-IN" spc="-110" dirty="0"/>
              <a:t> </a:t>
            </a:r>
            <a:r>
              <a:rPr lang="en-IN" spc="-10" dirty="0"/>
              <a:t>2-</a:t>
            </a:r>
            <a:r>
              <a:rPr lang="en-IN" dirty="0"/>
              <a:t>D</a:t>
            </a:r>
            <a:r>
              <a:rPr lang="en-IN" spc="-110" dirty="0"/>
              <a:t> </a:t>
            </a:r>
            <a:r>
              <a:rPr lang="en-IN" spc="-10" dirty="0"/>
              <a:t>Autoregressive</a:t>
            </a:r>
            <a:r>
              <a:rPr lang="en-IN" spc="-105" dirty="0"/>
              <a:t> </a:t>
            </a:r>
            <a:r>
              <a:rPr lang="en-IN" spc="-20" dirty="0"/>
              <a:t>Flow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6230" y="1123950"/>
            <a:ext cx="2556514" cy="7304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6695" y="1949056"/>
            <a:ext cx="4290591" cy="275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3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8EEEF0-A52E-468B-BFA2-32A13926E8B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0" dirty="0"/>
              <a:t>Training</a:t>
            </a:r>
            <a:r>
              <a:rPr lang="en-IN" spc="-160" dirty="0"/>
              <a:t> </a:t>
            </a:r>
            <a:r>
              <a:rPr lang="en-IN" spc="-10" dirty="0"/>
              <a:t>Objective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8645" y="2425354"/>
            <a:ext cx="6092043" cy="21032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3605" y="1200150"/>
            <a:ext cx="2556514" cy="73043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0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19CD79-F922-45C7-8C54-F620493016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2400" y="176817"/>
            <a:ext cx="6629400" cy="857250"/>
          </a:xfrm>
        </p:spPr>
        <p:txBody>
          <a:bodyPr>
            <a:normAutofit/>
          </a:bodyPr>
          <a:lstStyle/>
          <a:p>
            <a:r>
              <a:rPr lang="en-US" spc="-10" dirty="0"/>
              <a:t>2-</a:t>
            </a:r>
            <a:r>
              <a:rPr lang="en-US" dirty="0"/>
              <a:t>D</a:t>
            </a:r>
            <a:r>
              <a:rPr lang="en-US" spc="-110" dirty="0"/>
              <a:t> </a:t>
            </a:r>
            <a:r>
              <a:rPr lang="en-US" spc="-10" dirty="0"/>
              <a:t>Autoregressive</a:t>
            </a:r>
            <a:r>
              <a:rPr lang="en-US" spc="-110" dirty="0"/>
              <a:t> </a:t>
            </a:r>
            <a:r>
              <a:rPr lang="en-US" dirty="0"/>
              <a:t>Flow:</a:t>
            </a:r>
            <a:r>
              <a:rPr lang="en-US" spc="-110" dirty="0"/>
              <a:t> </a:t>
            </a:r>
            <a:r>
              <a:rPr lang="en-US" spc="-35" dirty="0"/>
              <a:t>Two</a:t>
            </a:r>
            <a:r>
              <a:rPr lang="en-US" spc="-110" dirty="0"/>
              <a:t> </a:t>
            </a:r>
            <a:r>
              <a:rPr lang="en-US" spc="-10" dirty="0"/>
              <a:t>Moons</a:t>
            </a:r>
            <a:endParaRPr lang="en-IN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93098" y="1000503"/>
            <a:ext cx="5520690" cy="196468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500" spc="-10" dirty="0">
                <a:latin typeface="Calibri"/>
                <a:cs typeface="Calibri"/>
              </a:rPr>
              <a:t>Architecture:</a:t>
            </a:r>
            <a:endParaRPr sz="1500" dirty="0">
              <a:latin typeface="Calibri"/>
              <a:cs typeface="Calibri"/>
            </a:endParaRPr>
          </a:p>
          <a:p>
            <a:pPr marL="469265" indent="-269875">
              <a:lnSpc>
                <a:spcPts val="1785"/>
              </a:lnSpc>
              <a:spcBef>
                <a:spcPts val="450"/>
              </a:spcBef>
              <a:buClr>
                <a:srgbClr val="3333CC"/>
              </a:buClr>
              <a:buSzPct val="33333"/>
              <a:buFont typeface="Arial"/>
              <a:buChar char="■"/>
              <a:tabLst>
                <a:tab pos="469265" algn="l"/>
              </a:tabLst>
            </a:pPr>
            <a:r>
              <a:rPr sz="1500" dirty="0">
                <a:latin typeface="Calibri"/>
                <a:cs typeface="Calibri"/>
              </a:rPr>
              <a:t>Base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distribution: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Uniform[0,1]^2</a:t>
            </a:r>
            <a:endParaRPr sz="1500" dirty="0">
              <a:latin typeface="Calibri"/>
              <a:cs typeface="Calibri"/>
            </a:endParaRPr>
          </a:p>
          <a:p>
            <a:pPr marL="469265" indent="-269875">
              <a:lnSpc>
                <a:spcPts val="1785"/>
              </a:lnSpc>
              <a:buClr>
                <a:srgbClr val="3333CC"/>
              </a:buClr>
              <a:buSzPct val="33333"/>
              <a:buFont typeface="Arial"/>
              <a:buChar char="■"/>
              <a:tabLst>
                <a:tab pos="469265" algn="l"/>
              </a:tabLst>
            </a:pPr>
            <a:r>
              <a:rPr sz="1500" dirty="0">
                <a:latin typeface="Calibri"/>
                <a:cs typeface="Calibri"/>
              </a:rPr>
              <a:t>x1: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mixture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Gaussians</a:t>
            </a:r>
            <a:endParaRPr sz="1500" dirty="0">
              <a:latin typeface="Calibri"/>
              <a:cs typeface="Calibri"/>
            </a:endParaRPr>
          </a:p>
          <a:p>
            <a:pPr marL="926465" lvl="1" indent="-281940">
              <a:lnSpc>
                <a:spcPct val="100000"/>
              </a:lnSpc>
              <a:buClr>
                <a:srgbClr val="FF0000"/>
              </a:buClr>
              <a:buSzPct val="46666"/>
              <a:buFont typeface="Arial"/>
              <a:buChar char="■"/>
              <a:tabLst>
                <a:tab pos="926465" algn="l"/>
              </a:tabLst>
            </a:pPr>
            <a:r>
              <a:rPr sz="1500" dirty="0">
                <a:latin typeface="Calibri"/>
                <a:cs typeface="Calibri"/>
              </a:rPr>
              <a:t>i.e.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z1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cdf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Mo5G</a:t>
            </a:r>
            <a:endParaRPr sz="1500" dirty="0">
              <a:latin typeface="Calibri"/>
              <a:cs typeface="Calibri"/>
            </a:endParaRPr>
          </a:p>
          <a:p>
            <a:pPr marL="469265" indent="-269875">
              <a:lnSpc>
                <a:spcPct val="100000"/>
              </a:lnSpc>
              <a:buClr>
                <a:srgbClr val="3333CC"/>
              </a:buClr>
              <a:buSzPct val="33333"/>
              <a:buFont typeface="Arial"/>
              <a:buChar char="■"/>
              <a:tabLst>
                <a:tab pos="469265" algn="l"/>
              </a:tabLst>
            </a:pPr>
            <a:r>
              <a:rPr sz="1500" dirty="0">
                <a:latin typeface="Calibri"/>
                <a:cs typeface="Calibri"/>
              </a:rPr>
              <a:t>x2: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mixture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Gaussians,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conditioned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x1</a:t>
            </a:r>
            <a:endParaRPr sz="1500" dirty="0">
              <a:latin typeface="Calibri"/>
              <a:cs typeface="Calibri"/>
            </a:endParaRPr>
          </a:p>
          <a:p>
            <a:pPr marL="926465" marR="5080" lvl="1" indent="-282575">
              <a:lnSpc>
                <a:spcPct val="100000"/>
              </a:lnSpc>
              <a:buClr>
                <a:srgbClr val="FF0000"/>
              </a:buClr>
              <a:buSzPct val="46666"/>
              <a:buFont typeface="Arial"/>
              <a:buChar char="■"/>
              <a:tabLst>
                <a:tab pos="926465" algn="l"/>
              </a:tabLst>
            </a:pPr>
            <a:r>
              <a:rPr sz="1500" dirty="0">
                <a:latin typeface="Calibri"/>
                <a:cs typeface="Calibri"/>
              </a:rPr>
              <a:t>I.e.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z2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cdf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Mo5G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mixture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weights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w,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mu, </a:t>
            </a:r>
            <a:r>
              <a:rPr sz="1500" spc="-10" dirty="0">
                <a:latin typeface="Calibri"/>
                <a:cs typeface="Calibri"/>
              </a:rPr>
              <a:t>variances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sigma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conditioned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x1.</a:t>
            </a:r>
            <a:r>
              <a:rPr sz="1500" spc="3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I.e.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arbitrary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be </a:t>
            </a:r>
            <a:r>
              <a:rPr sz="1500" spc="-10" dirty="0">
                <a:latin typeface="Calibri"/>
                <a:cs typeface="Calibri"/>
              </a:rPr>
              <a:t>trained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map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x1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w,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sigma</a:t>
            </a:r>
            <a:endParaRPr sz="15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173" y="3043868"/>
            <a:ext cx="2886270" cy="14103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5242" y="3043868"/>
            <a:ext cx="2886270" cy="14103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311" y="3006019"/>
            <a:ext cx="2886270" cy="14103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1321" y="1035652"/>
            <a:ext cx="2581974" cy="1740024"/>
          </a:xfrm>
          <a:prstGeom prst="rect">
            <a:avLst/>
          </a:prstGeom>
        </p:spPr>
      </p:pic>
      <p:pic>
        <p:nvPicPr>
          <p:cNvPr id="11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3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81C859-4345-48C3-9183-B450D937165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2-</a:t>
            </a:r>
            <a:r>
              <a:rPr lang="en-IN" dirty="0"/>
              <a:t>D</a:t>
            </a:r>
            <a:r>
              <a:rPr lang="en-IN" spc="-90" dirty="0"/>
              <a:t> </a:t>
            </a:r>
            <a:r>
              <a:rPr lang="en-IN" spc="-10" dirty="0"/>
              <a:t>Autoregressive</a:t>
            </a:r>
            <a:r>
              <a:rPr lang="en-IN" spc="-85" dirty="0"/>
              <a:t> </a:t>
            </a:r>
            <a:r>
              <a:rPr lang="en-IN" dirty="0"/>
              <a:t>Flow:</a:t>
            </a:r>
            <a:r>
              <a:rPr lang="en-IN" spc="-85" dirty="0"/>
              <a:t> </a:t>
            </a:r>
            <a:r>
              <a:rPr lang="en-IN" spc="-20" dirty="0"/>
              <a:t>Face</a:t>
            </a:r>
            <a:endParaRPr lang="en-IN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974558"/>
            <a:ext cx="4926330" cy="13074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900" spc="-10" dirty="0">
                <a:latin typeface="Calibri"/>
                <a:cs typeface="Calibri"/>
              </a:rPr>
              <a:t>Architecture:</a:t>
            </a:r>
            <a:endParaRPr sz="1900" dirty="0">
              <a:latin typeface="Calibri"/>
              <a:cs typeface="Calibri"/>
            </a:endParaRPr>
          </a:p>
          <a:p>
            <a:pPr marL="469265" indent="-300355">
              <a:lnSpc>
                <a:spcPct val="100000"/>
              </a:lnSpc>
              <a:spcBef>
                <a:spcPts val="495"/>
              </a:spcBef>
              <a:buClr>
                <a:srgbClr val="3333CC"/>
              </a:buClr>
              <a:buSzPct val="47368"/>
              <a:buFont typeface="Arial"/>
              <a:buChar char="■"/>
              <a:tabLst>
                <a:tab pos="469265" algn="l"/>
              </a:tabLst>
            </a:pPr>
            <a:r>
              <a:rPr sz="1900" dirty="0">
                <a:latin typeface="Calibri"/>
                <a:cs typeface="Calibri"/>
              </a:rPr>
              <a:t>Base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distribution: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Uniform[0,1]^2</a:t>
            </a:r>
            <a:endParaRPr sz="1900" dirty="0">
              <a:latin typeface="Calibri"/>
              <a:cs typeface="Calibri"/>
            </a:endParaRPr>
          </a:p>
          <a:p>
            <a:pPr marL="469265" indent="-300355">
              <a:lnSpc>
                <a:spcPts val="2265"/>
              </a:lnSpc>
              <a:spcBef>
                <a:spcPts val="15"/>
              </a:spcBef>
              <a:buClr>
                <a:srgbClr val="3333CC"/>
              </a:buClr>
              <a:buSzPct val="47368"/>
              <a:buFont typeface="Arial"/>
              <a:buChar char="■"/>
              <a:tabLst>
                <a:tab pos="469265" algn="l"/>
              </a:tabLst>
            </a:pPr>
            <a:r>
              <a:rPr sz="1900" dirty="0">
                <a:latin typeface="Calibri"/>
                <a:cs typeface="Calibri"/>
              </a:rPr>
              <a:t>x1: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mixture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Gaussians</a:t>
            </a:r>
            <a:endParaRPr sz="1900" dirty="0">
              <a:latin typeface="Calibri"/>
              <a:cs typeface="Calibri"/>
            </a:endParaRPr>
          </a:p>
          <a:p>
            <a:pPr marL="469265" indent="-300355">
              <a:lnSpc>
                <a:spcPts val="2265"/>
              </a:lnSpc>
              <a:buClr>
                <a:srgbClr val="3333CC"/>
              </a:buClr>
              <a:buSzPct val="47368"/>
              <a:buFont typeface="Arial"/>
              <a:buChar char="■"/>
              <a:tabLst>
                <a:tab pos="469265" algn="l"/>
              </a:tabLst>
            </a:pPr>
            <a:r>
              <a:rPr sz="1900" dirty="0">
                <a:latin typeface="Calibri"/>
                <a:cs typeface="Calibri"/>
              </a:rPr>
              <a:t>x2: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mixture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Gaussians,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conditioned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x1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1674" y="934357"/>
            <a:ext cx="2525832" cy="17961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273" y="3021393"/>
            <a:ext cx="2886270" cy="14103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45242" y="3021406"/>
            <a:ext cx="2886270" cy="14103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81211" y="3021393"/>
            <a:ext cx="2886295" cy="1410348"/>
          </a:xfrm>
          <a:prstGeom prst="rect">
            <a:avLst/>
          </a:prstGeom>
        </p:spPr>
      </p:pic>
      <p:pic>
        <p:nvPicPr>
          <p:cNvPr id="11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52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16A4BD-A115-4F82-8AB3-DCAFE9F27C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20" dirty="0"/>
              <a:t>Inverse</a:t>
            </a:r>
            <a:r>
              <a:rPr lang="en-IN" spc="-170" dirty="0"/>
              <a:t> </a:t>
            </a:r>
            <a:r>
              <a:rPr lang="en-IN" spc="-10" dirty="0"/>
              <a:t>autoregressive</a:t>
            </a:r>
            <a:r>
              <a:rPr lang="en-IN" spc="-170" dirty="0"/>
              <a:t> </a:t>
            </a:r>
            <a:r>
              <a:rPr lang="en-IN" spc="-10" dirty="0"/>
              <a:t>flows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2605" y="1118714"/>
            <a:ext cx="7630795" cy="180086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79095" marR="830580" indent="-367030">
              <a:lnSpc>
                <a:spcPts val="2140"/>
              </a:lnSpc>
              <a:spcBef>
                <a:spcPts val="185"/>
              </a:spcBef>
              <a:buClr>
                <a:srgbClr val="3333CC"/>
              </a:buClr>
              <a:buFont typeface="Arial"/>
              <a:buChar char="■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autoregressive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flow,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inverse autoregressive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flow</a:t>
            </a:r>
            <a:r>
              <a:rPr sz="1800" b="1" spc="-10" dirty="0">
                <a:latin typeface="Calibri"/>
                <a:cs typeface="Calibri"/>
              </a:rPr>
              <a:t> (IAF)</a:t>
            </a:r>
            <a:endParaRPr sz="1800" dirty="0">
              <a:latin typeface="Calibri"/>
              <a:cs typeface="Calibri"/>
            </a:endParaRPr>
          </a:p>
          <a:p>
            <a:pPr marL="836294" lvl="1" indent="-367030">
              <a:lnSpc>
                <a:spcPct val="100000"/>
              </a:lnSpc>
              <a:spcBef>
                <a:spcPts val="1555"/>
              </a:spcBef>
              <a:buClr>
                <a:srgbClr val="FF0000"/>
              </a:buClr>
              <a:buFont typeface="Arial"/>
              <a:buChar char="■"/>
              <a:tabLst>
                <a:tab pos="836294" algn="l"/>
              </a:tabLst>
            </a:pP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Arial"/>
                <a:cs typeface="Arial"/>
              </a:rPr>
              <a:t>→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dirty="0">
                <a:latin typeface="Calibri"/>
                <a:cs typeface="Calibri"/>
              </a:rPr>
              <a:t>z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sampling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autoregressive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</a:t>
            </a:r>
            <a:endParaRPr sz="1800" dirty="0">
              <a:latin typeface="Calibri"/>
              <a:cs typeface="Calibri"/>
            </a:endParaRPr>
          </a:p>
          <a:p>
            <a:pPr marL="836294" marR="741680" lvl="1" indent="-367030">
              <a:lnSpc>
                <a:spcPct val="100000"/>
              </a:lnSpc>
              <a:spcBef>
                <a:spcPts val="1590"/>
              </a:spcBef>
              <a:buClr>
                <a:srgbClr val="FF0000"/>
              </a:buClr>
              <a:buFont typeface="Arial"/>
              <a:buChar char="■"/>
              <a:tabLst>
                <a:tab pos="836294" algn="l"/>
              </a:tabLst>
            </a:pPr>
            <a:r>
              <a:rPr sz="1800" b="1" dirty="0">
                <a:latin typeface="Calibri"/>
                <a:cs typeface="Calibri"/>
              </a:rPr>
              <a:t>z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Arial"/>
                <a:cs typeface="Arial"/>
              </a:rPr>
              <a:t>→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log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likelihood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 </a:t>
            </a:r>
            <a:r>
              <a:rPr sz="1800" spc="-10" dirty="0">
                <a:latin typeface="Calibri"/>
                <a:cs typeface="Calibri"/>
              </a:rPr>
              <a:t>autoregressive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IAF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sampling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fast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3155008"/>
            <a:ext cx="1962345" cy="1042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0" y="3159544"/>
            <a:ext cx="1962338" cy="1066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0D7E66-9E30-4C2C-90D7-E2AA29BAEEFD}"/>
              </a:ext>
            </a:extLst>
          </p:cNvPr>
          <p:cNvSpPr txBox="1"/>
          <p:nvPr/>
        </p:nvSpPr>
        <p:spPr>
          <a:xfrm>
            <a:off x="1723312" y="4297009"/>
            <a:ext cx="2614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Sequential/Slow Training</a:t>
            </a:r>
            <a:endParaRPr lang="en-IN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CF0F7-3BB2-48F7-98C8-02E7B52251F0}"/>
              </a:ext>
            </a:extLst>
          </p:cNvPr>
          <p:cNvSpPr txBox="1"/>
          <p:nvPr/>
        </p:nvSpPr>
        <p:spPr>
          <a:xfrm>
            <a:off x="5791200" y="4226316"/>
            <a:ext cx="2375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Parallel/Fast Sampling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0902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3400" y="71587"/>
            <a:ext cx="17526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/>
              <a:t>AF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87" y="1047775"/>
            <a:ext cx="3567055" cy="31757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79757" y="89979"/>
            <a:ext cx="6800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solidFill>
                  <a:srgbClr val="333399"/>
                </a:solidFill>
                <a:latin typeface="Calibri"/>
                <a:cs typeface="Calibri"/>
              </a:rPr>
              <a:t>IAF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5632" y="4240266"/>
            <a:ext cx="21101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 indent="-75565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Calibri"/>
                <a:cs typeface="Calibri"/>
              </a:rPr>
              <a:t>Training: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serial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chain </a:t>
            </a:r>
            <a:r>
              <a:rPr sz="1600" dirty="0">
                <a:latin typeface="Calibri"/>
                <a:cs typeface="Calibri"/>
              </a:rPr>
              <a:t>Sampling: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parallel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fast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735" y="4240266"/>
            <a:ext cx="22123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Calibri"/>
                <a:cs typeface="Calibri"/>
              </a:rPr>
              <a:t>Training: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parallel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fast </a:t>
            </a:r>
            <a:r>
              <a:rPr sz="1600" dirty="0">
                <a:latin typeface="Calibri"/>
                <a:cs typeface="Calibri"/>
              </a:rPr>
              <a:t>Sampling: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serial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chain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339" y="1047750"/>
            <a:ext cx="3631517" cy="3175743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3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D6633B-E027-4AF8-926D-9C68DEEC4F7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AF</a:t>
            </a:r>
            <a:r>
              <a:rPr lang="en-IN" spc="-30" dirty="0"/>
              <a:t> </a:t>
            </a:r>
            <a:r>
              <a:rPr lang="en-IN" dirty="0"/>
              <a:t>vs</a:t>
            </a:r>
            <a:r>
              <a:rPr lang="en-IN" spc="-25" dirty="0"/>
              <a:t> IAF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4995" y="1089025"/>
            <a:ext cx="7482205" cy="331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10" dirty="0">
                <a:latin typeface="Calibri"/>
                <a:cs typeface="Calibri"/>
              </a:rPr>
              <a:t>Autoregressive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flow</a:t>
            </a:r>
            <a:endParaRPr sz="2400" dirty="0">
              <a:latin typeface="Calibri"/>
              <a:cs typeface="Calibri"/>
            </a:endParaRPr>
          </a:p>
          <a:p>
            <a:pPr marL="808355" lvl="1" indent="-3124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Fast</a:t>
            </a:r>
            <a:r>
              <a:rPr sz="2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arbitrary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x</a:t>
            </a:r>
            <a:endParaRPr sz="2000" dirty="0">
              <a:latin typeface="Calibri"/>
              <a:cs typeface="Calibri"/>
            </a:endParaRPr>
          </a:p>
          <a:p>
            <a:pPr marL="808355" lvl="1" indent="-312420">
              <a:lnSpc>
                <a:spcPts val="2390"/>
              </a:lnSpc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Slow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sampling</a:t>
            </a:r>
            <a:endParaRPr sz="2000" dirty="0">
              <a:latin typeface="Calibri"/>
              <a:cs typeface="Calibri"/>
            </a:endParaRPr>
          </a:p>
          <a:p>
            <a:pPr marL="351155" indent="-338455">
              <a:lnSpc>
                <a:spcPts val="2865"/>
              </a:lnSpc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10" dirty="0">
                <a:latin typeface="Calibri"/>
                <a:cs typeface="Calibri"/>
              </a:rPr>
              <a:t>Inverse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autoregressive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flow</a:t>
            </a:r>
            <a:endParaRPr sz="2400" dirty="0">
              <a:latin typeface="Calibri"/>
              <a:cs typeface="Calibri"/>
            </a:endParaRPr>
          </a:p>
          <a:p>
            <a:pPr marL="808355" marR="492125" lvl="1" indent="-313055">
              <a:lnSpc>
                <a:spcPts val="2400"/>
              </a:lnSpc>
              <a:spcBef>
                <a:spcPts val="70"/>
              </a:spcBef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Slow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arbitrary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directly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by </a:t>
            </a:r>
            <a:r>
              <a:rPr sz="2000" spc="-10" dirty="0">
                <a:latin typeface="Calibri"/>
                <a:cs typeface="Calibri"/>
              </a:rPr>
              <a:t>maximum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slow.</a:t>
            </a:r>
            <a:endParaRPr sz="2000" dirty="0">
              <a:latin typeface="Calibri"/>
              <a:cs typeface="Calibri"/>
            </a:endParaRPr>
          </a:p>
          <a:p>
            <a:pPr marL="808355" lvl="1" indent="-312420">
              <a:lnSpc>
                <a:spcPts val="2320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Fast</a:t>
            </a:r>
            <a:r>
              <a:rPr sz="20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sampling</a:t>
            </a:r>
            <a:endParaRPr sz="2000" dirty="0">
              <a:latin typeface="Calibri"/>
              <a:cs typeface="Calibri"/>
            </a:endParaRPr>
          </a:p>
          <a:p>
            <a:pPr marL="808355" lvl="1" indent="-312420">
              <a:lnSpc>
                <a:spcPts val="2390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Fast</a:t>
            </a:r>
            <a:r>
              <a:rPr sz="2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sample</a:t>
            </a:r>
            <a:endParaRPr sz="2000" dirty="0">
              <a:latin typeface="Calibri"/>
              <a:cs typeface="Calibri"/>
            </a:endParaRPr>
          </a:p>
          <a:p>
            <a:pPr marL="351155" marR="5080" indent="-339090">
              <a:lnSpc>
                <a:spcPts val="2850"/>
              </a:lnSpc>
              <a:spcBef>
                <a:spcPts val="114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(Parallel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WaveNet,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IAF-VAE)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exploit IAF’s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sampling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6ABDD7-4BB2-4024-86D3-29167FF44B8B}"/>
                  </a:ext>
                </a:extLst>
              </p14:cNvPr>
              <p14:cNvContentPartPr/>
              <p14:nvPr/>
            </p14:nvContentPartPr>
            <p14:xfrm>
              <a:off x="5881680" y="185724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6ABDD7-4BB2-4024-86D3-29167FF44B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72320" y="18478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25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58F5C2-2436-434B-9DEB-B8F00666F83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Best</a:t>
            </a:r>
            <a:r>
              <a:rPr lang="en-US" spc="-30" dirty="0"/>
              <a:t> </a:t>
            </a:r>
            <a:r>
              <a:rPr lang="en-US" dirty="0"/>
              <a:t>of</a:t>
            </a:r>
            <a:r>
              <a:rPr lang="en-US" spc="-30" dirty="0"/>
              <a:t> </a:t>
            </a:r>
            <a:r>
              <a:rPr lang="en-US" dirty="0"/>
              <a:t>both</a:t>
            </a:r>
            <a:r>
              <a:rPr lang="en-US" spc="-30" dirty="0"/>
              <a:t> </a:t>
            </a:r>
            <a:r>
              <a:rPr lang="en-US" dirty="0"/>
              <a:t>AF</a:t>
            </a:r>
            <a:r>
              <a:rPr lang="en-US" spc="-30" dirty="0"/>
              <a:t> </a:t>
            </a:r>
            <a:r>
              <a:rPr lang="en-US" dirty="0"/>
              <a:t>and</a:t>
            </a:r>
            <a:r>
              <a:rPr lang="en-US" spc="-30" dirty="0"/>
              <a:t> </a:t>
            </a:r>
            <a:r>
              <a:rPr lang="en-US" spc="-25" dirty="0"/>
              <a:t>IAF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352550"/>
            <a:ext cx="7024370" cy="186653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idea:</a:t>
            </a:r>
            <a:endParaRPr sz="2400" dirty="0">
              <a:latin typeface="Calibri"/>
              <a:cs typeface="Calibri"/>
            </a:endParaRPr>
          </a:p>
          <a:p>
            <a:pPr marL="527685" indent="-342900">
              <a:spcBef>
                <a:spcPts val="495"/>
              </a:spcBef>
              <a:buClr>
                <a:srgbClr val="3333CC"/>
              </a:buClr>
              <a:buSzPct val="58333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2400" spc="-35" dirty="0">
                <a:latin typeface="Calibri"/>
                <a:cs typeface="Calibri"/>
              </a:rPr>
              <a:t>Train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FAST</a:t>
            </a:r>
            <a:endParaRPr sz="2400" dirty="0">
              <a:latin typeface="Calibri"/>
              <a:cs typeface="Calibri"/>
            </a:endParaRPr>
          </a:p>
          <a:p>
            <a:pPr marL="527685" indent="-342900">
              <a:lnSpc>
                <a:spcPts val="2875"/>
              </a:lnSpc>
              <a:spcBef>
                <a:spcPts val="15"/>
              </a:spcBef>
              <a:buClr>
                <a:srgbClr val="3333CC"/>
              </a:buClr>
              <a:buSzPct val="58333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2400" spc="-10" dirty="0">
                <a:latin typeface="Calibri"/>
                <a:cs typeface="Calibri"/>
              </a:rPr>
              <a:t>Distillation:</a:t>
            </a:r>
            <a:endParaRPr sz="2400" dirty="0">
              <a:latin typeface="Calibri"/>
              <a:cs typeface="Calibri"/>
            </a:endParaRPr>
          </a:p>
          <a:p>
            <a:pPr marL="998220" lvl="1" indent="-342900">
              <a:lnSpc>
                <a:spcPts val="2395"/>
              </a:lnSpc>
              <a:buClr>
                <a:srgbClr val="FF0000"/>
              </a:buClr>
              <a:buSzPct val="55000"/>
              <a:buFont typeface="Arial" panose="020B0604020202020204" pitchFamily="34" charset="0"/>
              <a:buChar char="•"/>
              <a:tabLst>
                <a:tab pos="926465" algn="l"/>
              </a:tabLst>
            </a:pPr>
            <a:r>
              <a:rPr sz="2000" dirty="0">
                <a:latin typeface="Calibri"/>
                <a:cs typeface="Calibri"/>
              </a:rPr>
              <a:t>Sample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70" dirty="0">
                <a:latin typeface="Calibri"/>
                <a:cs typeface="Calibri"/>
              </a:rPr>
              <a:t>AF,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keep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activations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(bit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slow..)</a:t>
            </a:r>
            <a:endParaRPr sz="2000" dirty="0">
              <a:latin typeface="Calibri"/>
              <a:cs typeface="Calibri"/>
            </a:endParaRPr>
          </a:p>
          <a:p>
            <a:pPr marL="998220" lvl="1" indent="-342900">
              <a:buClr>
                <a:srgbClr val="FF0000"/>
              </a:buClr>
              <a:buSzPct val="55000"/>
              <a:buFont typeface="Arial" panose="020B0604020202020204" pitchFamily="34" charset="0"/>
              <a:buChar char="•"/>
              <a:tabLst>
                <a:tab pos="926465" algn="l"/>
              </a:tabLst>
            </a:pPr>
            <a:r>
              <a:rPr sz="2000" spc="-30" dirty="0">
                <a:latin typeface="Calibri"/>
                <a:cs typeface="Calibri"/>
              </a:rPr>
              <a:t>Train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IAF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samples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activations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FAST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647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5ADDD-3CC1-4BF0-8D64-0269BB0EEC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AF</a:t>
            </a:r>
            <a:r>
              <a:rPr lang="en-IN" spc="-15" dirty="0"/>
              <a:t> </a:t>
            </a:r>
            <a:r>
              <a:rPr lang="en-IN" dirty="0"/>
              <a:t>and</a:t>
            </a:r>
            <a:r>
              <a:rPr lang="en-IN" spc="-10" dirty="0"/>
              <a:t> </a:t>
            </a:r>
            <a:r>
              <a:rPr lang="en-IN" spc="-25" dirty="0"/>
              <a:t>IAF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095375"/>
            <a:ext cx="7498080" cy="2051203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400" spc="-30" dirty="0">
                <a:latin typeface="Calibri"/>
                <a:cs typeface="Calibri"/>
              </a:rPr>
              <a:t>Naively,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variables!</a:t>
            </a:r>
            <a:endParaRPr sz="2400" dirty="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  <a:spcBef>
                <a:spcPts val="495"/>
              </a:spcBef>
              <a:tabLst>
                <a:tab pos="469265" algn="l"/>
              </a:tabLst>
            </a:pPr>
            <a:r>
              <a:rPr lang="en-US" sz="1400" spc="-50" dirty="0">
                <a:solidFill>
                  <a:srgbClr val="3333CC"/>
                </a:solidFill>
                <a:latin typeface="Calibri"/>
                <a:cs typeface="Calibri"/>
              </a:rPr>
              <a:t>	</a:t>
            </a:r>
            <a:r>
              <a:rPr sz="1400" spc="-50" dirty="0">
                <a:solidFill>
                  <a:srgbClr val="3333CC"/>
                </a:solidFill>
                <a:latin typeface="Calibri"/>
                <a:cs typeface="Calibri"/>
              </a:rPr>
              <a:t>-</a:t>
            </a:r>
            <a:r>
              <a:rPr sz="1400" dirty="0">
                <a:solidFill>
                  <a:srgbClr val="3333CC"/>
                </a:solidFill>
                <a:latin typeface="Calibri"/>
                <a:cs typeface="Calibri"/>
              </a:rPr>
              <a:t>	</a:t>
            </a:r>
            <a:r>
              <a:rPr lang="en-US" sz="240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.g.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1MP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Arial"/>
                <a:cs typeface="Arial"/>
              </a:rPr>
              <a:t>→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1M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r>
              <a:rPr sz="2400" spc="-10" dirty="0">
                <a:latin typeface="Arial"/>
                <a:cs typeface="Arial"/>
              </a:rPr>
              <a:t>…</a:t>
            </a:r>
            <a:endParaRPr sz="2400" dirty="0">
              <a:latin typeface="Arial"/>
              <a:cs typeface="Arial"/>
            </a:endParaRPr>
          </a:p>
          <a:p>
            <a:pPr marL="355600" marR="382270" indent="-342900">
              <a:lnSpc>
                <a:spcPct val="100499"/>
              </a:lnSpc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parameter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Autoregressive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[e.g.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RNN,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masking]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709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09600" y="819150"/>
            <a:ext cx="7696200" cy="3557368"/>
          </a:xfrm>
          <a:prstGeom prst="rect">
            <a:avLst/>
          </a:prstGeom>
        </p:spPr>
        <p:txBody>
          <a:bodyPr spcFirstLastPara="1" vert="horz" wrap="square" lIns="0" tIns="307324" rIns="0" bIns="0" rtlCol="0" anchor="t" anchorCtr="0">
            <a:spAutoFit/>
          </a:bodyPr>
          <a:lstStyle/>
          <a:p>
            <a:pPr marL="285750" indent="-285750">
              <a:spcBef>
                <a:spcPts val="645"/>
              </a:spcBef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en-US"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3175" indent="-285750">
              <a:spcBef>
                <a:spcPts val="645"/>
              </a:spcBef>
              <a:buFont typeface="Wingdings" panose="05000000000000000000" pitchFamily="2" charset="2"/>
              <a:buChar char="§"/>
            </a:pPr>
            <a:endParaRPr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45299" indent="-285750">
              <a:lnSpc>
                <a:spcPct val="102600"/>
              </a:lnSpc>
              <a:spcBef>
                <a:spcPts val="446"/>
              </a:spcBef>
              <a:buFont typeface="Arial" panose="020B0604020202020204" pitchFamily="34" charset="0"/>
              <a:buChar char="•"/>
            </a:pP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parameterized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MAF.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efficiently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</a:t>
            </a:r>
            <a:r>
              <a:rPr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MLE</a:t>
            </a:r>
            <a:endParaRPr lang="en-US" spc="52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3175" marR="45299" indent="-285750">
              <a:lnSpc>
                <a:spcPct val="102600"/>
              </a:lnSpc>
              <a:spcBef>
                <a:spcPts val="446"/>
              </a:spcBef>
              <a:buFont typeface="Wingdings" panose="05000000000000000000" pitchFamily="2" charset="2"/>
              <a:buChar char="§"/>
            </a:pPr>
            <a:endParaRPr spc="52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114192" indent="-285750">
              <a:lnSpc>
                <a:spcPct val="102600"/>
              </a:lnSpc>
              <a:spcBef>
                <a:spcPts val="446"/>
              </a:spcBef>
              <a:buFont typeface="Arial" panose="020B0604020202020204" pitchFamily="34" charset="0"/>
              <a:buChar char="•"/>
            </a:pP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teacher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trained,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parameterized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IAF.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efficiently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density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datapoints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</a:t>
            </a:r>
            <a:endParaRPr lang="en-US"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3175" marR="114192" indent="-285750">
              <a:lnSpc>
                <a:spcPct val="102600"/>
              </a:lnSpc>
              <a:spcBef>
                <a:spcPts val="446"/>
              </a:spcBef>
              <a:buFont typeface="Wingdings" panose="05000000000000000000" pitchFamily="2" charset="2"/>
              <a:buChar char="§"/>
            </a:pPr>
            <a:endParaRPr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238765" indent="-285750">
              <a:lnSpc>
                <a:spcPct val="102600"/>
              </a:lnSpc>
              <a:spcBef>
                <a:spcPts val="446"/>
              </a:spcBef>
              <a:buFont typeface="Arial" panose="020B0604020202020204" pitchFamily="34" charset="0"/>
              <a:buChar char="•"/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b="1" spc="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IAF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efficiently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densities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its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generations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(via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caching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variates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i="1" spc="-5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09CBBE-AFAB-47FF-B39C-FA45D1495F3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0" dirty="0"/>
              <a:t>Parallel</a:t>
            </a:r>
            <a:r>
              <a:rPr lang="en-IN" spc="-74" dirty="0"/>
              <a:t> </a:t>
            </a:r>
            <a:r>
              <a:rPr lang="en-IN" spc="-67" dirty="0" err="1"/>
              <a:t>Wavenet</a:t>
            </a:r>
            <a:endParaRPr lang="en-IN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15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96143741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2614F-D44F-4950-ADF4-C8D79F7A89E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9924A-70A9-4D2F-BA93-D7D38DFDA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1067418"/>
            <a:ext cx="5410201" cy="37903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FB80C5-336F-4EB8-823A-8D139BAA8554}"/>
              </a:ext>
            </a:extLst>
          </p:cNvPr>
          <p:cNvSpPr/>
          <p:nvPr/>
        </p:nvSpPr>
        <p:spPr>
          <a:xfrm>
            <a:off x="2286000" y="4637677"/>
            <a:ext cx="7543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hlinkClick r:id="rId4"/>
              </a:rPr>
              <a:t>https://deepmind.google/discover/blog/high-fidelity-speech-synthesis-with-wavenet/</a:t>
            </a:r>
            <a:endParaRPr lang="en-IN" sz="1400" dirty="0"/>
          </a:p>
        </p:txBody>
      </p:sp>
      <p:pic>
        <p:nvPicPr>
          <p:cNvPr id="10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09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D6B93E1-C2D2-4578-8D33-5974624FF59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0" dirty="0"/>
              <a:t>Parallel</a:t>
            </a:r>
            <a:r>
              <a:rPr lang="en-IN" spc="-74" dirty="0"/>
              <a:t> </a:t>
            </a:r>
            <a:r>
              <a:rPr lang="en-IN" spc="-67" dirty="0" err="1"/>
              <a:t>Wavenet</a:t>
            </a:r>
            <a:endParaRPr lang="en-IN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17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2000" y="1198059"/>
            <a:ext cx="7848600" cy="3135697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342374" marR="45299" indent="-285750">
              <a:lnSpc>
                <a:spcPct val="102600"/>
              </a:lnSpc>
              <a:spcBef>
                <a:spcPts val="82"/>
              </a:spcBef>
              <a:buFont typeface="Arial" panose="020B0604020202020204" pitchFamily="34" charset="0"/>
              <a:buChar char="•"/>
            </a:pP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Probability</a:t>
            </a:r>
            <a:r>
              <a:rPr b="1" spc="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density</a:t>
            </a:r>
            <a:r>
              <a:rPr b="1" spc="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distillation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minimize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divergence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87330">
              <a:spcBef>
                <a:spcPts val="1679"/>
              </a:spcBef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s,</a:t>
            </a:r>
            <a:r>
              <a:rPr i="1"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pc="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b="1" spc="-1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1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∼</a:t>
            </a:r>
            <a:r>
              <a:rPr i="1" spc="-1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i="1" spc="-2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[log</a:t>
            </a:r>
            <a:r>
              <a:rPr spc="-17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b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</a:t>
            </a:r>
            <a:r>
              <a:rPr spc="-19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b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)]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marR="113248" indent="-285750">
              <a:lnSpc>
                <a:spcPts val="1783"/>
              </a:lnSpc>
              <a:buFont typeface="Arial" panose="020B0604020202020204" pitchFamily="34" charset="0"/>
              <a:buChar char="•"/>
            </a:pP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Evaluating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optimizing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Carlo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estimates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objective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2301775" indent="-285750">
              <a:spcBef>
                <a:spcPts val="223"/>
              </a:spcBef>
              <a:buFont typeface="Arial" panose="020B0604020202020204" pitchFamily="34" charset="0"/>
              <a:buChar char="•"/>
            </a:pP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Samples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(IAF) </a:t>
            </a:r>
            <a:endParaRPr lang="en-US"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2301775" indent="-285750">
              <a:spcBef>
                <a:spcPts val="223"/>
              </a:spcBef>
              <a:buFont typeface="Arial" panose="020B0604020202020204" pitchFamily="34" charset="0"/>
              <a:buChar char="•"/>
            </a:pP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Density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="1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assigned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2301775" indent="-285750">
              <a:spcBef>
                <a:spcPts val="223"/>
              </a:spcBef>
              <a:buFont typeface="Arial" panose="020B0604020202020204" pitchFamily="34" charset="0"/>
              <a:buChar char="•"/>
            </a:pP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Density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="1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assigned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(MAF)</a:t>
            </a:r>
            <a:endParaRPr lang="en-US"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2301775" indent="-285750">
              <a:spcBef>
                <a:spcPts val="223"/>
              </a:spcBef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1303301" indent="-285750">
              <a:spcBef>
                <a:spcPts val="528"/>
              </a:spcBef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above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efficiently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191540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A48316A-54E0-46A0-B575-D5678FF97F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0" dirty="0"/>
              <a:t>Parallel</a:t>
            </a:r>
            <a:r>
              <a:rPr lang="en-IN" spc="-74" dirty="0"/>
              <a:t> </a:t>
            </a:r>
            <a:r>
              <a:rPr lang="en-IN" spc="-67" dirty="0" err="1"/>
              <a:t>Wavenet</a:t>
            </a:r>
            <a:r>
              <a:rPr lang="en-IN" spc="-67" dirty="0"/>
              <a:t>: Overall</a:t>
            </a:r>
            <a:endParaRPr lang="en-IN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18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1509505"/>
            <a:ext cx="96999" cy="9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6476" y="1791613"/>
            <a:ext cx="78161" cy="781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6476" y="2017267"/>
            <a:ext cx="78161" cy="781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66887" y="1348236"/>
            <a:ext cx="7591313" cy="2040632"/>
          </a:xfrm>
          <a:prstGeom prst="rect">
            <a:avLst/>
          </a:prstGeom>
        </p:spPr>
        <p:txBody>
          <a:bodyPr vert="horz" wrap="square" lIns="0" tIns="53794" rIns="0" bIns="0" rtlCol="0">
            <a:spAutoFit/>
          </a:bodyPr>
          <a:lstStyle/>
          <a:p>
            <a:pPr marL="18875">
              <a:spcBef>
                <a:spcPts val="424"/>
              </a:spcBef>
            </a:pP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0344">
              <a:lnSpc>
                <a:spcPts val="1783"/>
              </a:lnSpc>
              <a:spcBef>
                <a:spcPts val="260"/>
              </a:spcBef>
            </a:pP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spc="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(MAF)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0344" marR="7550">
              <a:lnSpc>
                <a:spcPts val="1783"/>
              </a:lnSpc>
              <a:spcBef>
                <a:spcPts val="59"/>
              </a:spcBef>
            </a:pP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</a:t>
            </a:r>
            <a:r>
              <a:rPr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(IAF)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divergence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endParaRPr lang="en-US"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30344" marR="7550">
              <a:lnSpc>
                <a:spcPts val="1783"/>
              </a:lnSpc>
              <a:spcBef>
                <a:spcPts val="59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875">
              <a:spcBef>
                <a:spcPts val="461"/>
              </a:spcBef>
            </a:pP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Test-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time:</a:t>
            </a:r>
            <a:r>
              <a:rPr spc="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875" marR="643629">
              <a:lnSpc>
                <a:spcPct val="102600"/>
              </a:lnSpc>
              <a:spcBef>
                <a:spcPts val="446"/>
              </a:spcBef>
            </a:pPr>
            <a:r>
              <a:rPr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Wavenet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(vanilla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autoregressive</a:t>
            </a:r>
            <a:r>
              <a:rPr lang="en-US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model)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1000x!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00" y="2536261"/>
            <a:ext cx="96999" cy="96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800" y="2848420"/>
            <a:ext cx="96999" cy="9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97128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E862B9-13E5-4B8B-A318-25E20C5E9D4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High-</a:t>
            </a:r>
            <a:r>
              <a:rPr lang="en-IN" dirty="0"/>
              <a:t>dimensional</a:t>
            </a:r>
            <a:r>
              <a:rPr lang="en-IN" spc="-30" dirty="0"/>
              <a:t> </a:t>
            </a:r>
            <a:r>
              <a:rPr lang="en-IN" spc="-20" dirty="0"/>
              <a:t>data</a:t>
            </a:r>
            <a:endParaRPr lang="en-IN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9339" y="1972932"/>
            <a:ext cx="2283241" cy="167437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47117" y="2496294"/>
            <a:ext cx="2232025" cy="164465"/>
            <a:chOff x="3547117" y="2496294"/>
            <a:chExt cx="2232025" cy="164465"/>
          </a:xfrm>
        </p:grpSpPr>
        <p:sp>
          <p:nvSpPr>
            <p:cNvPr id="5" name="object 5"/>
            <p:cNvSpPr/>
            <p:nvPr/>
          </p:nvSpPr>
          <p:spPr>
            <a:xfrm>
              <a:off x="3547117" y="2578269"/>
              <a:ext cx="2040255" cy="0"/>
            </a:xfrm>
            <a:custGeom>
              <a:avLst/>
              <a:gdLst/>
              <a:ahLst/>
              <a:cxnLst/>
              <a:rect l="l" t="t" r="r" b="b"/>
              <a:pathLst>
                <a:path w="2040254">
                  <a:moveTo>
                    <a:pt x="0" y="0"/>
                  </a:moveTo>
                  <a:lnTo>
                    <a:pt x="2039995" y="0"/>
                  </a:lnTo>
                </a:path>
              </a:pathLst>
            </a:custGeom>
            <a:ln w="38099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8064" y="2496294"/>
              <a:ext cx="210999" cy="16394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451717" y="2942994"/>
            <a:ext cx="2289810" cy="164465"/>
            <a:chOff x="3451717" y="2942994"/>
            <a:chExt cx="2289810" cy="164465"/>
          </a:xfrm>
        </p:grpSpPr>
        <p:sp>
          <p:nvSpPr>
            <p:cNvPr id="8" name="object 8"/>
            <p:cNvSpPr/>
            <p:nvPr/>
          </p:nvSpPr>
          <p:spPr>
            <a:xfrm>
              <a:off x="3643692" y="3024968"/>
              <a:ext cx="2097405" cy="0"/>
            </a:xfrm>
            <a:custGeom>
              <a:avLst/>
              <a:gdLst/>
              <a:ahLst/>
              <a:cxnLst/>
              <a:rect l="l" t="t" r="r" b="b"/>
              <a:pathLst>
                <a:path w="2097404">
                  <a:moveTo>
                    <a:pt x="2097270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1717" y="2942994"/>
              <a:ext cx="211024" cy="1639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935309" y="2214878"/>
            <a:ext cx="1319530" cy="11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(inference)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f</a:t>
            </a:r>
            <a:r>
              <a:rPr sz="1800" spc="-15" baseline="30092" dirty="0">
                <a:latin typeface="Calibri"/>
                <a:cs typeface="Calibri"/>
              </a:rPr>
              <a:t>-</a:t>
            </a:r>
            <a:r>
              <a:rPr sz="1800" baseline="30092" dirty="0">
                <a:latin typeface="Calibri"/>
                <a:cs typeface="Calibri"/>
              </a:rPr>
              <a:t>1</a:t>
            </a:r>
            <a:r>
              <a:rPr sz="1800" spc="217" baseline="30092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(sampling)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9475" y="1620071"/>
            <a:ext cx="2401092" cy="23716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223821" y="4270962"/>
            <a:ext cx="2872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x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z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must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have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same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dimension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2916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886CAD1-772F-444D-AAAC-E14DD9AE072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N-D Autoregressive</a:t>
            </a:r>
            <a:r>
              <a:rPr lang="en-IN" spc="-190" dirty="0"/>
              <a:t> </a:t>
            </a:r>
            <a:r>
              <a:rPr lang="en-IN" spc="-10" dirty="0"/>
              <a:t>flows</a:t>
            </a:r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9398" y="1180470"/>
            <a:ext cx="6849745" cy="700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flow</a:t>
            </a:r>
            <a:endParaRPr sz="2400">
              <a:latin typeface="Calibri"/>
              <a:cs typeface="Calibri"/>
            </a:endParaRPr>
          </a:p>
          <a:p>
            <a:pPr marL="808355" lvl="1" indent="-3124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autoregressive,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autoregressive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398" y="3628390"/>
            <a:ext cx="5945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Sampling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invertible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0038" y="2088085"/>
            <a:ext cx="2696144" cy="14012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5631" y="2044085"/>
            <a:ext cx="2812969" cy="148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52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0E06B86-ABD1-45DF-B84E-3B4B61E1077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Autoregressive</a:t>
            </a:r>
            <a:r>
              <a:rPr lang="en-IN" spc="-190" dirty="0"/>
              <a:t> </a:t>
            </a:r>
            <a:r>
              <a:rPr lang="en-IN" spc="-10" dirty="0"/>
              <a:t>flows</a:t>
            </a:r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9107" y="1045660"/>
            <a:ext cx="7938134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autoregressive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flows?</a:t>
            </a:r>
            <a:endParaRPr sz="2400" dirty="0">
              <a:latin typeface="Calibri"/>
              <a:cs typeface="Calibri"/>
            </a:endParaRPr>
          </a:p>
          <a:p>
            <a:pPr marL="808355" lvl="1" indent="-3124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dirty="0">
                <a:latin typeface="Calibri"/>
                <a:cs typeface="Calibri"/>
              </a:rPr>
              <a:t>Map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z</a:t>
            </a:r>
            <a:endParaRPr sz="2000" dirty="0">
              <a:latin typeface="Calibri"/>
              <a:cs typeface="Calibri"/>
            </a:endParaRPr>
          </a:p>
          <a:p>
            <a:pPr marL="808355" lvl="1" indent="-312420">
              <a:lnSpc>
                <a:spcPts val="2390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dirty="0">
                <a:latin typeface="Calibri"/>
                <a:cs typeface="Calibri"/>
              </a:rPr>
              <a:t>Fully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parallelizable</a:t>
            </a:r>
            <a:endParaRPr sz="2000" dirty="0">
              <a:latin typeface="Calibri"/>
              <a:cs typeface="Calibri"/>
            </a:endParaRPr>
          </a:p>
          <a:p>
            <a:pPr marL="351155" indent="-338455">
              <a:lnSpc>
                <a:spcPts val="2865"/>
              </a:lnSpc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10" dirty="0">
                <a:latin typeface="Calibri"/>
                <a:cs typeface="Calibri"/>
              </a:rPr>
              <a:t>Notice</a:t>
            </a:r>
            <a:endParaRPr sz="2400" dirty="0">
              <a:latin typeface="Calibri"/>
              <a:cs typeface="Calibri"/>
            </a:endParaRPr>
          </a:p>
          <a:p>
            <a:pPr marL="808355" marR="5080" lvl="1" indent="-313055">
              <a:lnSpc>
                <a:spcPts val="2400"/>
              </a:lnSpc>
              <a:spcBef>
                <a:spcPts val="70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Arial"/>
                <a:cs typeface="Arial"/>
              </a:rPr>
              <a:t>→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Calibri"/>
                <a:cs typeface="Calibri"/>
              </a:rPr>
              <a:t>z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log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likelihood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computation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spc="-20" dirty="0">
                <a:latin typeface="Calibri"/>
                <a:cs typeface="Calibri"/>
              </a:rPr>
              <a:t>autoregressive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 dirty="0">
              <a:latin typeface="Calibri"/>
              <a:cs typeface="Calibri"/>
            </a:endParaRPr>
          </a:p>
          <a:p>
            <a:pPr marL="808355" marR="725170" lvl="1" indent="-313055">
              <a:lnSpc>
                <a:spcPts val="2400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latin typeface="Calibri"/>
                <a:cs typeface="Calibri"/>
              </a:rPr>
              <a:t>z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Arial"/>
                <a:cs typeface="Arial"/>
              </a:rPr>
              <a:t>→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Calibri"/>
                <a:cs typeface="Calibri"/>
              </a:rPr>
              <a:t>x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sampling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procedure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spc="-20" dirty="0">
                <a:latin typeface="Calibri"/>
                <a:cs typeface="Calibri"/>
              </a:rPr>
              <a:t>autoregressive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4822" y="3677217"/>
            <a:ext cx="2105245" cy="10941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0839" y="1266782"/>
            <a:ext cx="3411443" cy="6732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2564" y="3667008"/>
            <a:ext cx="2105245" cy="111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03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Inverse</a:t>
            </a:r>
            <a:r>
              <a:rPr lang="en-IN" spc="-101" dirty="0"/>
              <a:t> </a:t>
            </a:r>
            <a:r>
              <a:rPr lang="en-IN" spc="34" dirty="0"/>
              <a:t>autoregressive</a:t>
            </a:r>
            <a:r>
              <a:rPr lang="en-IN" spc="-98" dirty="0"/>
              <a:t> </a:t>
            </a:r>
            <a:r>
              <a:rPr lang="en-IN" spc="41" dirty="0"/>
              <a:t>flows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836">
              <a:spcBef>
                <a:spcPts val="75"/>
              </a:spcBef>
            </a:pPr>
            <a:r>
              <a:rPr spc="-19" dirty="0"/>
              <a:t>37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214" y="1201294"/>
            <a:ext cx="8387186" cy="16844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022" marR="722948" indent="-170497">
              <a:spcBef>
                <a:spcPts val="75"/>
              </a:spcBef>
              <a:buFont typeface="Arial"/>
              <a:buChar char="•"/>
              <a:tabLst>
                <a:tab pos="180975" algn="l"/>
              </a:tabLst>
            </a:pPr>
            <a:r>
              <a:rPr dirty="0">
                <a:latin typeface="Trebuchet MS"/>
                <a:cs typeface="Trebuchet MS"/>
              </a:rPr>
              <a:t>The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inverse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autoregressive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flow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also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flow,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53" dirty="0">
                <a:latin typeface="Trebuchet MS"/>
                <a:cs typeface="Trebuchet MS"/>
              </a:rPr>
              <a:t>called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45" dirty="0">
                <a:latin typeface="Trebuchet MS"/>
                <a:cs typeface="Trebuchet MS"/>
              </a:rPr>
              <a:t>inverse 	</a:t>
            </a:r>
            <a:r>
              <a:rPr spc="56" dirty="0">
                <a:latin typeface="Trebuchet MS"/>
                <a:cs typeface="Trebuchet MS"/>
              </a:rPr>
              <a:t>autoregressive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38" dirty="0">
                <a:latin typeface="Trebuchet MS"/>
                <a:cs typeface="Trebuchet MS"/>
              </a:rPr>
              <a:t>flow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(IAF)</a:t>
            </a:r>
            <a:endParaRPr lang="en-US" spc="-8" dirty="0">
              <a:latin typeface="Trebuchet MS"/>
              <a:cs typeface="Trebuchet MS"/>
            </a:endParaRPr>
          </a:p>
          <a:p>
            <a:pPr marL="637222" marR="722948" lvl="1" indent="-170497">
              <a:spcBef>
                <a:spcPts val="75"/>
              </a:spcBef>
              <a:buFont typeface="Arial"/>
              <a:buChar char="•"/>
              <a:tabLst>
                <a:tab pos="180975" algn="l"/>
              </a:tabLst>
            </a:pPr>
            <a:r>
              <a:rPr sz="2644" baseline="1182" dirty="0">
                <a:latin typeface="Trebuchet MS"/>
                <a:cs typeface="Trebuchet MS"/>
              </a:rPr>
              <a:t>x</a:t>
            </a:r>
            <a:r>
              <a:rPr sz="2644" spc="-90" baseline="1182" dirty="0">
                <a:latin typeface="Trebuchet MS"/>
                <a:cs typeface="Trebuchet MS"/>
              </a:rPr>
              <a:t> </a:t>
            </a:r>
            <a:r>
              <a:rPr b="1" dirty="0">
                <a:latin typeface="Times New Roman"/>
                <a:cs typeface="Times New Roman"/>
              </a:rPr>
              <a:t>→</a:t>
            </a:r>
            <a:r>
              <a:rPr b="1" spc="23" dirty="0">
                <a:latin typeface="Times New Roman"/>
                <a:cs typeface="Times New Roman"/>
              </a:rPr>
              <a:t> </a:t>
            </a:r>
            <a:r>
              <a:rPr sz="2644" baseline="1182" dirty="0">
                <a:latin typeface="Trebuchet MS"/>
                <a:cs typeface="Trebuchet MS"/>
              </a:rPr>
              <a:t>z</a:t>
            </a:r>
            <a:r>
              <a:rPr sz="2644" spc="-90" baseline="1182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has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same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23" dirty="0">
                <a:latin typeface="Trebuchet MS"/>
                <a:cs typeface="Trebuchet MS"/>
              </a:rPr>
              <a:t>structure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as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90" dirty="0">
                <a:latin typeface="Trebuchet MS"/>
                <a:cs typeface="Trebuchet MS"/>
              </a:rPr>
              <a:t>sampling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in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autoregressive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lang="en-US" spc="-68" dirty="0">
                <a:latin typeface="Trebuchet MS"/>
                <a:cs typeface="Trebuchet MS"/>
              </a:rPr>
              <a:t>	   </a:t>
            </a:r>
            <a:r>
              <a:rPr spc="-8" dirty="0">
                <a:latin typeface="Trebuchet MS"/>
                <a:cs typeface="Trebuchet MS"/>
              </a:rPr>
              <a:t>model</a:t>
            </a:r>
            <a:endParaRPr lang="en-US" spc="-8" dirty="0">
              <a:latin typeface="Trebuchet MS"/>
              <a:cs typeface="Trebuchet MS"/>
            </a:endParaRPr>
          </a:p>
          <a:p>
            <a:pPr marL="637222" marR="722948" lvl="1" indent="-170497">
              <a:spcBef>
                <a:spcPts val="75"/>
              </a:spcBef>
              <a:buFont typeface="Arial"/>
              <a:buChar char="•"/>
              <a:tabLst>
                <a:tab pos="180975" algn="l"/>
              </a:tabLst>
            </a:pPr>
            <a:r>
              <a:rPr sz="2644" baseline="1182" dirty="0">
                <a:latin typeface="Trebuchet MS"/>
                <a:cs typeface="Trebuchet MS"/>
              </a:rPr>
              <a:t>z</a:t>
            </a:r>
            <a:r>
              <a:rPr sz="2644" spc="-39" baseline="1182" dirty="0">
                <a:latin typeface="Trebuchet MS"/>
                <a:cs typeface="Trebuchet MS"/>
              </a:rPr>
              <a:t> </a:t>
            </a:r>
            <a:r>
              <a:rPr b="1" dirty="0">
                <a:latin typeface="Times New Roman"/>
                <a:cs typeface="Times New Roman"/>
              </a:rPr>
              <a:t>→</a:t>
            </a:r>
            <a:r>
              <a:rPr b="1" spc="53" dirty="0">
                <a:latin typeface="Times New Roman"/>
                <a:cs typeface="Times New Roman"/>
              </a:rPr>
              <a:t> </a:t>
            </a:r>
            <a:r>
              <a:rPr sz="2644" baseline="1182" dirty="0">
                <a:latin typeface="Trebuchet MS"/>
                <a:cs typeface="Trebuchet MS"/>
              </a:rPr>
              <a:t>x</a:t>
            </a:r>
            <a:r>
              <a:rPr sz="2644" spc="-39" baseline="1182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has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same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23" dirty="0">
                <a:latin typeface="Trebuchet MS"/>
                <a:cs typeface="Trebuchet MS"/>
              </a:rPr>
              <a:t>structure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as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90" dirty="0">
                <a:latin typeface="Trebuchet MS"/>
                <a:cs typeface="Trebuchet MS"/>
              </a:rPr>
              <a:t>log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likelihood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computation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an 	</a:t>
            </a:r>
            <a:r>
              <a:rPr lang="en-US" spc="-19" dirty="0">
                <a:latin typeface="Trebuchet MS"/>
                <a:cs typeface="Trebuchet MS"/>
              </a:rPr>
              <a:t>   </a:t>
            </a:r>
            <a:r>
              <a:rPr dirty="0">
                <a:latin typeface="Trebuchet MS"/>
                <a:cs typeface="Trebuchet MS"/>
              </a:rPr>
              <a:t>autoregressive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model.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So,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90" dirty="0">
                <a:latin typeface="Trebuchet MS"/>
                <a:cs typeface="Trebuchet MS"/>
              </a:rPr>
              <a:t>IAF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90" dirty="0">
                <a:latin typeface="Trebuchet MS"/>
                <a:cs typeface="Trebuchet MS"/>
              </a:rPr>
              <a:t>sampling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71" dirty="0">
                <a:latin typeface="Trebuchet MS"/>
                <a:cs typeface="Trebuchet MS"/>
              </a:rPr>
              <a:t>is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fast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1630" y="3284220"/>
            <a:ext cx="2382012" cy="12664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5158" y="3256788"/>
            <a:ext cx="2382012" cy="12961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2CBAD13-850A-4497-BFFB-86852852BF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04800" y="114300"/>
            <a:ext cx="6781800" cy="857250"/>
          </a:xfrm>
        </p:spPr>
        <p:txBody>
          <a:bodyPr>
            <a:normAutofit/>
          </a:bodyPr>
          <a:lstStyle/>
          <a:p>
            <a:r>
              <a:rPr lang="en-US" spc="-82" dirty="0"/>
              <a:t>Autoregressive</a:t>
            </a:r>
            <a:r>
              <a:rPr lang="en-US" spc="-45" dirty="0"/>
              <a:t> </a:t>
            </a:r>
            <a:r>
              <a:rPr lang="en-US" spc="-82" dirty="0"/>
              <a:t>models</a:t>
            </a:r>
            <a:r>
              <a:rPr lang="en-US" spc="-52" dirty="0"/>
              <a:t> </a:t>
            </a:r>
            <a:r>
              <a:rPr lang="en-US" spc="-45" dirty="0"/>
              <a:t>as flow</a:t>
            </a:r>
            <a:r>
              <a:rPr lang="en-US" spc="-52" dirty="0"/>
              <a:t> </a:t>
            </a:r>
            <a:r>
              <a:rPr lang="en-US" spc="-37" dirty="0"/>
              <a:t>models</a:t>
            </a:r>
            <a:endParaRPr lang="en-IN" dirty="0"/>
          </a:p>
        </p:txBody>
      </p:sp>
      <p:sp>
        <p:nvSpPr>
          <p:cNvPr id="4" name="object 4"/>
          <p:cNvSpPr txBox="1"/>
          <p:nvPr/>
        </p:nvSpPr>
        <p:spPr>
          <a:xfrm>
            <a:off x="829449" y="1083789"/>
            <a:ext cx="4284032" cy="294153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304625" indent="-285750">
              <a:spcBef>
                <a:spcPts val="134"/>
              </a:spcBef>
              <a:buFont typeface="Arial" panose="020B0604020202020204" pitchFamily="34" charset="0"/>
              <a:buChar char="•"/>
            </a:pP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autoregressive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0767" y="1320836"/>
            <a:ext cx="120801" cy="233550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sz="1400" i="1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6030" y="1490181"/>
            <a:ext cx="301060" cy="294153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18875">
              <a:spcBef>
                <a:spcPts val="134"/>
              </a:spcBef>
            </a:pPr>
            <a:r>
              <a:rPr lang="el-GR" spc="10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9491" y="1532445"/>
            <a:ext cx="843990" cy="295105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8000" y="1439397"/>
            <a:ext cx="2227203" cy="294153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18875">
              <a:spcBef>
                <a:spcPts val="134"/>
              </a:spcBef>
              <a:tabLst>
                <a:tab pos="967330" algn="l"/>
              </a:tabLst>
            </a:pPr>
            <a:r>
              <a:rPr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b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200" i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200" b="1" spc="7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9449" y="1957583"/>
            <a:ext cx="7628751" cy="2973274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361249" marR="189691" indent="-285750" algn="just">
              <a:lnSpc>
                <a:spcPct val="102600"/>
              </a:lnSpc>
              <a:spcBef>
                <a:spcPts val="1382"/>
              </a:spcBef>
              <a:buFont typeface="Arial" panose="020B0604020202020204" pitchFamily="34" charset="0"/>
              <a:buChar char="•"/>
            </a:pP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spc="-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468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6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spc="-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59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67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119">
                <a:latin typeface="Freestyle Script" panose="030804020302050B04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15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i="1" spc="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spc="-2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spc="-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32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−1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i="1"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i="1" spc="-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spc="-2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spc="-2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spc="-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32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10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−1</a:t>
            </a:r>
            <a:r>
              <a:rPr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  <a:r>
              <a:rPr spc="10" baseline="2777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Here,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i="1" spc="4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(·)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i="1" spc="15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(·)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networks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14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</a:t>
            </a:r>
            <a:r>
              <a:rPr i="1"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constants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14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1249" indent="-285750" algn="just"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Sampler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2718" indent="-285750"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4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∼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-2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2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 ,  </a:t>
            </a:r>
            <a:r>
              <a:rPr i="1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2718" indent="-285750"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pc="223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pc="1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pc="19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2718" marR="1238181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spc="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pc="266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pc="144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pc="22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spc="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55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pc="-3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72718" marR="1238181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pc="223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pc="1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pc="18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1249" marR="64174" indent="-285750" algn="just">
              <a:lnSpc>
                <a:spcPct val="10260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b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b="1" spc="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  <a:r>
              <a:rPr b="1" spc="2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transforms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samples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2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i="1" spc="-33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i="1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10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i="1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spc="-10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invertible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(parameterized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i="1" spc="4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4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(·)</a:t>
            </a:r>
            <a:r>
              <a:rPr i="1" spc="-14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i="1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i="1" spc="15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1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(·))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75CFFD-D2E8-4939-A0A4-D2D5B9E3CE74}"/>
              </a:ext>
            </a:extLst>
          </p:cNvPr>
          <p:cNvSpPr/>
          <p:nvPr/>
        </p:nvSpPr>
        <p:spPr>
          <a:xfrm>
            <a:off x="3688213" y="1668841"/>
            <a:ext cx="5640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147223" algn="ctr">
              <a:spcBef>
                <a:spcPts val="141"/>
              </a:spcBef>
            </a:pPr>
            <a:r>
              <a:rPr lang="en-IN" sz="1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400" i="1" spc="-17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348065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711D72B-7607-49B6-B3CE-EF9EF8D0969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7" dirty="0"/>
              <a:t>Masked</a:t>
            </a:r>
            <a:r>
              <a:rPr lang="en-IN" spc="-89" dirty="0"/>
              <a:t> </a:t>
            </a:r>
            <a:r>
              <a:rPr lang="en-IN" spc="-82" dirty="0"/>
              <a:t>Autoregressive </a:t>
            </a:r>
            <a:r>
              <a:rPr lang="en-IN" dirty="0"/>
              <a:t>Flow</a:t>
            </a:r>
            <a:r>
              <a:rPr lang="en-IN" spc="-82" dirty="0"/>
              <a:t> </a:t>
            </a:r>
            <a:r>
              <a:rPr lang="en-IN" spc="67" dirty="0"/>
              <a:t>(MAF)</a:t>
            </a:r>
            <a:endParaRPr lang="en-IN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24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3540" y="1081256"/>
            <a:ext cx="3194362" cy="24057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3912" y="3668647"/>
            <a:ext cx="96999" cy="96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94588" y="3950738"/>
            <a:ext cx="78161" cy="781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94588" y="4176390"/>
            <a:ext cx="78161" cy="781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07249" y="3507359"/>
            <a:ext cx="5650300" cy="1121791"/>
          </a:xfrm>
          <a:prstGeom prst="rect">
            <a:avLst/>
          </a:prstGeom>
        </p:spPr>
        <p:txBody>
          <a:bodyPr vert="horz" wrap="square" lIns="0" tIns="53794" rIns="0" bIns="0" rtlCol="0">
            <a:spAutoFit/>
          </a:bodyPr>
          <a:lstStyle/>
          <a:p>
            <a:pPr marL="56624">
              <a:spcBef>
                <a:spcPts val="424"/>
              </a:spcBef>
            </a:pPr>
            <a:r>
              <a:rPr sz="1635" spc="-82" dirty="0">
                <a:latin typeface="Tahoma"/>
                <a:cs typeface="Tahoma"/>
              </a:rPr>
              <a:t>Forward</a:t>
            </a:r>
            <a:r>
              <a:rPr sz="1635" spc="-52" dirty="0">
                <a:latin typeface="Tahoma"/>
                <a:cs typeface="Tahoma"/>
              </a:rPr>
              <a:t> </a:t>
            </a:r>
            <a:r>
              <a:rPr sz="1635" spc="-59" dirty="0">
                <a:latin typeface="Tahoma"/>
                <a:cs typeface="Tahoma"/>
              </a:rPr>
              <a:t>mapping </a:t>
            </a:r>
            <a:r>
              <a:rPr sz="1635" spc="-30" dirty="0">
                <a:latin typeface="Tahoma"/>
                <a:cs typeface="Tahoma"/>
              </a:rPr>
              <a:t>from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635" b="1" spc="-52" dirty="0">
                <a:latin typeface="Gill Sans MT"/>
                <a:cs typeface="Gill Sans MT"/>
              </a:rPr>
              <a:t> </a:t>
            </a:r>
            <a:r>
              <a:rPr sz="1635" spc="-163" dirty="0">
                <a:latin typeface="Lucida Sans Unicode"/>
                <a:cs typeface="Lucida Sans Unicode"/>
              </a:rPr>
              <a:t>'→</a:t>
            </a:r>
            <a:r>
              <a:rPr sz="1635" spc="-74" dirty="0">
                <a:latin typeface="Lucida Sans Unicode"/>
                <a:cs typeface="Lucida Sans Unicode"/>
              </a:rPr>
              <a:t> </a:t>
            </a:r>
            <a:r>
              <a:rPr sz="1635" b="1" spc="-37" dirty="0">
                <a:latin typeface="Gill Sans MT"/>
                <a:cs typeface="Gill Sans MT"/>
              </a:rPr>
              <a:t>x</a:t>
            </a:r>
            <a:r>
              <a:rPr sz="1635" spc="-37" dirty="0">
                <a:latin typeface="Tahoma"/>
                <a:cs typeface="Tahoma"/>
              </a:rPr>
              <a:t>:</a:t>
            </a:r>
            <a:endParaRPr sz="1635" dirty="0">
              <a:latin typeface="Tahoma"/>
              <a:cs typeface="Tahoma"/>
            </a:endParaRPr>
          </a:p>
          <a:p>
            <a:pPr marL="468094">
              <a:lnSpc>
                <a:spcPts val="1783"/>
              </a:lnSpc>
              <a:spcBef>
                <a:spcPts val="260"/>
              </a:spcBef>
            </a:pPr>
            <a:r>
              <a:rPr sz="1486" dirty="0">
                <a:latin typeface="Tahoma"/>
                <a:cs typeface="Tahoma"/>
              </a:rPr>
              <a:t>Let</a:t>
            </a:r>
            <a:r>
              <a:rPr sz="1486" spc="15" dirty="0">
                <a:latin typeface="Tahoma"/>
                <a:cs typeface="Tahoma"/>
              </a:rPr>
              <a:t> 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561" spc="223" baseline="-11904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=</a:t>
            </a:r>
            <a:r>
              <a:rPr sz="1486" spc="-52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exp(</a:t>
            </a:r>
            <a:r>
              <a:rPr sz="1486" i="1" spc="-15" dirty="0">
                <a:latin typeface="Times New Roman"/>
                <a:cs typeface="Times New Roman"/>
              </a:rPr>
              <a:t>α</a:t>
            </a:r>
            <a:r>
              <a:rPr sz="1561" spc="-22" baseline="-11904" dirty="0">
                <a:latin typeface="Tahoma"/>
                <a:cs typeface="Tahoma"/>
              </a:rPr>
              <a:t>1</a:t>
            </a:r>
            <a:r>
              <a:rPr sz="1486" spc="-15" dirty="0">
                <a:latin typeface="Tahoma"/>
                <a:cs typeface="Tahoma"/>
              </a:rPr>
              <a:t>)</a:t>
            </a:r>
            <a:r>
              <a:rPr sz="1486" i="1" spc="-15" dirty="0">
                <a:latin typeface="Arial"/>
                <a:cs typeface="Arial"/>
              </a:rPr>
              <a:t>z</a:t>
            </a:r>
            <a:r>
              <a:rPr sz="1561" spc="-22" baseline="-11904" dirty="0">
                <a:latin typeface="Tahoma"/>
                <a:cs typeface="Tahoma"/>
              </a:rPr>
              <a:t>1</a:t>
            </a:r>
            <a:r>
              <a:rPr sz="1561" spc="100" baseline="-11904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+</a:t>
            </a:r>
            <a:r>
              <a:rPr sz="1486" spc="-141" dirty="0">
                <a:latin typeface="Tahoma"/>
                <a:cs typeface="Tahoma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µ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486" dirty="0">
                <a:latin typeface="Tahoma"/>
                <a:cs typeface="Tahoma"/>
              </a:rPr>
              <a:t>.</a:t>
            </a:r>
            <a:r>
              <a:rPr sz="1486" spc="193" dirty="0">
                <a:latin typeface="Tahoma"/>
                <a:cs typeface="Tahoma"/>
              </a:rPr>
              <a:t> </a:t>
            </a:r>
            <a:r>
              <a:rPr sz="1486" spc="-30" dirty="0">
                <a:latin typeface="Tahoma"/>
                <a:cs typeface="Tahoma"/>
              </a:rPr>
              <a:t>Compute</a:t>
            </a:r>
            <a:r>
              <a:rPr sz="1486" spc="15" dirty="0">
                <a:latin typeface="Tahoma"/>
                <a:cs typeface="Tahoma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µ</a:t>
            </a:r>
            <a:r>
              <a:rPr sz="1561" baseline="-11904" dirty="0">
                <a:latin typeface="Tahoma"/>
                <a:cs typeface="Tahoma"/>
              </a:rPr>
              <a:t>2</a:t>
            </a:r>
            <a:r>
              <a:rPr sz="1486" dirty="0">
                <a:latin typeface="Tahoma"/>
                <a:cs typeface="Tahoma"/>
              </a:rPr>
              <a:t>(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486" dirty="0">
                <a:latin typeface="Tahoma"/>
                <a:cs typeface="Tahoma"/>
              </a:rPr>
              <a:t>)</a:t>
            </a:r>
            <a:r>
              <a:rPr sz="1486" i="1" dirty="0">
                <a:latin typeface="Times New Roman"/>
                <a:cs typeface="Times New Roman"/>
              </a:rPr>
              <a:t>,</a:t>
            </a:r>
            <a:r>
              <a:rPr sz="1486" i="1" spc="-126" dirty="0">
                <a:latin typeface="Times New Roman"/>
                <a:cs typeface="Times New Roman"/>
              </a:rPr>
              <a:t> </a:t>
            </a:r>
            <a:r>
              <a:rPr sz="1486" i="1" spc="-15" dirty="0">
                <a:latin typeface="Times New Roman"/>
                <a:cs typeface="Times New Roman"/>
              </a:rPr>
              <a:t>α</a:t>
            </a:r>
            <a:r>
              <a:rPr sz="1561" spc="-22" baseline="-11904" dirty="0">
                <a:latin typeface="Tahoma"/>
                <a:cs typeface="Tahoma"/>
              </a:rPr>
              <a:t>2</a:t>
            </a:r>
            <a:r>
              <a:rPr sz="1486" spc="-15" dirty="0">
                <a:latin typeface="Tahoma"/>
                <a:cs typeface="Tahoma"/>
              </a:rPr>
              <a:t>(</a:t>
            </a:r>
            <a:r>
              <a:rPr sz="1486" i="1" spc="-15" dirty="0">
                <a:latin typeface="Arial"/>
                <a:cs typeface="Arial"/>
              </a:rPr>
              <a:t>x</a:t>
            </a:r>
            <a:r>
              <a:rPr sz="1561" spc="-22" baseline="-11904" dirty="0">
                <a:latin typeface="Tahoma"/>
                <a:cs typeface="Tahoma"/>
              </a:rPr>
              <a:t>1</a:t>
            </a:r>
            <a:r>
              <a:rPr sz="1486" spc="-15" dirty="0">
                <a:latin typeface="Tahoma"/>
                <a:cs typeface="Tahoma"/>
              </a:rPr>
              <a:t>)</a:t>
            </a:r>
            <a:endParaRPr sz="1486" dirty="0">
              <a:latin typeface="Tahoma"/>
              <a:cs typeface="Tahoma"/>
            </a:endParaRPr>
          </a:p>
          <a:p>
            <a:pPr marL="468094">
              <a:lnSpc>
                <a:spcPts val="1783"/>
              </a:lnSpc>
            </a:pPr>
            <a:r>
              <a:rPr sz="1486" dirty="0">
                <a:latin typeface="Tahoma"/>
                <a:cs typeface="Tahoma"/>
              </a:rPr>
              <a:t>Let</a:t>
            </a:r>
            <a:r>
              <a:rPr sz="1486" spc="52" dirty="0">
                <a:latin typeface="Tahoma"/>
                <a:cs typeface="Tahoma"/>
              </a:rPr>
              <a:t> 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2</a:t>
            </a:r>
            <a:r>
              <a:rPr sz="1561" spc="266" baseline="-11904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=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exp(</a:t>
            </a:r>
            <a:r>
              <a:rPr sz="1486" i="1" spc="-15" dirty="0">
                <a:latin typeface="Times New Roman"/>
                <a:cs typeface="Times New Roman"/>
              </a:rPr>
              <a:t>α</a:t>
            </a:r>
            <a:r>
              <a:rPr sz="1561" spc="-22" baseline="-11904" dirty="0">
                <a:latin typeface="Tahoma"/>
                <a:cs typeface="Tahoma"/>
              </a:rPr>
              <a:t>2</a:t>
            </a:r>
            <a:r>
              <a:rPr sz="1486" spc="-15" dirty="0">
                <a:latin typeface="Tahoma"/>
                <a:cs typeface="Tahoma"/>
              </a:rPr>
              <a:t>)</a:t>
            </a:r>
            <a:r>
              <a:rPr sz="1486" i="1" spc="-15" dirty="0">
                <a:latin typeface="Arial"/>
                <a:cs typeface="Arial"/>
              </a:rPr>
              <a:t>z</a:t>
            </a:r>
            <a:r>
              <a:rPr sz="1561" spc="-22" baseline="-11904" dirty="0">
                <a:latin typeface="Tahoma"/>
                <a:cs typeface="Tahoma"/>
              </a:rPr>
              <a:t>2</a:t>
            </a:r>
            <a:r>
              <a:rPr sz="1561" spc="144" baseline="-11904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+</a:t>
            </a:r>
            <a:r>
              <a:rPr sz="1486" spc="-126" dirty="0">
                <a:latin typeface="Tahoma"/>
                <a:cs typeface="Tahoma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µ</a:t>
            </a:r>
            <a:r>
              <a:rPr sz="1561" baseline="-11904" dirty="0">
                <a:latin typeface="Tahoma"/>
                <a:cs typeface="Tahoma"/>
              </a:rPr>
              <a:t>2</a:t>
            </a:r>
            <a:r>
              <a:rPr sz="1486" dirty="0">
                <a:latin typeface="Tahoma"/>
                <a:cs typeface="Tahoma"/>
              </a:rPr>
              <a:t>.</a:t>
            </a:r>
            <a:r>
              <a:rPr sz="1486" spc="223" dirty="0">
                <a:latin typeface="Tahoma"/>
                <a:cs typeface="Tahoma"/>
              </a:rPr>
              <a:t> </a:t>
            </a:r>
            <a:r>
              <a:rPr sz="1486" spc="-30" dirty="0">
                <a:latin typeface="Tahoma"/>
                <a:cs typeface="Tahoma"/>
              </a:rPr>
              <a:t>Compute</a:t>
            </a:r>
            <a:r>
              <a:rPr sz="1486" spc="52" dirty="0">
                <a:latin typeface="Tahoma"/>
                <a:cs typeface="Tahoma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µ</a:t>
            </a:r>
            <a:r>
              <a:rPr sz="1561" baseline="-11904" dirty="0">
                <a:latin typeface="Tahoma"/>
                <a:cs typeface="Tahoma"/>
              </a:rPr>
              <a:t>3</a:t>
            </a:r>
            <a:r>
              <a:rPr sz="1486" dirty="0">
                <a:latin typeface="Tahoma"/>
                <a:cs typeface="Tahoma"/>
              </a:rPr>
              <a:t>(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486" i="1" dirty="0">
                <a:latin typeface="Times New Roman"/>
                <a:cs typeface="Times New Roman"/>
              </a:rPr>
              <a:t>,</a:t>
            </a:r>
            <a:r>
              <a:rPr sz="1486" i="1" spc="-119" dirty="0">
                <a:latin typeface="Times New Roman"/>
                <a:cs typeface="Times New Roman"/>
              </a:rPr>
              <a:t> 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2</a:t>
            </a:r>
            <a:r>
              <a:rPr sz="1486" dirty="0">
                <a:latin typeface="Tahoma"/>
                <a:cs typeface="Tahoma"/>
              </a:rPr>
              <a:t>)</a:t>
            </a:r>
            <a:r>
              <a:rPr sz="1486" i="1" dirty="0">
                <a:latin typeface="Times New Roman"/>
                <a:cs typeface="Times New Roman"/>
              </a:rPr>
              <a:t>,</a:t>
            </a:r>
            <a:r>
              <a:rPr sz="1486" i="1" spc="-111" dirty="0">
                <a:latin typeface="Times New Roman"/>
                <a:cs typeface="Times New Roman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α</a:t>
            </a:r>
            <a:r>
              <a:rPr sz="1561" baseline="-11904" dirty="0">
                <a:latin typeface="Tahoma"/>
                <a:cs typeface="Tahoma"/>
              </a:rPr>
              <a:t>3</a:t>
            </a:r>
            <a:r>
              <a:rPr sz="1486" dirty="0">
                <a:latin typeface="Tahoma"/>
                <a:cs typeface="Tahoma"/>
              </a:rPr>
              <a:t>(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486" i="1" dirty="0">
                <a:latin typeface="Times New Roman"/>
                <a:cs typeface="Times New Roman"/>
              </a:rPr>
              <a:t>,</a:t>
            </a:r>
            <a:r>
              <a:rPr sz="1486" i="1" spc="-111" dirty="0">
                <a:latin typeface="Times New Roman"/>
                <a:cs typeface="Times New Roman"/>
              </a:rPr>
              <a:t> </a:t>
            </a:r>
            <a:r>
              <a:rPr sz="1486" i="1" spc="-37" dirty="0">
                <a:latin typeface="Arial"/>
                <a:cs typeface="Arial"/>
              </a:rPr>
              <a:t>x</a:t>
            </a:r>
            <a:r>
              <a:rPr sz="1561" spc="-55" baseline="-11904" dirty="0">
                <a:latin typeface="Tahoma"/>
                <a:cs typeface="Tahoma"/>
              </a:rPr>
              <a:t>2</a:t>
            </a:r>
            <a:r>
              <a:rPr sz="1486" spc="-37" dirty="0">
                <a:latin typeface="Tahoma"/>
                <a:cs typeface="Tahoma"/>
              </a:rPr>
              <a:t>)</a:t>
            </a:r>
            <a:endParaRPr sz="1486" dirty="0">
              <a:latin typeface="Tahoma"/>
              <a:cs typeface="Tahoma"/>
            </a:endParaRPr>
          </a:p>
          <a:p>
            <a:pPr marL="56624">
              <a:spcBef>
                <a:spcPts val="528"/>
              </a:spcBef>
            </a:pPr>
            <a:r>
              <a:rPr sz="1635" spc="-45" dirty="0">
                <a:latin typeface="Tahoma"/>
                <a:cs typeface="Tahoma"/>
              </a:rPr>
              <a:t>Sampling </a:t>
            </a:r>
            <a:r>
              <a:rPr sz="1635" dirty="0">
                <a:latin typeface="Tahoma"/>
                <a:cs typeface="Tahoma"/>
              </a:rPr>
              <a:t>is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59" dirty="0">
                <a:latin typeface="Tahoma"/>
                <a:cs typeface="Tahoma"/>
              </a:rPr>
              <a:t>sequential</a:t>
            </a:r>
            <a:r>
              <a:rPr sz="1635" spc="-30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and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slow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(like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autoregressive):</a:t>
            </a:r>
            <a:r>
              <a:rPr sz="1635" spc="134" dirty="0">
                <a:latin typeface="Tahoma"/>
                <a:cs typeface="Tahoma"/>
              </a:rPr>
              <a:t> </a:t>
            </a:r>
            <a:r>
              <a:rPr sz="1635" i="1" dirty="0">
                <a:latin typeface="Arial"/>
                <a:cs typeface="Arial"/>
              </a:rPr>
              <a:t>O</a:t>
            </a:r>
            <a:r>
              <a:rPr sz="1635" dirty="0">
                <a:latin typeface="Tahoma"/>
                <a:cs typeface="Tahoma"/>
              </a:rPr>
              <a:t>(</a:t>
            </a:r>
            <a:r>
              <a:rPr sz="1635" i="1" dirty="0">
                <a:latin typeface="Arial"/>
                <a:cs typeface="Arial"/>
              </a:rPr>
              <a:t>n</a:t>
            </a:r>
            <a:r>
              <a:rPr sz="1635" dirty="0">
                <a:latin typeface="Tahoma"/>
                <a:cs typeface="Tahoma"/>
              </a:rPr>
              <a:t>)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30" dirty="0">
                <a:latin typeface="Tahoma"/>
                <a:cs typeface="Tahoma"/>
              </a:rPr>
              <a:t>time</a:t>
            </a:r>
            <a:endParaRPr sz="1635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3912" y="4469712"/>
            <a:ext cx="96999" cy="9699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52055" y="4700800"/>
            <a:ext cx="257552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675"/>
          </a:p>
        </p:txBody>
      </p:sp>
      <p:sp>
        <p:nvSpPr>
          <p:cNvPr id="14" name="object 14"/>
          <p:cNvSpPr txBox="1"/>
          <p:nvPr/>
        </p:nvSpPr>
        <p:spPr>
          <a:xfrm>
            <a:off x="1646282" y="4750755"/>
            <a:ext cx="323433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75">
              <a:lnSpc>
                <a:spcPts val="1427"/>
              </a:lnSpc>
            </a:pPr>
            <a:r>
              <a:rPr sz="1338" spc="-15" dirty="0">
                <a:latin typeface="Arial"/>
                <a:cs typeface="Arial"/>
              </a:rPr>
              <a:t>Figure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spc="-37" dirty="0">
                <a:latin typeface="Arial"/>
                <a:cs typeface="Arial"/>
              </a:rPr>
              <a:t>adapted</a:t>
            </a:r>
            <a:r>
              <a:rPr sz="1338" dirty="0">
                <a:latin typeface="Arial"/>
                <a:cs typeface="Arial"/>
              </a:rPr>
              <a:t> from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dirty="0">
                <a:latin typeface="Arial"/>
                <a:cs typeface="Arial"/>
              </a:rPr>
              <a:t>Eric </a:t>
            </a:r>
            <a:r>
              <a:rPr sz="1338" spc="-30" dirty="0">
                <a:latin typeface="Arial"/>
                <a:cs typeface="Arial"/>
              </a:rPr>
              <a:t>Jang’s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lang="en-US" sz="1338" spc="-30" dirty="0">
                <a:latin typeface="Arial"/>
                <a:cs typeface="Arial"/>
              </a:rPr>
              <a:t>Tutorial</a:t>
            </a:r>
            <a:endParaRPr sz="133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1328880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21B5965-54D0-4673-94FA-FC578F9FFC9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37" dirty="0"/>
              <a:t>Masked</a:t>
            </a:r>
            <a:r>
              <a:rPr lang="en-IN" spc="-89" dirty="0"/>
              <a:t> </a:t>
            </a:r>
            <a:r>
              <a:rPr lang="en-IN" spc="-82" dirty="0"/>
              <a:t>Autoregressive </a:t>
            </a:r>
            <a:r>
              <a:rPr lang="en-IN" dirty="0"/>
              <a:t>Flow (MAF)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0" y="1191986"/>
            <a:ext cx="3211296" cy="22910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9857" y="1128519"/>
            <a:ext cx="5072743" cy="3072093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342374" indent="-285750">
              <a:spcBef>
                <a:spcPts val="134"/>
              </a:spcBef>
              <a:buFont typeface="Arial" panose="020B0604020202020204" pitchFamily="34" charset="0"/>
              <a:buChar char="•"/>
            </a:pPr>
            <a:r>
              <a:rPr sz="1635" spc="-111" dirty="0">
                <a:latin typeface="Tahoma"/>
                <a:cs typeface="Tahoma"/>
              </a:rPr>
              <a:t>Inverse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59" dirty="0">
                <a:latin typeface="Tahoma"/>
                <a:cs typeface="Tahoma"/>
              </a:rPr>
              <a:t>mapping</a:t>
            </a:r>
            <a:r>
              <a:rPr sz="1635" spc="-67" dirty="0">
                <a:latin typeface="Tahoma"/>
                <a:cs typeface="Tahoma"/>
              </a:rPr>
              <a:t> </a:t>
            </a:r>
            <a:r>
              <a:rPr sz="1635" spc="-30" dirty="0">
                <a:latin typeface="Tahoma"/>
                <a:cs typeface="Tahoma"/>
              </a:rPr>
              <a:t>from </a:t>
            </a:r>
            <a:r>
              <a:rPr sz="1635" b="1" dirty="0">
                <a:latin typeface="Gill Sans MT"/>
                <a:cs typeface="Gill Sans MT"/>
              </a:rPr>
              <a:t>x</a:t>
            </a:r>
            <a:r>
              <a:rPr sz="1635" b="1" spc="-45" dirty="0">
                <a:latin typeface="Gill Sans MT"/>
                <a:cs typeface="Gill Sans MT"/>
              </a:rPr>
              <a:t> </a:t>
            </a:r>
            <a:r>
              <a:rPr sz="1635" spc="-163" dirty="0">
                <a:latin typeface="Lucida Sans Unicode"/>
                <a:cs typeface="Lucida Sans Unicode"/>
              </a:rPr>
              <a:t>'→</a:t>
            </a:r>
            <a:r>
              <a:rPr sz="1635" spc="-74" dirty="0">
                <a:latin typeface="Lucida Sans Unicode"/>
                <a:cs typeface="Lucida Sans Unicode"/>
              </a:rPr>
              <a:t> </a:t>
            </a:r>
            <a:r>
              <a:rPr sz="1635" b="1" spc="-37" dirty="0">
                <a:latin typeface="Gill Sans MT"/>
                <a:cs typeface="Gill Sans MT"/>
              </a:rPr>
              <a:t>z</a:t>
            </a:r>
            <a:r>
              <a:rPr sz="1635" spc="-37" dirty="0">
                <a:latin typeface="Tahoma"/>
                <a:cs typeface="Tahoma"/>
              </a:rPr>
              <a:t>:</a:t>
            </a:r>
            <a:endParaRPr sz="1635" dirty="0">
              <a:latin typeface="Tahoma"/>
              <a:cs typeface="Tahoma"/>
            </a:endParaRPr>
          </a:p>
          <a:p>
            <a:pPr marL="753844" marR="568130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sz="1486" spc="-30" dirty="0">
                <a:latin typeface="Tahoma"/>
                <a:cs typeface="Tahoma"/>
              </a:rPr>
              <a:t>Compute</a:t>
            </a:r>
            <a:r>
              <a:rPr sz="1486" spc="-82" dirty="0">
                <a:latin typeface="Tahoma"/>
                <a:cs typeface="Tahoma"/>
              </a:rPr>
              <a:t> </a:t>
            </a:r>
            <a:r>
              <a:rPr sz="1486" b="1" dirty="0">
                <a:latin typeface="Gill Sans MT"/>
                <a:cs typeface="Gill Sans MT"/>
              </a:rPr>
              <a:t>all</a:t>
            </a:r>
            <a:r>
              <a:rPr sz="1486" b="1" spc="22" dirty="0">
                <a:latin typeface="Gill Sans MT"/>
                <a:cs typeface="Gill Sans MT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µ</a:t>
            </a:r>
            <a:r>
              <a:rPr sz="1561" i="1" baseline="-11904" dirty="0">
                <a:latin typeface="Arial"/>
                <a:cs typeface="Arial"/>
              </a:rPr>
              <a:t>i</a:t>
            </a:r>
            <a:r>
              <a:rPr sz="1561" i="1" spc="-178" baseline="-11904" dirty="0">
                <a:latin typeface="Arial"/>
                <a:cs typeface="Arial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,</a:t>
            </a:r>
            <a:r>
              <a:rPr sz="1486" i="1" spc="-126" dirty="0">
                <a:latin typeface="Times New Roman"/>
                <a:cs typeface="Times New Roman"/>
              </a:rPr>
              <a:t> </a:t>
            </a:r>
            <a:r>
              <a:rPr sz="1486" i="1" spc="97" dirty="0">
                <a:latin typeface="Times New Roman"/>
                <a:cs typeface="Times New Roman"/>
              </a:rPr>
              <a:t>α</a:t>
            </a:r>
            <a:r>
              <a:rPr sz="1561" i="1" spc="144" baseline="-11904" dirty="0">
                <a:latin typeface="Arial"/>
                <a:cs typeface="Arial"/>
              </a:rPr>
              <a:t>i</a:t>
            </a:r>
            <a:r>
              <a:rPr sz="1561" i="1" spc="468" baseline="-11904" dirty="0">
                <a:latin typeface="Arial"/>
                <a:cs typeface="Arial"/>
              </a:rPr>
              <a:t> </a:t>
            </a:r>
            <a:r>
              <a:rPr sz="1486" spc="-30" dirty="0">
                <a:latin typeface="Tahoma"/>
                <a:cs typeface="Tahoma"/>
              </a:rPr>
              <a:t>(can </a:t>
            </a:r>
            <a:r>
              <a:rPr sz="1486" spc="-15" dirty="0">
                <a:latin typeface="Tahoma"/>
                <a:cs typeface="Tahoma"/>
              </a:rPr>
              <a:t>be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67" dirty="0">
                <a:latin typeface="Tahoma"/>
                <a:cs typeface="Tahoma"/>
              </a:rPr>
              <a:t>done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in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37" dirty="0">
                <a:latin typeface="Tahoma"/>
                <a:cs typeface="Tahoma"/>
              </a:rPr>
              <a:t>parallel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45" dirty="0">
                <a:latin typeface="Tahoma"/>
                <a:cs typeface="Tahoma"/>
              </a:rPr>
              <a:t>using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45" dirty="0">
                <a:latin typeface="Tahoma"/>
                <a:cs typeface="Tahoma"/>
              </a:rPr>
              <a:t>e.g.,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MADE) </a:t>
            </a:r>
            <a:endParaRPr lang="en-US" sz="1486" spc="-15" dirty="0">
              <a:latin typeface="Tahoma"/>
              <a:cs typeface="Tahoma"/>
            </a:endParaRPr>
          </a:p>
          <a:p>
            <a:pPr marL="753844" marR="568130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endParaRPr lang="en-US" sz="1486" spc="-15" dirty="0">
              <a:latin typeface="Tahoma"/>
              <a:cs typeface="Tahoma"/>
            </a:endParaRPr>
          </a:p>
          <a:p>
            <a:pPr marL="753844" marR="568130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sz="1486" dirty="0">
                <a:latin typeface="Tahoma"/>
                <a:cs typeface="Tahoma"/>
              </a:rPr>
              <a:t>Let</a:t>
            </a:r>
            <a:r>
              <a:rPr sz="1486" spc="-89" dirty="0">
                <a:latin typeface="Tahoma"/>
                <a:cs typeface="Tahoma"/>
              </a:rPr>
              <a:t> </a:t>
            </a:r>
            <a:r>
              <a:rPr sz="1486" i="1" dirty="0">
                <a:latin typeface="Arial"/>
                <a:cs typeface="Arial"/>
              </a:rPr>
              <a:t>z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561" spc="144" baseline="-11904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=</a:t>
            </a:r>
            <a:r>
              <a:rPr sz="1486" spc="-97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(</a:t>
            </a:r>
            <a:r>
              <a:rPr sz="1486" i="1" dirty="0">
                <a:latin typeface="Arial"/>
                <a:cs typeface="Arial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561" spc="45" baseline="-11904" dirty="0">
                <a:latin typeface="Tahoma"/>
                <a:cs typeface="Tahoma"/>
              </a:rPr>
              <a:t> </a:t>
            </a:r>
            <a:r>
              <a:rPr sz="1486" spc="-59" dirty="0">
                <a:latin typeface="Lucida Sans Unicode"/>
                <a:cs typeface="Lucida Sans Unicode"/>
              </a:rPr>
              <a:t>−</a:t>
            </a:r>
            <a:r>
              <a:rPr sz="1486" spc="-141" dirty="0">
                <a:latin typeface="Lucida Sans Unicode"/>
                <a:cs typeface="Lucida Sans Unicode"/>
              </a:rPr>
              <a:t> </a:t>
            </a:r>
            <a:r>
              <a:rPr sz="1486" i="1" spc="97" dirty="0">
                <a:latin typeface="Times New Roman"/>
                <a:cs typeface="Times New Roman"/>
              </a:rPr>
              <a:t>µ</a:t>
            </a:r>
            <a:r>
              <a:rPr sz="1561" spc="144" baseline="-11904" dirty="0">
                <a:latin typeface="Tahoma"/>
                <a:cs typeface="Tahoma"/>
              </a:rPr>
              <a:t>1</a:t>
            </a:r>
            <a:r>
              <a:rPr sz="1486" spc="97" dirty="0">
                <a:latin typeface="Tahoma"/>
                <a:cs typeface="Tahoma"/>
              </a:rPr>
              <a:t>)</a:t>
            </a:r>
            <a:r>
              <a:rPr sz="1486" i="1" spc="97" dirty="0">
                <a:latin typeface="Times New Roman"/>
                <a:cs typeface="Times New Roman"/>
              </a:rPr>
              <a:t>/</a:t>
            </a:r>
            <a:r>
              <a:rPr sz="1486" i="1" spc="-126" dirty="0">
                <a:latin typeface="Times New Roman"/>
                <a:cs typeface="Times New Roman"/>
              </a:rPr>
              <a:t> </a:t>
            </a:r>
            <a:r>
              <a:rPr sz="1486" dirty="0">
                <a:latin typeface="Tahoma"/>
                <a:cs typeface="Tahoma"/>
              </a:rPr>
              <a:t>exp(</a:t>
            </a:r>
            <a:r>
              <a:rPr sz="1486" i="1" dirty="0">
                <a:latin typeface="Times New Roman"/>
                <a:cs typeface="Times New Roman"/>
              </a:rPr>
              <a:t>α</a:t>
            </a:r>
            <a:r>
              <a:rPr sz="1561" baseline="-11904" dirty="0">
                <a:latin typeface="Tahoma"/>
                <a:cs typeface="Tahoma"/>
              </a:rPr>
              <a:t>1</a:t>
            </a:r>
            <a:r>
              <a:rPr sz="1486" dirty="0">
                <a:latin typeface="Tahoma"/>
                <a:cs typeface="Tahoma"/>
              </a:rPr>
              <a:t>)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45" dirty="0">
                <a:latin typeface="Tahoma"/>
                <a:cs typeface="Tahoma"/>
              </a:rPr>
              <a:t>(scale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37" dirty="0">
                <a:latin typeface="Tahoma"/>
                <a:cs typeface="Tahoma"/>
              </a:rPr>
              <a:t>and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shift)</a:t>
            </a:r>
            <a:endParaRPr lang="en-US" sz="1486" spc="-15" dirty="0">
              <a:latin typeface="Tahoma"/>
              <a:cs typeface="Tahoma"/>
            </a:endParaRPr>
          </a:p>
          <a:p>
            <a:pPr marL="753844" marR="568130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lang="en-IN" sz="1486" dirty="0">
                <a:latin typeface="Tahoma"/>
                <a:cs typeface="Tahoma"/>
              </a:rPr>
              <a:t>Let</a:t>
            </a:r>
            <a:r>
              <a:rPr lang="en-IN" sz="1486" spc="-89" dirty="0">
                <a:latin typeface="Tahoma"/>
                <a:cs typeface="Tahoma"/>
              </a:rPr>
              <a:t> </a:t>
            </a:r>
            <a:r>
              <a:rPr lang="en-IN" sz="1486" i="1" dirty="0">
                <a:cs typeface="Arial"/>
              </a:rPr>
              <a:t>z</a:t>
            </a:r>
            <a:r>
              <a:rPr lang="en-IN" sz="1561" i="1" baseline="-11904" dirty="0">
                <a:latin typeface="Tahoma"/>
                <a:cs typeface="Tahoma"/>
              </a:rPr>
              <a:t>2</a:t>
            </a:r>
            <a:r>
              <a:rPr lang="en-IN" sz="1561" spc="144" baseline="-11904" dirty="0">
                <a:latin typeface="Tahoma"/>
                <a:cs typeface="Tahoma"/>
              </a:rPr>
              <a:t> </a:t>
            </a:r>
            <a:r>
              <a:rPr lang="en-IN" sz="1486" dirty="0">
                <a:latin typeface="Tahoma"/>
                <a:cs typeface="Tahoma"/>
              </a:rPr>
              <a:t>=</a:t>
            </a:r>
            <a:r>
              <a:rPr lang="en-IN" sz="1486" spc="-97" dirty="0">
                <a:latin typeface="Tahoma"/>
                <a:cs typeface="Tahoma"/>
              </a:rPr>
              <a:t> </a:t>
            </a:r>
            <a:r>
              <a:rPr lang="en-IN" sz="1486" dirty="0">
                <a:latin typeface="Tahoma"/>
                <a:cs typeface="Tahoma"/>
              </a:rPr>
              <a:t>(</a:t>
            </a:r>
            <a:r>
              <a:rPr lang="en-IN" sz="1486" i="1" dirty="0">
                <a:cs typeface="Arial"/>
              </a:rPr>
              <a:t>x</a:t>
            </a:r>
            <a:r>
              <a:rPr lang="en-IN" sz="1561" i="1" baseline="-11904" dirty="0">
                <a:latin typeface="Tahoma"/>
                <a:cs typeface="Tahoma"/>
              </a:rPr>
              <a:t>2</a:t>
            </a:r>
            <a:r>
              <a:rPr lang="en-IN" sz="1561" spc="45" baseline="-11904" dirty="0">
                <a:latin typeface="Tahoma"/>
                <a:cs typeface="Tahoma"/>
              </a:rPr>
              <a:t> </a:t>
            </a:r>
            <a:r>
              <a:rPr lang="en-IN" sz="1486" spc="-59" dirty="0">
                <a:latin typeface="Lucida Sans Unicode"/>
                <a:cs typeface="Lucida Sans Unicode"/>
              </a:rPr>
              <a:t>−</a:t>
            </a:r>
            <a:r>
              <a:rPr lang="en-IN" sz="1486" spc="-141" dirty="0">
                <a:latin typeface="Lucida Sans Unicode"/>
                <a:cs typeface="Lucida Sans Unicode"/>
              </a:rPr>
              <a:t> </a:t>
            </a:r>
            <a:r>
              <a:rPr lang="en-IN" sz="1486" i="1" spc="97" dirty="0">
                <a:latin typeface="Times New Roman"/>
                <a:cs typeface="Times New Roman"/>
              </a:rPr>
              <a:t>µ</a:t>
            </a:r>
            <a:r>
              <a:rPr lang="en-IN" sz="1561" i="1" spc="144" baseline="-11904" dirty="0">
                <a:latin typeface="Tahoma"/>
                <a:cs typeface="Tahoma"/>
              </a:rPr>
              <a:t>2 </a:t>
            </a:r>
            <a:r>
              <a:rPr lang="en-IN" sz="1486" spc="97" dirty="0">
                <a:latin typeface="Tahoma"/>
                <a:cs typeface="Tahoma"/>
              </a:rPr>
              <a:t>)</a:t>
            </a:r>
            <a:r>
              <a:rPr lang="en-IN" sz="1486" i="1" spc="97" dirty="0">
                <a:latin typeface="Times New Roman"/>
                <a:cs typeface="Times New Roman"/>
              </a:rPr>
              <a:t>/</a:t>
            </a:r>
            <a:r>
              <a:rPr lang="en-IN" sz="1486" i="1" spc="-126" dirty="0">
                <a:latin typeface="Times New Roman"/>
                <a:cs typeface="Times New Roman"/>
              </a:rPr>
              <a:t> </a:t>
            </a:r>
            <a:r>
              <a:rPr lang="en-IN" sz="1486" dirty="0">
                <a:latin typeface="Tahoma"/>
                <a:cs typeface="Tahoma"/>
              </a:rPr>
              <a:t>exp(</a:t>
            </a:r>
            <a:r>
              <a:rPr lang="el-GR" sz="1486" i="1" dirty="0">
                <a:latin typeface="Times New Roman"/>
                <a:cs typeface="Times New Roman"/>
              </a:rPr>
              <a:t>α</a:t>
            </a:r>
            <a:r>
              <a:rPr lang="en-US" sz="1561" i="1" baseline="-11904" dirty="0">
                <a:latin typeface="Tahoma"/>
                <a:cs typeface="Tahoma"/>
              </a:rPr>
              <a:t>2</a:t>
            </a:r>
            <a:r>
              <a:rPr lang="el-GR" sz="1486" dirty="0">
                <a:latin typeface="Tahoma"/>
                <a:cs typeface="Tahoma"/>
              </a:rPr>
              <a:t>)</a:t>
            </a:r>
            <a:r>
              <a:rPr lang="el-GR" sz="1486" spc="-30" dirty="0">
                <a:latin typeface="Tahoma"/>
                <a:cs typeface="Tahoma"/>
              </a:rPr>
              <a:t> </a:t>
            </a:r>
            <a:endParaRPr lang="en-US" sz="1486" spc="-30" dirty="0">
              <a:latin typeface="Tahoma"/>
              <a:cs typeface="Tahoma"/>
            </a:endParaRPr>
          </a:p>
          <a:p>
            <a:pPr marL="753844" marR="568130" indent="-285750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lang="en-IN" sz="1486" dirty="0">
                <a:latin typeface="Tahoma"/>
                <a:cs typeface="Tahoma"/>
              </a:rPr>
              <a:t>Let</a:t>
            </a:r>
            <a:r>
              <a:rPr lang="en-IN" sz="1486" spc="-89" dirty="0">
                <a:latin typeface="Tahoma"/>
                <a:cs typeface="Tahoma"/>
              </a:rPr>
              <a:t> </a:t>
            </a:r>
            <a:r>
              <a:rPr lang="en-IN" sz="1486" i="1" dirty="0">
                <a:cs typeface="Arial"/>
              </a:rPr>
              <a:t>z</a:t>
            </a:r>
            <a:r>
              <a:rPr lang="en-IN" sz="1561" i="1" baseline="-11904" dirty="0">
                <a:latin typeface="Tahoma"/>
                <a:cs typeface="Tahoma"/>
              </a:rPr>
              <a:t>3</a:t>
            </a:r>
            <a:r>
              <a:rPr lang="en-IN" sz="1561" spc="144" baseline="-11904" dirty="0">
                <a:latin typeface="Tahoma"/>
                <a:cs typeface="Tahoma"/>
              </a:rPr>
              <a:t> </a:t>
            </a:r>
            <a:r>
              <a:rPr lang="en-IN" sz="1486" dirty="0">
                <a:latin typeface="Tahoma"/>
                <a:cs typeface="Tahoma"/>
              </a:rPr>
              <a:t>=</a:t>
            </a:r>
            <a:r>
              <a:rPr lang="en-IN" sz="1486" spc="-97" dirty="0">
                <a:latin typeface="Tahoma"/>
                <a:cs typeface="Tahoma"/>
              </a:rPr>
              <a:t> </a:t>
            </a:r>
            <a:r>
              <a:rPr lang="en-IN" sz="1486" dirty="0">
                <a:latin typeface="Tahoma"/>
                <a:cs typeface="Tahoma"/>
              </a:rPr>
              <a:t>(</a:t>
            </a:r>
            <a:r>
              <a:rPr lang="en-IN" sz="1486" i="1" dirty="0">
                <a:cs typeface="Arial"/>
              </a:rPr>
              <a:t>x</a:t>
            </a:r>
            <a:r>
              <a:rPr lang="en-IN" sz="1561" i="1" baseline="-11904" dirty="0">
                <a:latin typeface="Tahoma"/>
                <a:cs typeface="Tahoma"/>
              </a:rPr>
              <a:t>3</a:t>
            </a:r>
            <a:r>
              <a:rPr lang="en-IN" sz="1486" spc="-59" dirty="0">
                <a:latin typeface="Lucida Sans Unicode"/>
                <a:cs typeface="Lucida Sans Unicode"/>
              </a:rPr>
              <a:t>−</a:t>
            </a:r>
            <a:r>
              <a:rPr lang="en-IN" sz="1486" spc="-141" dirty="0">
                <a:latin typeface="Lucida Sans Unicode"/>
                <a:cs typeface="Lucida Sans Unicode"/>
              </a:rPr>
              <a:t> </a:t>
            </a:r>
            <a:r>
              <a:rPr lang="en-IN" sz="1486" i="1" spc="97" dirty="0">
                <a:latin typeface="Times New Roman"/>
                <a:cs typeface="Times New Roman"/>
              </a:rPr>
              <a:t>µ</a:t>
            </a:r>
            <a:r>
              <a:rPr lang="en-IN" sz="1561" i="1" spc="144" baseline="-11904" dirty="0">
                <a:latin typeface="Tahoma"/>
                <a:cs typeface="Tahoma"/>
              </a:rPr>
              <a:t>3 </a:t>
            </a:r>
            <a:r>
              <a:rPr lang="en-IN" sz="1486" spc="97" dirty="0">
                <a:latin typeface="Tahoma"/>
                <a:cs typeface="Tahoma"/>
              </a:rPr>
              <a:t>)</a:t>
            </a:r>
            <a:r>
              <a:rPr lang="en-IN" sz="1486" i="1" spc="97" dirty="0">
                <a:latin typeface="Times New Roman"/>
                <a:cs typeface="Times New Roman"/>
              </a:rPr>
              <a:t>/</a:t>
            </a:r>
            <a:r>
              <a:rPr lang="en-IN" sz="1486" i="1" spc="-126" dirty="0">
                <a:latin typeface="Times New Roman"/>
                <a:cs typeface="Times New Roman"/>
              </a:rPr>
              <a:t> </a:t>
            </a:r>
            <a:r>
              <a:rPr lang="en-IN" sz="1486" dirty="0">
                <a:latin typeface="Tahoma"/>
                <a:cs typeface="Tahoma"/>
              </a:rPr>
              <a:t>exp(</a:t>
            </a:r>
            <a:r>
              <a:rPr lang="el-GR" sz="1486" i="1" dirty="0">
                <a:latin typeface="Times New Roman"/>
                <a:cs typeface="Times New Roman"/>
              </a:rPr>
              <a:t>α</a:t>
            </a:r>
            <a:r>
              <a:rPr lang="en-US" sz="1561" i="1" baseline="-11904" dirty="0">
                <a:latin typeface="Tahoma"/>
                <a:cs typeface="Tahoma"/>
              </a:rPr>
              <a:t>3</a:t>
            </a:r>
            <a:r>
              <a:rPr lang="el-GR" sz="1486" dirty="0">
                <a:latin typeface="Tahoma"/>
                <a:cs typeface="Tahoma"/>
              </a:rPr>
              <a:t>)</a:t>
            </a:r>
            <a:r>
              <a:rPr lang="en-US" sz="1486" dirty="0">
                <a:latin typeface="Tahoma"/>
                <a:cs typeface="Tahoma"/>
              </a:rPr>
              <a:t> …</a:t>
            </a:r>
            <a:endParaRPr sz="1486" dirty="0">
              <a:latin typeface="Tahoma"/>
              <a:cs typeface="Tahoma"/>
            </a:endParaRPr>
          </a:p>
          <a:p>
            <a:pPr marL="342374" marR="45299" indent="-285750">
              <a:lnSpc>
                <a:spcPts val="214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endParaRPr lang="en-US" sz="1635" spc="-37" dirty="0">
              <a:latin typeface="Tahoma"/>
              <a:cs typeface="Tahoma"/>
            </a:endParaRPr>
          </a:p>
          <a:p>
            <a:pPr marL="342374" marR="45299" indent="-285750">
              <a:lnSpc>
                <a:spcPts val="2140"/>
              </a:lnSpc>
              <a:spcBef>
                <a:spcPts val="74"/>
              </a:spcBef>
              <a:buFont typeface="Arial" panose="020B0604020202020204" pitchFamily="34" charset="0"/>
              <a:buChar char="•"/>
            </a:pPr>
            <a:r>
              <a:rPr sz="1635" spc="-37" dirty="0">
                <a:latin typeface="Tahoma"/>
                <a:cs typeface="Tahoma"/>
              </a:rPr>
              <a:t>Jacobian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dirty="0">
                <a:latin typeface="Tahoma"/>
                <a:cs typeface="Tahoma"/>
              </a:rPr>
              <a:t>is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89" dirty="0">
                <a:latin typeface="Tahoma"/>
                <a:cs typeface="Tahoma"/>
              </a:rPr>
              <a:t>lower</a:t>
            </a:r>
            <a:r>
              <a:rPr sz="1635" spc="-15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diagonal,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89" dirty="0">
                <a:latin typeface="Tahoma"/>
                <a:cs typeface="Tahoma"/>
              </a:rPr>
              <a:t>hence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45" dirty="0">
                <a:latin typeface="Tahoma"/>
                <a:cs typeface="Tahoma"/>
              </a:rPr>
              <a:t>efficient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59" dirty="0">
                <a:latin typeface="Tahoma"/>
                <a:cs typeface="Tahoma"/>
              </a:rPr>
              <a:t>determinant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37" dirty="0">
                <a:latin typeface="Tahoma"/>
                <a:cs typeface="Tahoma"/>
              </a:rPr>
              <a:t>computation </a:t>
            </a:r>
            <a:r>
              <a:rPr sz="1635" spc="-30" dirty="0">
                <a:latin typeface="Tahoma"/>
                <a:cs typeface="Tahoma"/>
              </a:rPr>
              <a:t>Likelihood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45" dirty="0">
                <a:latin typeface="Tahoma"/>
                <a:cs typeface="Tahoma"/>
              </a:rPr>
              <a:t>evaluation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dirty="0">
                <a:latin typeface="Tahoma"/>
                <a:cs typeface="Tahoma"/>
              </a:rPr>
              <a:t>is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89" dirty="0">
                <a:latin typeface="Tahoma"/>
                <a:cs typeface="Tahoma"/>
              </a:rPr>
              <a:t>easy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and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parallelizable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(like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MADE)</a:t>
            </a:r>
            <a:endParaRPr sz="1635" dirty="0">
              <a:latin typeface="Tahoma"/>
              <a:cs typeface="Tahoma"/>
            </a:endParaRPr>
          </a:p>
          <a:p>
            <a:pPr marL="342374" indent="-285750">
              <a:spcBef>
                <a:spcPts val="89"/>
              </a:spcBef>
              <a:buFont typeface="Arial" panose="020B0604020202020204" pitchFamily="34" charset="0"/>
              <a:buChar char="•"/>
            </a:pPr>
            <a:r>
              <a:rPr sz="1635" spc="-74" dirty="0">
                <a:latin typeface="Tahoma"/>
                <a:cs typeface="Tahoma"/>
              </a:rPr>
              <a:t>Layers</a:t>
            </a:r>
            <a:r>
              <a:rPr sz="1635" spc="-59" dirty="0">
                <a:latin typeface="Tahoma"/>
                <a:cs typeface="Tahoma"/>
              </a:rPr>
              <a:t> </a:t>
            </a:r>
            <a:r>
              <a:rPr sz="1635" dirty="0">
                <a:latin typeface="Tahoma"/>
                <a:cs typeface="Tahoma"/>
              </a:rPr>
              <a:t>with</a:t>
            </a:r>
            <a:r>
              <a:rPr sz="1635" spc="-82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different</a:t>
            </a:r>
            <a:r>
              <a:rPr sz="1635" spc="-67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variable</a:t>
            </a:r>
            <a:r>
              <a:rPr sz="1635" spc="-59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orderings</a:t>
            </a:r>
            <a:r>
              <a:rPr sz="1635" spc="-52" dirty="0">
                <a:latin typeface="Tahoma"/>
                <a:cs typeface="Tahoma"/>
              </a:rPr>
              <a:t> </a:t>
            </a:r>
            <a:r>
              <a:rPr sz="1635" spc="-30" dirty="0">
                <a:latin typeface="Tahoma"/>
                <a:cs typeface="Tahoma"/>
              </a:rPr>
              <a:t>can</a:t>
            </a:r>
            <a:r>
              <a:rPr sz="1635" spc="-67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be</a:t>
            </a:r>
            <a:r>
              <a:rPr sz="1635" spc="-59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stacked</a:t>
            </a:r>
            <a:endParaRPr sz="1635" dirty="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200" y="4629150"/>
            <a:ext cx="257552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675"/>
          </a:p>
        </p:txBody>
      </p:sp>
      <p:sp>
        <p:nvSpPr>
          <p:cNvPr id="18" name="object 18"/>
          <p:cNvSpPr txBox="1"/>
          <p:nvPr/>
        </p:nvSpPr>
        <p:spPr>
          <a:xfrm>
            <a:off x="838200" y="4677495"/>
            <a:ext cx="323433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75">
              <a:lnSpc>
                <a:spcPts val="1427"/>
              </a:lnSpc>
            </a:pPr>
            <a:r>
              <a:rPr sz="1338" spc="-15" dirty="0">
                <a:latin typeface="Arial"/>
                <a:cs typeface="Arial"/>
              </a:rPr>
              <a:t>Figure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spc="-37" dirty="0">
                <a:latin typeface="Arial"/>
                <a:cs typeface="Arial"/>
              </a:rPr>
              <a:t>adapted</a:t>
            </a:r>
            <a:r>
              <a:rPr sz="1338" dirty="0">
                <a:latin typeface="Arial"/>
                <a:cs typeface="Arial"/>
              </a:rPr>
              <a:t> from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dirty="0">
                <a:latin typeface="Arial"/>
                <a:cs typeface="Arial"/>
              </a:rPr>
              <a:t>Eric </a:t>
            </a:r>
            <a:r>
              <a:rPr sz="1338" spc="-30" dirty="0">
                <a:latin typeface="Arial"/>
                <a:cs typeface="Arial"/>
              </a:rPr>
              <a:t>Jang’s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lang="en-US" sz="1338" spc="-30" dirty="0">
                <a:latin typeface="Arial"/>
                <a:cs typeface="Arial"/>
              </a:rPr>
              <a:t>Tutorial</a:t>
            </a:r>
            <a:endParaRPr sz="1338" dirty="0">
              <a:latin typeface="Arial"/>
              <a:cs typeface="Arial"/>
            </a:endParaRPr>
          </a:p>
        </p:txBody>
      </p:sp>
      <p:pic>
        <p:nvPicPr>
          <p:cNvPr id="12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31900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EB0C6CC-8A45-4E09-8EEC-04D995A6E40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26" dirty="0"/>
              <a:t>Inverse</a:t>
            </a:r>
            <a:r>
              <a:rPr lang="en-IN" spc="-37" dirty="0"/>
              <a:t> </a:t>
            </a:r>
            <a:r>
              <a:rPr lang="en-IN" spc="-82" dirty="0"/>
              <a:t>Autoregressive</a:t>
            </a:r>
            <a:r>
              <a:rPr lang="en-IN" spc="-37" dirty="0"/>
              <a:t> </a:t>
            </a:r>
            <a:r>
              <a:rPr lang="en-IN" dirty="0"/>
              <a:t>Flow</a:t>
            </a:r>
            <a:r>
              <a:rPr lang="en-IN" spc="-30" dirty="0"/>
              <a:t> </a:t>
            </a:r>
            <a:r>
              <a:rPr lang="en-IN" spc="-15" dirty="0"/>
              <a:t>(IAF)</a:t>
            </a:r>
            <a:endParaRPr lang="en-IN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26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1119055"/>
            <a:ext cx="3048001" cy="247693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64965" y="1187739"/>
            <a:ext cx="7588435" cy="2817261"/>
          </a:xfrm>
          <a:prstGeom prst="rect">
            <a:avLst/>
          </a:prstGeom>
        </p:spPr>
        <p:txBody>
          <a:bodyPr vert="horz" wrap="square" lIns="0" tIns="18875" rIns="0" bIns="0" rtlCol="0">
            <a:spAutoFit/>
          </a:bodyPr>
          <a:lstStyle/>
          <a:p>
            <a:pPr marL="468094" marR="2681157" indent="-412413" algn="just">
              <a:spcBef>
                <a:spcPts val="149"/>
              </a:spcBef>
              <a:buFont typeface="Arial" panose="020B0604020202020204" pitchFamily="34" charset="0"/>
              <a:buChar char="•"/>
            </a:pP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(parallel):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i="1" baseline="-1190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i="1" spc="4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∼</a:t>
            </a:r>
            <a:endParaRPr lang="en-US" sz="1600" spc="-7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681" marR="2681157" algn="just">
              <a:spcBef>
                <a:spcPts val="149"/>
              </a:spcBef>
            </a:pPr>
            <a:r>
              <a:rPr lang="en-US"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N</a:t>
            </a:r>
            <a:r>
              <a:rPr lang="en-US" sz="1600" spc="-2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00"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600"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600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i="1" spc="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 …, n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2162101" indent="-285750" algn="just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i="1" spc="-178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i="1" spc="144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600" i="1" spc="49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(can</a:t>
            </a:r>
            <a:r>
              <a:rPr sz="1600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1600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parallel) </a:t>
            </a:r>
            <a:endParaRPr lang="en-US" sz="1600" spc="-4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2162101" indent="-285750" algn="just">
              <a:spcBef>
                <a:spcPts val="52"/>
              </a:spcBef>
              <a:buFont typeface="Arial" panose="020B0604020202020204" pitchFamily="34" charset="0"/>
              <a:buChar char="•"/>
            </a:pPr>
            <a:r>
              <a:rPr lang="en-IN"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21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89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spc="-55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600" baseline="-1190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sz="1600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21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89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357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indent="-285750" algn="just">
              <a:buFont typeface="Arial" panose="020B0604020202020204" pitchFamily="34" charset="0"/>
              <a:buChar char="•"/>
            </a:pPr>
            <a:r>
              <a:rPr sz="1600" spc="-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b="1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="1"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(sequential):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indent="-285750" algn="just">
              <a:spcBef>
                <a:spcPts val="431"/>
              </a:spcBef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sz="1600"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166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600"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65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spc="144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i="1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sz="1600" spc="13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sz="1600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indent="-285750" algn="just"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21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1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spc="144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i="1"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sz="1600" spc="17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sz="1600" spc="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55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indent="-285750" algn="just">
              <a:buFont typeface="Arial" panose="020B0604020202020204" pitchFamily="34" charset="0"/>
              <a:buChar char="•"/>
            </a:pP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from,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likelihoods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3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indent="-285750" algn="just">
              <a:buFont typeface="Arial" panose="020B0604020202020204" pitchFamily="34" charset="0"/>
              <a:buChar char="•"/>
            </a:pPr>
            <a:endParaRPr lang="en-US" sz="1600" spc="-3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indent="-285750" algn="just"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sz="1600" spc="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likelihoods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(cache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2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i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i="1" spc="-12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i="1" spc="-1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i="1" spc="-3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7143" y="4601064"/>
            <a:ext cx="274445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75">
              <a:lnSpc>
                <a:spcPts val="1427"/>
              </a:lnSpc>
            </a:pPr>
            <a:r>
              <a:rPr sz="1338" spc="-15" dirty="0">
                <a:latin typeface="Arial"/>
                <a:cs typeface="Arial"/>
              </a:rPr>
              <a:t>Figure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spc="-37" dirty="0">
                <a:latin typeface="Arial"/>
                <a:cs typeface="Arial"/>
              </a:rPr>
              <a:t>adapted</a:t>
            </a:r>
            <a:r>
              <a:rPr sz="1338" dirty="0">
                <a:latin typeface="Arial"/>
                <a:cs typeface="Arial"/>
              </a:rPr>
              <a:t> from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dirty="0">
                <a:latin typeface="Arial"/>
                <a:cs typeface="Arial"/>
              </a:rPr>
              <a:t>Eric </a:t>
            </a:r>
            <a:r>
              <a:rPr sz="1338" spc="-30" dirty="0">
                <a:latin typeface="Arial"/>
                <a:cs typeface="Arial"/>
              </a:rPr>
              <a:t>Jang’s</a:t>
            </a:r>
            <a:r>
              <a:rPr sz="1338" spc="-7" dirty="0">
                <a:latin typeface="Arial"/>
                <a:cs typeface="Arial"/>
              </a:rPr>
              <a:t> </a:t>
            </a:r>
            <a:r>
              <a:rPr sz="1338" spc="-30" dirty="0">
                <a:latin typeface="Arial"/>
                <a:cs typeface="Arial"/>
              </a:rPr>
              <a:t>blog</a:t>
            </a:r>
            <a:endParaRPr sz="1338" dirty="0">
              <a:latin typeface="Arial"/>
              <a:cs typeface="Arial"/>
            </a:endParaRPr>
          </a:p>
        </p:txBody>
      </p:sp>
      <p:pic>
        <p:nvPicPr>
          <p:cNvPr id="12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7833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FFFF68C-5D02-41F5-A6E4-F632ACBDECA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IAF</a:t>
            </a:r>
            <a:r>
              <a:rPr lang="en-IN" spc="-30" dirty="0"/>
              <a:t> </a:t>
            </a:r>
            <a:r>
              <a:rPr lang="en-IN" dirty="0"/>
              <a:t>is</a:t>
            </a:r>
            <a:r>
              <a:rPr lang="en-IN" spc="-30" dirty="0"/>
              <a:t> </a:t>
            </a:r>
            <a:r>
              <a:rPr lang="en-IN" spc="-97" dirty="0"/>
              <a:t>inverse</a:t>
            </a:r>
            <a:r>
              <a:rPr lang="en-IN" spc="-30" dirty="0"/>
              <a:t> </a:t>
            </a:r>
            <a:r>
              <a:rPr lang="en-IN" dirty="0"/>
              <a:t>of</a:t>
            </a:r>
            <a:r>
              <a:rPr lang="en-IN" spc="-30" dirty="0"/>
              <a:t> </a:t>
            </a:r>
            <a:r>
              <a:rPr lang="en-IN" spc="104" dirty="0"/>
              <a:t>MAF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2AA73E-6A13-44FB-9E8E-EB6C8EEEC18F}"/>
              </a:ext>
            </a:extLst>
          </p:cNvPr>
          <p:cNvGrpSpPr/>
          <p:nvPr/>
        </p:nvGrpSpPr>
        <p:grpSpPr>
          <a:xfrm>
            <a:off x="1614889" y="1113562"/>
            <a:ext cx="5914222" cy="2250501"/>
            <a:chOff x="1972478" y="1159449"/>
            <a:chExt cx="5160944" cy="1837606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2478" y="1159449"/>
              <a:ext cx="2418497" cy="18376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4925" y="1163472"/>
              <a:ext cx="2418497" cy="1829561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6400" y="4116652"/>
            <a:ext cx="96999" cy="969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52600" y="3489260"/>
            <a:ext cx="6686890" cy="1385147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295390">
              <a:spcBef>
                <a:spcPts val="141"/>
              </a:spcBef>
            </a:pPr>
            <a:r>
              <a:rPr sz="1486" spc="-104" dirty="0">
                <a:latin typeface="Tahoma"/>
                <a:cs typeface="Tahoma"/>
              </a:rPr>
              <a:t>Inverse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spc="-82" dirty="0">
                <a:latin typeface="Tahoma"/>
                <a:cs typeface="Tahoma"/>
              </a:rPr>
              <a:t>pass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of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89" dirty="0">
                <a:latin typeface="Tahoma"/>
                <a:cs typeface="Tahoma"/>
              </a:rPr>
              <a:t>MAF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(</a:t>
            </a:r>
            <a:r>
              <a:rPr sz="1486" b="1" dirty="0">
                <a:latin typeface="Gill Sans MT"/>
                <a:cs typeface="Gill Sans MT"/>
              </a:rPr>
              <a:t>left</a:t>
            </a:r>
            <a:r>
              <a:rPr sz="1486" dirty="0">
                <a:latin typeface="Tahoma"/>
                <a:cs typeface="Tahoma"/>
              </a:rPr>
              <a:t>)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lang="en-US" sz="1486" spc="-22" dirty="0">
                <a:latin typeface="Tahoma"/>
                <a:cs typeface="Tahoma"/>
              </a:rPr>
              <a:t>      </a:t>
            </a:r>
            <a:r>
              <a:rPr sz="1486" dirty="0">
                <a:latin typeface="Tahoma"/>
                <a:cs typeface="Tahoma"/>
              </a:rPr>
              <a:t>vs.</a:t>
            </a:r>
            <a:r>
              <a:rPr sz="1486" spc="134" dirty="0">
                <a:latin typeface="Tahoma"/>
                <a:cs typeface="Tahoma"/>
              </a:rPr>
              <a:t> </a:t>
            </a:r>
            <a:r>
              <a:rPr lang="en-US" sz="1486" spc="134" dirty="0">
                <a:latin typeface="Tahoma"/>
                <a:cs typeface="Tahoma"/>
              </a:rPr>
              <a:t>        </a:t>
            </a:r>
            <a:r>
              <a:rPr sz="1486" spc="-59" dirty="0">
                <a:latin typeface="Tahoma"/>
                <a:cs typeface="Tahoma"/>
              </a:rPr>
              <a:t>Forward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spc="-82" dirty="0">
                <a:latin typeface="Tahoma"/>
                <a:cs typeface="Tahoma"/>
              </a:rPr>
              <a:t>pass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of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IAF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(</a:t>
            </a:r>
            <a:r>
              <a:rPr sz="1486" b="1" spc="-15" dirty="0">
                <a:latin typeface="Gill Sans MT"/>
                <a:cs typeface="Gill Sans MT"/>
              </a:rPr>
              <a:t>right</a:t>
            </a:r>
            <a:r>
              <a:rPr sz="1486" spc="-15" dirty="0">
                <a:latin typeface="Tahoma"/>
                <a:cs typeface="Tahoma"/>
              </a:rPr>
              <a:t>)</a:t>
            </a:r>
            <a:endParaRPr lang="en-US" sz="1486" spc="-15" dirty="0">
              <a:latin typeface="Tahoma"/>
              <a:cs typeface="Tahoma"/>
            </a:endParaRPr>
          </a:p>
          <a:p>
            <a:pPr marL="295390">
              <a:spcBef>
                <a:spcPts val="141"/>
              </a:spcBef>
            </a:pPr>
            <a:endParaRPr sz="1486" dirty="0">
              <a:latin typeface="Tahoma"/>
              <a:cs typeface="Tahoma"/>
            </a:endParaRPr>
          </a:p>
          <a:p>
            <a:pPr marL="117023" marR="7550">
              <a:lnSpc>
                <a:spcPct val="102600"/>
              </a:lnSpc>
            </a:pP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Interchanging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b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MAF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IAF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7023" marR="50962">
              <a:lnSpc>
                <a:spcPct val="102600"/>
              </a:lnSpc>
              <a:spcBef>
                <a:spcPts val="446"/>
              </a:spcBef>
            </a:pP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Similarly,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spc="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MAF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</a:t>
            </a:r>
            <a:r>
              <a:rPr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IAF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83645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225" dirty="0"/>
              <a:t>AF</a:t>
            </a:r>
            <a:r>
              <a:rPr lang="en-IN" spc="-98" dirty="0"/>
              <a:t> </a:t>
            </a:r>
            <a:r>
              <a:rPr lang="en-IN" spc="-113" dirty="0" err="1"/>
              <a:t>vs</a:t>
            </a:r>
            <a:r>
              <a:rPr lang="en-IN" spc="-113" dirty="0"/>
              <a:t> IAF</a:t>
            </a:r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836">
              <a:spcBef>
                <a:spcPts val="75"/>
              </a:spcBef>
            </a:pPr>
            <a:r>
              <a:rPr spc="-19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3" y="1080793"/>
            <a:ext cx="4167664" cy="1403268"/>
          </a:xfrm>
          <a:prstGeom prst="rect">
            <a:avLst/>
          </a:prstGeom>
        </p:spPr>
        <p:txBody>
          <a:bodyPr vert="horz" wrap="square" lIns="0" tIns="48577" rIns="0" bIns="0" rtlCol="0">
            <a:spAutoFit/>
          </a:bodyPr>
          <a:lstStyle/>
          <a:p>
            <a:pPr marL="180499" indent="-170974">
              <a:spcBef>
                <a:spcPts val="382"/>
              </a:spcBef>
              <a:buFont typeface="Arial"/>
              <a:buChar char="•"/>
              <a:tabLst>
                <a:tab pos="180499" algn="l"/>
              </a:tabLst>
            </a:pPr>
            <a:r>
              <a:rPr sz="2100" dirty="0">
                <a:latin typeface="Trebuchet MS"/>
                <a:cs typeface="Trebuchet MS"/>
              </a:rPr>
              <a:t>Autoregressive</a:t>
            </a:r>
            <a:r>
              <a:rPr sz="2100" spc="146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flow</a:t>
            </a:r>
            <a:endParaRPr sz="2100">
              <a:latin typeface="Trebuchet MS"/>
              <a:cs typeface="Trebuchet MS"/>
            </a:endParaRPr>
          </a:p>
          <a:p>
            <a:pPr marL="522923" lvl="1" indent="-170497">
              <a:spcBef>
                <a:spcPts val="263"/>
              </a:spcBef>
              <a:buSzPct val="102127"/>
              <a:buFont typeface="Carlito"/>
              <a:buChar char="–"/>
              <a:tabLst>
                <a:tab pos="522923" algn="l"/>
              </a:tabLst>
            </a:pPr>
            <a:r>
              <a:rPr sz="2644" baseline="1182" dirty="0">
                <a:solidFill>
                  <a:srgbClr val="0000FF"/>
                </a:solidFill>
                <a:latin typeface="Trebuchet MS"/>
                <a:cs typeface="Trebuchet MS"/>
              </a:rPr>
              <a:t>Fast</a:t>
            </a:r>
            <a:r>
              <a:rPr sz="2644" spc="-50" baseline="1182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evaluation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94" dirty="0">
                <a:latin typeface="Trebuchet MS"/>
                <a:cs typeface="Trebuchet MS"/>
              </a:rPr>
              <a:t>p(x)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for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79" dirty="0">
                <a:latin typeface="Trebuchet MS"/>
                <a:cs typeface="Trebuchet MS"/>
              </a:rPr>
              <a:t>arbitrary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x</a:t>
            </a:r>
            <a:endParaRPr dirty="0">
              <a:latin typeface="Trebuchet MS"/>
              <a:cs typeface="Trebuchet MS"/>
            </a:endParaRPr>
          </a:p>
          <a:p>
            <a:pPr marL="522923" lvl="1" indent="-170497">
              <a:spcBef>
                <a:spcPts val="236"/>
              </a:spcBef>
              <a:buSzPct val="102127"/>
              <a:buFont typeface="Carlito"/>
              <a:buChar char="–"/>
              <a:tabLst>
                <a:tab pos="522923" algn="l"/>
              </a:tabLst>
            </a:pPr>
            <a:r>
              <a:rPr sz="2644" spc="134" baseline="1182" dirty="0">
                <a:solidFill>
                  <a:srgbClr val="FF0000"/>
                </a:solidFill>
                <a:latin typeface="Trebuchet MS"/>
                <a:cs typeface="Trebuchet MS"/>
              </a:rPr>
              <a:t>Slow</a:t>
            </a:r>
            <a:r>
              <a:rPr sz="2644" spc="-50" baseline="1182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sampling</a:t>
            </a:r>
            <a:endParaRPr dirty="0">
              <a:latin typeface="Trebuchet MS"/>
              <a:cs typeface="Trebuchet MS"/>
            </a:endParaRPr>
          </a:p>
          <a:p>
            <a:pPr marL="180499" indent="-170974">
              <a:spcBef>
                <a:spcPts val="690"/>
              </a:spcBef>
              <a:buFont typeface="Arial"/>
              <a:buChar char="•"/>
              <a:tabLst>
                <a:tab pos="180499" algn="l"/>
              </a:tabLst>
            </a:pPr>
            <a:r>
              <a:rPr sz="2100" dirty="0">
                <a:latin typeface="Trebuchet MS"/>
                <a:cs typeface="Trebuchet MS"/>
              </a:rPr>
              <a:t>Inverse</a:t>
            </a:r>
            <a:r>
              <a:rPr sz="2100" spc="-1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autoregressive</a:t>
            </a:r>
            <a:r>
              <a:rPr sz="2100" spc="-8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flow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3" y="2515290"/>
            <a:ext cx="8006187" cy="19242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22923" marR="3810" indent="-170497">
              <a:spcBef>
                <a:spcPts val="75"/>
              </a:spcBef>
              <a:buSzPct val="102127"/>
              <a:buFont typeface="Carlito"/>
              <a:buChar char="–"/>
              <a:tabLst>
                <a:tab pos="523875" algn="l"/>
              </a:tabLst>
            </a:pPr>
            <a:r>
              <a:rPr sz="2644" spc="134" baseline="1182" dirty="0">
                <a:solidFill>
                  <a:srgbClr val="FF0000"/>
                </a:solidFill>
                <a:latin typeface="Trebuchet MS"/>
                <a:cs typeface="Trebuchet MS"/>
              </a:rPr>
              <a:t>Slow</a:t>
            </a:r>
            <a:r>
              <a:rPr sz="2644" spc="-45" baseline="1182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evaluation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94" dirty="0">
                <a:latin typeface="Trebuchet MS"/>
                <a:cs typeface="Trebuchet MS"/>
              </a:rPr>
              <a:t>p(x)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for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79" dirty="0">
                <a:latin typeface="Trebuchet MS"/>
                <a:cs typeface="Trebuchet MS"/>
              </a:rPr>
              <a:t>arbitrary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86" dirty="0">
                <a:latin typeface="Trebuchet MS"/>
                <a:cs typeface="Trebuchet MS"/>
              </a:rPr>
              <a:t>x,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90" dirty="0">
                <a:latin typeface="Trebuchet MS"/>
                <a:cs typeface="Trebuchet MS"/>
              </a:rPr>
              <a:t>so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training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directly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by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maximum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likelihood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4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slow.</a:t>
            </a:r>
            <a:endParaRPr dirty="0">
              <a:latin typeface="Trebuchet MS"/>
              <a:cs typeface="Trebuchet MS"/>
            </a:endParaRPr>
          </a:p>
          <a:p>
            <a:pPr marL="522923" indent="-170497">
              <a:spcBef>
                <a:spcPts val="251"/>
              </a:spcBef>
              <a:buSzPct val="102127"/>
              <a:buFont typeface="Carlito"/>
              <a:buChar char="–"/>
              <a:tabLst>
                <a:tab pos="522923" algn="l"/>
              </a:tabLst>
            </a:pPr>
            <a:r>
              <a:rPr sz="2644" baseline="1182" dirty="0">
                <a:solidFill>
                  <a:srgbClr val="0000FF"/>
                </a:solidFill>
                <a:latin typeface="Trebuchet MS"/>
                <a:cs typeface="Trebuchet MS"/>
              </a:rPr>
              <a:t>Fast</a:t>
            </a:r>
            <a:r>
              <a:rPr sz="2644" spc="101" baseline="1182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sampling</a:t>
            </a:r>
            <a:endParaRPr dirty="0">
              <a:latin typeface="Trebuchet MS"/>
              <a:cs typeface="Trebuchet MS"/>
            </a:endParaRPr>
          </a:p>
          <a:p>
            <a:pPr marL="522923" indent="-170497">
              <a:spcBef>
                <a:spcPts val="233"/>
              </a:spcBef>
              <a:buSzPct val="102127"/>
              <a:buFont typeface="Carlito"/>
              <a:buChar char="–"/>
              <a:tabLst>
                <a:tab pos="522923" algn="l"/>
              </a:tabLst>
            </a:pPr>
            <a:r>
              <a:rPr sz="2644" baseline="1182" dirty="0">
                <a:solidFill>
                  <a:srgbClr val="0000FF"/>
                </a:solidFill>
                <a:latin typeface="Trebuchet MS"/>
                <a:cs typeface="Trebuchet MS"/>
              </a:rPr>
              <a:t>Fast</a:t>
            </a:r>
            <a:r>
              <a:rPr sz="2644" spc="-45" baseline="1182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evaluation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94" dirty="0">
                <a:latin typeface="Trebuchet MS"/>
                <a:cs typeface="Trebuchet MS"/>
              </a:rPr>
              <a:t>p(x)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101" dirty="0">
                <a:latin typeface="Trebuchet MS"/>
                <a:cs typeface="Trebuchet MS"/>
              </a:rPr>
              <a:t>if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x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sample</a:t>
            </a:r>
            <a:endParaRPr dirty="0">
              <a:latin typeface="Trebuchet MS"/>
              <a:cs typeface="Trebuchet MS"/>
            </a:endParaRPr>
          </a:p>
          <a:p>
            <a:pPr marL="180975" marR="418148" indent="-171450">
              <a:lnSpc>
                <a:spcPct val="101400"/>
              </a:lnSpc>
              <a:spcBef>
                <a:spcPts val="656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5" dirty="0">
                <a:latin typeface="Trebuchet MS"/>
                <a:cs typeface="Trebuchet MS"/>
              </a:rPr>
              <a:t>There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are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models</a:t>
            </a:r>
            <a:r>
              <a:rPr sz="2100" spc="-26" dirty="0">
                <a:latin typeface="Trebuchet MS"/>
                <a:cs typeface="Trebuchet MS"/>
              </a:rPr>
              <a:t> </a:t>
            </a:r>
            <a:r>
              <a:rPr sz="2100" spc="-94" dirty="0">
                <a:latin typeface="Trebuchet MS"/>
                <a:cs typeface="Trebuchet MS"/>
              </a:rPr>
              <a:t>(Parallel</a:t>
            </a:r>
            <a:r>
              <a:rPr sz="2100" spc="-2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WaveNet,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IAF-</a:t>
            </a:r>
            <a:r>
              <a:rPr sz="2100" spc="38" dirty="0">
                <a:latin typeface="Trebuchet MS"/>
                <a:cs typeface="Trebuchet MS"/>
              </a:rPr>
              <a:t>VAE)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-83" dirty="0">
                <a:latin typeface="Trebuchet MS"/>
                <a:cs typeface="Trebuchet MS"/>
              </a:rPr>
              <a:t>that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exploit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spc="38" dirty="0">
                <a:latin typeface="Trebuchet MS"/>
                <a:cs typeface="Trebuchet MS"/>
              </a:rPr>
              <a:t>IAF’s</a:t>
            </a:r>
            <a:r>
              <a:rPr sz="2100" spc="-26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fast </a:t>
            </a:r>
            <a:r>
              <a:rPr sz="2100" spc="-8" dirty="0">
                <a:latin typeface="Trebuchet MS"/>
                <a:cs typeface="Trebuchet MS"/>
              </a:rPr>
              <a:t>sampling</a:t>
            </a:r>
            <a:endParaRPr sz="2100" dirty="0">
              <a:latin typeface="Trebuchet MS"/>
              <a:cs typeface="Trebuchet M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FCC7034-B728-4DF1-B8E2-CD4145A18E2D}"/>
              </a:ext>
            </a:extLst>
          </p:cNvPr>
          <p:cNvGrpSpPr/>
          <p:nvPr/>
        </p:nvGrpSpPr>
        <p:grpSpPr>
          <a:xfrm>
            <a:off x="6725744" y="1044701"/>
            <a:ext cx="1788511" cy="1402881"/>
            <a:chOff x="7265972" y="1016469"/>
            <a:chExt cx="1788511" cy="1402881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8683" y="1016469"/>
              <a:ext cx="1092708" cy="1090422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7557154" y="2178900"/>
              <a:ext cx="1497329" cy="240450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>
                <a:spcBef>
                  <a:spcPts val="75"/>
                </a:spcBef>
              </a:pPr>
              <a:r>
                <a:rPr sz="1500" dirty="0">
                  <a:latin typeface="Trebuchet MS"/>
                  <a:cs typeface="Trebuchet MS"/>
                </a:rPr>
                <a:t>(Lower</a:t>
              </a:r>
              <a:r>
                <a:rPr sz="1500" spc="-53" dirty="0">
                  <a:latin typeface="Trebuchet MS"/>
                  <a:cs typeface="Trebuchet MS"/>
                </a:rPr>
                <a:t> </a:t>
              </a:r>
              <a:r>
                <a:rPr sz="1500" spc="-49" dirty="0">
                  <a:latin typeface="Trebuchet MS"/>
                  <a:cs typeface="Trebuchet MS"/>
                </a:rPr>
                <a:t>triangular)</a:t>
              </a:r>
              <a:endParaRPr sz="1500">
                <a:latin typeface="Trebuchet MS"/>
                <a:cs typeface="Trebuchet MS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265972" y="1085193"/>
              <a:ext cx="269304" cy="997268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9525">
                <a:lnSpc>
                  <a:spcPts val="2123"/>
                </a:lnSpc>
              </a:pPr>
              <a:r>
                <a:rPr spc="56" dirty="0">
                  <a:latin typeface="Trebuchet MS"/>
                  <a:cs typeface="Trebuchet MS"/>
                </a:rPr>
                <a:t>Jacobian</a:t>
              </a:r>
              <a:endParaRPr>
                <a:latin typeface="Trebuchet MS"/>
                <a:cs typeface="Trebuchet MS"/>
              </a:endParaRPr>
            </a:p>
          </p:txBody>
        </p:sp>
      </p:grpSp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idx="2"/>
          </p:nvPr>
        </p:nvSpPr>
        <p:spPr>
          <a:xfrm>
            <a:off x="0" y="200576"/>
            <a:ext cx="6934200" cy="857250"/>
          </a:xfrm>
        </p:spPr>
        <p:txBody>
          <a:bodyPr>
            <a:normAutofit/>
          </a:bodyPr>
          <a:lstStyle/>
          <a:p>
            <a:r>
              <a:rPr lang="en-US" spc="-8" dirty="0"/>
              <a:t>Refresher:</a:t>
            </a:r>
            <a:r>
              <a:rPr lang="en-US" spc="-135" dirty="0"/>
              <a:t> </a:t>
            </a:r>
            <a:r>
              <a:rPr lang="en-US" spc="45" dirty="0"/>
              <a:t>Change</a:t>
            </a:r>
            <a:r>
              <a:rPr lang="en-US" spc="-131" dirty="0"/>
              <a:t> </a:t>
            </a:r>
            <a:r>
              <a:rPr lang="en-US" spc="146" dirty="0"/>
              <a:t>of</a:t>
            </a:r>
            <a:r>
              <a:rPr lang="en-US" spc="-127" dirty="0"/>
              <a:t> </a:t>
            </a:r>
            <a:r>
              <a:rPr lang="en-US" dirty="0"/>
              <a:t>MANY</a:t>
            </a:r>
            <a:r>
              <a:rPr lang="en-US" spc="-135" dirty="0"/>
              <a:t> </a:t>
            </a:r>
            <a:r>
              <a:rPr lang="en-US" spc="-8" dirty="0"/>
              <a:t>variables</a:t>
            </a:r>
            <a:endParaRPr lang="en-IN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175958" rIns="0" bIns="0" rtlCol="0" anchor="ctr" anchorCtr="0">
            <a:spAutoFit/>
          </a:bodyPr>
          <a:lstStyle/>
          <a:p>
            <a:pPr marL="2107406">
              <a:spcBef>
                <a:spcPts val="38"/>
              </a:spcBef>
            </a:pPr>
            <a:r>
              <a:rPr spc="-19" dirty="0"/>
              <a:t>41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452" y="3065525"/>
            <a:ext cx="1668780" cy="16482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9686" y="3065525"/>
            <a:ext cx="2647188" cy="16482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0047" y="3065525"/>
            <a:ext cx="4016501" cy="164820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2450" y="2794804"/>
            <a:ext cx="256699" cy="190020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163" spc="-26" dirty="0">
                <a:latin typeface="Trebuchet MS"/>
                <a:cs typeface="Trebuchet MS"/>
              </a:rPr>
              <a:t>1-</a:t>
            </a:r>
            <a:r>
              <a:rPr sz="1163" spc="109" dirty="0">
                <a:latin typeface="Trebuchet MS"/>
                <a:cs typeface="Trebuchet MS"/>
              </a:rPr>
              <a:t>D</a:t>
            </a:r>
            <a:endParaRPr sz="1163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6123" y="2794804"/>
            <a:ext cx="256699" cy="190020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163" spc="-26" dirty="0">
                <a:latin typeface="Trebuchet MS"/>
                <a:cs typeface="Trebuchet MS"/>
              </a:rPr>
              <a:t>2-</a:t>
            </a:r>
            <a:r>
              <a:rPr sz="1163" spc="109" dirty="0">
                <a:latin typeface="Trebuchet MS"/>
                <a:cs typeface="Trebuchet MS"/>
              </a:rPr>
              <a:t>D</a:t>
            </a:r>
            <a:endParaRPr sz="1163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0733" y="1623059"/>
            <a:ext cx="6542532" cy="10332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2335" y="1153287"/>
            <a:ext cx="4123373" cy="3097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950" dirty="0">
                <a:latin typeface="Trebuchet MS"/>
                <a:cs typeface="Trebuchet MS"/>
              </a:rPr>
              <a:t>For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83" dirty="0">
                <a:latin typeface="Trebuchet MS"/>
                <a:cs typeface="Trebuchet MS"/>
              </a:rPr>
              <a:t> </a:t>
            </a:r>
            <a:r>
              <a:rPr sz="1950" spc="-56" dirty="0">
                <a:latin typeface="Trebuchet MS"/>
                <a:cs typeface="Trebuchet MS"/>
              </a:rPr>
              <a:t>multivariable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53" dirty="0">
                <a:latin typeface="Trebuchet MS"/>
                <a:cs typeface="Trebuchet MS"/>
              </a:rPr>
              <a:t>invertible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mapping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89703" y="1159002"/>
            <a:ext cx="1629918" cy="32004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61937" y="1159002"/>
            <a:ext cx="1005840" cy="32004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10094" y="1159002"/>
            <a:ext cx="1213866" cy="32004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310538" y="4728548"/>
            <a:ext cx="4637723" cy="131767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9525">
              <a:spcBef>
                <a:spcPts val="38"/>
              </a:spcBef>
            </a:pPr>
            <a:r>
              <a:rPr sz="825" spc="-8" dirty="0">
                <a:latin typeface="Trebuchet MS"/>
                <a:cs typeface="Trebuchet MS"/>
              </a:rPr>
              <a:t>Figures</a:t>
            </a:r>
            <a:r>
              <a:rPr sz="825" spc="-11" dirty="0">
                <a:latin typeface="Trebuchet MS"/>
                <a:cs typeface="Trebuchet MS"/>
              </a:rPr>
              <a:t> </a:t>
            </a:r>
            <a:r>
              <a:rPr sz="825" spc="-19" dirty="0">
                <a:latin typeface="Trebuchet MS"/>
                <a:cs typeface="Trebuchet MS"/>
              </a:rPr>
              <a:t>from</a:t>
            </a:r>
            <a:r>
              <a:rPr sz="825" spc="-26" dirty="0">
                <a:latin typeface="Trebuchet MS"/>
                <a:cs typeface="Trebuchet MS"/>
              </a:rPr>
              <a:t> </a:t>
            </a:r>
            <a:r>
              <a:rPr sz="825" spc="-15" dirty="0">
                <a:latin typeface="Trebuchet MS"/>
                <a:cs typeface="Trebuchet MS"/>
              </a:rPr>
              <a:t>blog</a:t>
            </a:r>
            <a:r>
              <a:rPr sz="825" spc="-19" dirty="0">
                <a:latin typeface="Trebuchet MS"/>
                <a:cs typeface="Trebuchet MS"/>
              </a:rPr>
              <a:t> post:</a:t>
            </a:r>
            <a:r>
              <a:rPr sz="825" spc="-4" dirty="0">
                <a:latin typeface="Trebuchet MS"/>
                <a:cs typeface="Trebuchet MS"/>
              </a:rPr>
              <a:t> </a:t>
            </a:r>
            <a:r>
              <a:rPr sz="825" i="1" spc="-75" dirty="0">
                <a:latin typeface="Verdana"/>
                <a:cs typeface="Verdana"/>
              </a:rPr>
              <a:t>Normalizing</a:t>
            </a:r>
            <a:r>
              <a:rPr sz="825" i="1" spc="-68" dirty="0">
                <a:latin typeface="Verdana"/>
                <a:cs typeface="Verdana"/>
              </a:rPr>
              <a:t> </a:t>
            </a:r>
            <a:r>
              <a:rPr sz="825" i="1" spc="-45" dirty="0">
                <a:latin typeface="Verdana"/>
                <a:cs typeface="Verdana"/>
              </a:rPr>
              <a:t>Flows</a:t>
            </a:r>
            <a:r>
              <a:rPr sz="825" i="1" spc="-53" dirty="0">
                <a:latin typeface="Verdana"/>
                <a:cs typeface="Verdana"/>
              </a:rPr>
              <a:t> </a:t>
            </a:r>
            <a:r>
              <a:rPr sz="825" i="1" spc="-79" dirty="0">
                <a:latin typeface="Verdana"/>
                <a:cs typeface="Verdana"/>
              </a:rPr>
              <a:t>Tutorial,</a:t>
            </a:r>
            <a:r>
              <a:rPr sz="825" i="1" spc="-45" dirty="0">
                <a:latin typeface="Verdana"/>
                <a:cs typeface="Verdana"/>
              </a:rPr>
              <a:t> </a:t>
            </a:r>
            <a:r>
              <a:rPr sz="825" i="1" spc="-71" dirty="0">
                <a:latin typeface="Verdana"/>
                <a:cs typeface="Verdana"/>
              </a:rPr>
              <a:t>Part</a:t>
            </a:r>
            <a:r>
              <a:rPr sz="825" i="1" spc="-60" dirty="0">
                <a:latin typeface="Verdana"/>
                <a:cs typeface="Verdana"/>
              </a:rPr>
              <a:t> </a:t>
            </a:r>
            <a:r>
              <a:rPr sz="825" i="1" spc="-120" dirty="0">
                <a:latin typeface="Verdana"/>
                <a:cs typeface="Verdana"/>
              </a:rPr>
              <a:t>1:</a:t>
            </a:r>
            <a:r>
              <a:rPr sz="825" i="1" spc="-45" dirty="0">
                <a:latin typeface="Verdana"/>
                <a:cs typeface="Verdana"/>
              </a:rPr>
              <a:t> </a:t>
            </a:r>
            <a:r>
              <a:rPr sz="825" i="1" spc="-68" dirty="0">
                <a:latin typeface="Verdana"/>
                <a:cs typeface="Verdana"/>
              </a:rPr>
              <a:t>Distributions</a:t>
            </a:r>
            <a:r>
              <a:rPr sz="825" i="1" spc="-53" dirty="0">
                <a:latin typeface="Verdana"/>
                <a:cs typeface="Verdana"/>
              </a:rPr>
              <a:t> </a:t>
            </a:r>
            <a:r>
              <a:rPr sz="825" i="1" spc="-86" dirty="0">
                <a:latin typeface="Verdana"/>
                <a:cs typeface="Verdana"/>
              </a:rPr>
              <a:t>and</a:t>
            </a:r>
            <a:r>
              <a:rPr sz="825" i="1" spc="-68" dirty="0">
                <a:latin typeface="Verdana"/>
                <a:cs typeface="Verdana"/>
              </a:rPr>
              <a:t> </a:t>
            </a:r>
            <a:r>
              <a:rPr sz="825" i="1" spc="-75" dirty="0">
                <a:latin typeface="Verdana"/>
                <a:cs typeface="Verdana"/>
              </a:rPr>
              <a:t>Determinants</a:t>
            </a:r>
            <a:r>
              <a:rPr sz="825" i="1" spc="-56" dirty="0">
                <a:latin typeface="Verdana"/>
                <a:cs typeface="Verdana"/>
              </a:rPr>
              <a:t> </a:t>
            </a:r>
            <a:r>
              <a:rPr sz="825" dirty="0">
                <a:latin typeface="Trebuchet MS"/>
                <a:cs typeface="Trebuchet MS"/>
              </a:rPr>
              <a:t>by</a:t>
            </a:r>
            <a:r>
              <a:rPr sz="825" spc="-11" dirty="0">
                <a:latin typeface="Trebuchet MS"/>
                <a:cs typeface="Trebuchet MS"/>
              </a:rPr>
              <a:t> </a:t>
            </a:r>
            <a:r>
              <a:rPr sz="825" spc="-19" dirty="0">
                <a:latin typeface="Trebuchet MS"/>
                <a:cs typeface="Trebuchet MS"/>
              </a:rPr>
              <a:t>Eric</a:t>
            </a:r>
            <a:r>
              <a:rPr sz="825" spc="-8" dirty="0">
                <a:latin typeface="Trebuchet MS"/>
                <a:cs typeface="Trebuchet MS"/>
              </a:rPr>
              <a:t> </a:t>
            </a:r>
            <a:r>
              <a:rPr sz="825" spc="-15" dirty="0">
                <a:latin typeface="Trebuchet MS"/>
                <a:cs typeface="Trebuchet MS"/>
              </a:rPr>
              <a:t>Jang</a:t>
            </a:r>
            <a:endParaRPr sz="825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45" dirty="0"/>
              <a:t>Change</a:t>
            </a:r>
            <a:r>
              <a:rPr lang="en-IN" spc="-116" dirty="0"/>
              <a:t> </a:t>
            </a:r>
            <a:r>
              <a:rPr lang="en-IN" spc="146" dirty="0"/>
              <a:t>of</a:t>
            </a:r>
            <a:r>
              <a:rPr lang="en-IN" spc="-109" dirty="0"/>
              <a:t> </a:t>
            </a:r>
            <a:r>
              <a:rPr lang="en-IN" dirty="0"/>
              <a:t>MANY</a:t>
            </a:r>
            <a:r>
              <a:rPr lang="en-IN" spc="-116" dirty="0"/>
              <a:t> </a:t>
            </a:r>
            <a:r>
              <a:rPr lang="en-IN" spc="-8" dirty="0"/>
              <a:t>variables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288" y="1010792"/>
            <a:ext cx="8549164" cy="657552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19050" marR="13335">
              <a:lnSpc>
                <a:spcPct val="101400"/>
              </a:lnSpc>
              <a:spcBef>
                <a:spcPts val="38"/>
              </a:spcBef>
            </a:pPr>
            <a:r>
              <a:rPr sz="2100" dirty="0">
                <a:latin typeface="Trebuchet MS"/>
                <a:cs typeface="Trebuchet MS"/>
              </a:rPr>
              <a:t>For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z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285" dirty="0">
                <a:latin typeface="Trebuchet MS"/>
                <a:cs typeface="Trebuchet MS"/>
              </a:rPr>
              <a:t>~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43" dirty="0">
                <a:latin typeface="Trebuchet MS"/>
                <a:cs typeface="Trebuchet MS"/>
              </a:rPr>
              <a:t>p(z),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sampling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38" dirty="0">
                <a:latin typeface="Trebuchet MS"/>
                <a:cs typeface="Trebuchet MS"/>
              </a:rPr>
              <a:t>process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127" dirty="0">
                <a:latin typeface="Trebuchet MS"/>
                <a:cs typeface="Trebuchet MS"/>
              </a:rPr>
              <a:t>f</a:t>
            </a:r>
            <a:r>
              <a:rPr sz="2138" spc="-191" baseline="23391" dirty="0">
                <a:latin typeface="Trebuchet MS"/>
                <a:cs typeface="Trebuchet MS"/>
              </a:rPr>
              <a:t>-</a:t>
            </a:r>
            <a:r>
              <a:rPr sz="2138" spc="56" baseline="23391" dirty="0">
                <a:latin typeface="Trebuchet MS"/>
                <a:cs typeface="Trebuchet MS"/>
              </a:rPr>
              <a:t>1</a:t>
            </a:r>
            <a:r>
              <a:rPr sz="2138" spc="169" baseline="23391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linearly </a:t>
            </a:r>
            <a:r>
              <a:rPr sz="2100" dirty="0">
                <a:latin typeface="Trebuchet MS"/>
                <a:cs typeface="Trebuchet MS"/>
              </a:rPr>
              <a:t>transforms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small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cube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dz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a </a:t>
            </a:r>
            <a:r>
              <a:rPr sz="2100" dirty="0">
                <a:latin typeface="Trebuchet MS"/>
                <a:cs typeface="Trebuchet MS"/>
              </a:rPr>
              <a:t>small</a:t>
            </a:r>
            <a:r>
              <a:rPr sz="2100" spc="-68" dirty="0">
                <a:latin typeface="Trebuchet MS"/>
                <a:cs typeface="Trebuchet MS"/>
              </a:rPr>
              <a:t> </a:t>
            </a:r>
            <a:r>
              <a:rPr sz="2100" spc="-64" dirty="0">
                <a:latin typeface="Trebuchet MS"/>
                <a:cs typeface="Trebuchet MS"/>
              </a:rPr>
              <a:t>parallelepiped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64" dirty="0">
                <a:latin typeface="Trebuchet MS"/>
                <a:cs typeface="Trebuchet MS"/>
              </a:rPr>
              <a:t>dx.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56" dirty="0">
                <a:latin typeface="Trebuchet MS"/>
                <a:cs typeface="Trebuchet MS"/>
              </a:rPr>
              <a:t>Probability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conserved: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4" y="2992754"/>
            <a:ext cx="6968966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dirty="0">
                <a:latin typeface="Trebuchet MS"/>
                <a:cs typeface="Trebuchet MS"/>
              </a:rPr>
              <a:t>Intuition:</a:t>
            </a:r>
            <a:r>
              <a:rPr sz="2100" spc="-13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x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71" dirty="0">
                <a:latin typeface="Trebuchet MS"/>
                <a:cs typeface="Trebuchet MS"/>
              </a:rPr>
              <a:t>likely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113" dirty="0">
                <a:latin typeface="Trebuchet MS"/>
                <a:cs typeface="Trebuchet MS"/>
              </a:rPr>
              <a:t>if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spc="-146" dirty="0">
                <a:latin typeface="Trebuchet MS"/>
                <a:cs typeface="Trebuchet MS"/>
              </a:rPr>
              <a:t>it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spc="56" dirty="0">
                <a:latin typeface="Trebuchet MS"/>
                <a:cs typeface="Trebuchet MS"/>
              </a:rPr>
              <a:t>maps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“large”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region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in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z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space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4832" y="1917955"/>
            <a:ext cx="5177790" cy="86182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8" dirty="0"/>
              <a:t>Flow</a:t>
            </a:r>
            <a:r>
              <a:rPr lang="en-IN" spc="-146" dirty="0"/>
              <a:t> </a:t>
            </a:r>
            <a:r>
              <a:rPr lang="en-IN" spc="60" dirty="0"/>
              <a:t>models:</a:t>
            </a:r>
            <a:r>
              <a:rPr lang="en-IN" spc="-143" dirty="0"/>
              <a:t> </a:t>
            </a:r>
            <a:r>
              <a:rPr lang="en-IN" spc="113" dirty="0"/>
              <a:t>training</a:t>
            </a:r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43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3" y="1010792"/>
            <a:ext cx="7851934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86" dirty="0">
                <a:latin typeface="Trebuchet MS"/>
                <a:cs typeface="Trebuchet MS"/>
              </a:rPr>
              <a:t>Change-</a:t>
            </a:r>
            <a:r>
              <a:rPr sz="2100" spc="-8" dirty="0">
                <a:latin typeface="Trebuchet MS"/>
                <a:cs typeface="Trebuchet MS"/>
              </a:rPr>
              <a:t>of-</a:t>
            </a:r>
            <a:r>
              <a:rPr sz="2100" spc="53" dirty="0">
                <a:latin typeface="Trebuchet MS"/>
                <a:cs typeface="Trebuchet MS"/>
              </a:rPr>
              <a:t>variables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formula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lets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105" dirty="0">
                <a:latin typeface="Trebuchet MS"/>
                <a:cs typeface="Trebuchet MS"/>
              </a:rPr>
              <a:t>us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compute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the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density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over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x: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3" y="2517266"/>
            <a:ext cx="3702844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-71" dirty="0">
                <a:latin typeface="Trebuchet MS"/>
                <a:cs typeface="Trebuchet MS"/>
              </a:rPr>
              <a:t>Train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with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maximum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-53" dirty="0">
                <a:latin typeface="Trebuchet MS"/>
                <a:cs typeface="Trebuchet MS"/>
              </a:rPr>
              <a:t>likelihood: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813" y="4174616"/>
            <a:ext cx="7852410" cy="659957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9525" marR="3810">
              <a:lnSpc>
                <a:spcPct val="100699"/>
              </a:lnSpc>
              <a:spcBef>
                <a:spcPts val="56"/>
              </a:spcBef>
            </a:pPr>
            <a:r>
              <a:rPr sz="2100" spc="153" dirty="0">
                <a:latin typeface="Trebuchet MS"/>
                <a:cs typeface="Trebuchet MS"/>
              </a:rPr>
              <a:t>New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spc="41" dirty="0">
                <a:latin typeface="Trebuchet MS"/>
                <a:cs typeface="Trebuchet MS"/>
              </a:rPr>
              <a:t>key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requirement: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the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Jacobian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determinant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45" dirty="0">
                <a:latin typeface="Trebuchet MS"/>
                <a:cs typeface="Trebuchet MS"/>
              </a:rPr>
              <a:t>must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be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spc="41" dirty="0">
                <a:latin typeface="Trebuchet MS"/>
                <a:cs typeface="Trebuchet MS"/>
              </a:rPr>
              <a:t>easy</a:t>
            </a:r>
            <a:r>
              <a:rPr sz="2100" spc="-41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to </a:t>
            </a:r>
            <a:r>
              <a:rPr sz="2100" spc="-56" dirty="0">
                <a:latin typeface="Trebuchet MS"/>
                <a:cs typeface="Trebuchet MS"/>
              </a:rPr>
              <a:t>calculate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13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differentiate!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915" y="1501901"/>
            <a:ext cx="3412997" cy="674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202" y="2967227"/>
            <a:ext cx="7948422" cy="71551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4" name="Text Placeholder 1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79" dirty="0"/>
              <a:t>Chaining</a:t>
            </a:r>
            <a:r>
              <a:rPr lang="en-IN" spc="-75" dirty="0"/>
              <a:t> </a:t>
            </a:r>
            <a:r>
              <a:rPr lang="en-IN" spc="79" dirty="0"/>
              <a:t>Invertible</a:t>
            </a:r>
            <a:r>
              <a:rPr lang="en-IN" spc="-71" dirty="0"/>
              <a:t> </a:t>
            </a:r>
            <a:r>
              <a:rPr lang="en-IN" spc="109" dirty="0"/>
              <a:t>Mappings</a:t>
            </a:r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4316" y="1172718"/>
            <a:ext cx="3495294" cy="4046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895" y="1172718"/>
            <a:ext cx="3280410" cy="4046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0895" y="3687318"/>
            <a:ext cx="3534156" cy="5234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67378" y="3687318"/>
            <a:ext cx="1357883" cy="5234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1650" y="1808115"/>
            <a:ext cx="5562600" cy="15605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0895" y="4345685"/>
            <a:ext cx="6222492" cy="5234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03966" y="3822361"/>
            <a:ext cx="1374934" cy="1039965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17634">
              <a:spcBef>
                <a:spcPts val="83"/>
              </a:spcBef>
            </a:pPr>
            <a:r>
              <a:rPr sz="1463" b="1" spc="45" dirty="0">
                <a:solidFill>
                  <a:srgbClr val="434343"/>
                </a:solidFill>
                <a:latin typeface="Trebuchet MS"/>
                <a:cs typeface="Trebuchet MS"/>
              </a:rPr>
              <a:t>Chain</a:t>
            </a:r>
            <a:r>
              <a:rPr sz="1463" b="1" spc="-15" dirty="0">
                <a:solidFill>
                  <a:srgbClr val="434343"/>
                </a:solidFill>
                <a:latin typeface="Trebuchet MS"/>
                <a:cs typeface="Trebuchet MS"/>
              </a:rPr>
              <a:t> rule</a:t>
            </a:r>
            <a:endParaRPr sz="1463">
              <a:latin typeface="Trebuchet MS"/>
              <a:cs typeface="Trebuchet MS"/>
            </a:endParaRPr>
          </a:p>
          <a:p>
            <a:pPr>
              <a:spcBef>
                <a:spcPts val="855"/>
              </a:spcBef>
            </a:pPr>
            <a:endParaRPr sz="1463">
              <a:latin typeface="Trebuchet MS"/>
              <a:cs typeface="Trebuchet MS"/>
            </a:endParaRPr>
          </a:p>
          <a:p>
            <a:pPr marL="20003" marR="3810" indent="-10953">
              <a:lnSpc>
                <a:spcPct val="102600"/>
              </a:lnSpc>
            </a:pPr>
            <a:r>
              <a:rPr sz="1463" b="1" dirty="0">
                <a:solidFill>
                  <a:srgbClr val="434343"/>
                </a:solidFill>
                <a:latin typeface="Trebuchet MS"/>
                <a:cs typeface="Trebuchet MS"/>
              </a:rPr>
              <a:t>Determinant</a:t>
            </a:r>
            <a:r>
              <a:rPr sz="1463" b="1" spc="143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463" b="1" spc="-19" dirty="0">
                <a:solidFill>
                  <a:srgbClr val="434343"/>
                </a:solidFill>
                <a:latin typeface="Trebuchet MS"/>
                <a:cs typeface="Trebuchet MS"/>
              </a:rPr>
              <a:t>of </a:t>
            </a:r>
            <a:r>
              <a:rPr sz="1463" b="1" dirty="0">
                <a:solidFill>
                  <a:srgbClr val="434343"/>
                </a:solidFill>
                <a:latin typeface="Trebuchet MS"/>
                <a:cs typeface="Trebuchet MS"/>
              </a:rPr>
              <a:t>matrix</a:t>
            </a:r>
            <a:r>
              <a:rPr sz="1463" b="1" spc="38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463" b="1" spc="-8" dirty="0">
                <a:solidFill>
                  <a:srgbClr val="434343"/>
                </a:solidFill>
                <a:latin typeface="Trebuchet MS"/>
                <a:cs typeface="Trebuchet MS"/>
              </a:rPr>
              <a:t>product</a:t>
            </a:r>
            <a:endParaRPr sz="1463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27821" y="3709026"/>
            <a:ext cx="0" cy="1185386"/>
          </a:xfrm>
          <a:custGeom>
            <a:avLst/>
            <a:gdLst/>
            <a:ahLst/>
            <a:cxnLst/>
            <a:rect l="l" t="t" r="r" b="b"/>
            <a:pathLst>
              <a:path h="1580515">
                <a:moveTo>
                  <a:pt x="0" y="0"/>
                </a:moveTo>
                <a:lnTo>
                  <a:pt x="1" y="1580000"/>
                </a:lnTo>
              </a:path>
            </a:pathLst>
          </a:custGeom>
          <a:ln w="28575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3645217" y="4960912"/>
            <a:ext cx="3689033" cy="1365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825" spc="-19" dirty="0">
                <a:latin typeface="Trebuchet MS"/>
                <a:cs typeface="Trebuchet MS"/>
              </a:rPr>
              <a:t>Figure</a:t>
            </a:r>
            <a:r>
              <a:rPr sz="825" spc="-26" dirty="0">
                <a:latin typeface="Trebuchet MS"/>
                <a:cs typeface="Trebuchet MS"/>
              </a:rPr>
              <a:t> </a:t>
            </a:r>
            <a:r>
              <a:rPr sz="825" spc="-19" dirty="0">
                <a:latin typeface="Trebuchet MS"/>
                <a:cs typeface="Trebuchet MS"/>
              </a:rPr>
              <a:t>from</a:t>
            </a:r>
            <a:r>
              <a:rPr sz="825" spc="-30" dirty="0">
                <a:latin typeface="Trebuchet MS"/>
                <a:cs typeface="Trebuchet MS"/>
              </a:rPr>
              <a:t> </a:t>
            </a:r>
            <a:r>
              <a:rPr sz="825" spc="-15" dirty="0">
                <a:latin typeface="Trebuchet MS"/>
                <a:cs typeface="Trebuchet MS"/>
              </a:rPr>
              <a:t>blog</a:t>
            </a:r>
            <a:r>
              <a:rPr sz="825" spc="-26" dirty="0">
                <a:latin typeface="Trebuchet MS"/>
                <a:cs typeface="Trebuchet MS"/>
              </a:rPr>
              <a:t> </a:t>
            </a:r>
            <a:r>
              <a:rPr sz="825" spc="-19" dirty="0">
                <a:latin typeface="Trebuchet MS"/>
                <a:cs typeface="Trebuchet MS"/>
              </a:rPr>
              <a:t>post:</a:t>
            </a:r>
            <a:r>
              <a:rPr sz="825" spc="-11" dirty="0">
                <a:latin typeface="Trebuchet MS"/>
                <a:cs typeface="Trebuchet MS"/>
              </a:rPr>
              <a:t> </a:t>
            </a:r>
            <a:r>
              <a:rPr sz="825" i="1" spc="-71" dirty="0">
                <a:latin typeface="Verdana"/>
                <a:cs typeface="Verdana"/>
              </a:rPr>
              <a:t>Flow-</a:t>
            </a:r>
            <a:r>
              <a:rPr sz="825" i="1" spc="-68" dirty="0">
                <a:latin typeface="Verdana"/>
                <a:cs typeface="Verdana"/>
              </a:rPr>
              <a:t>based </a:t>
            </a:r>
            <a:r>
              <a:rPr sz="825" i="1" spc="-56" dirty="0">
                <a:latin typeface="Verdana"/>
                <a:cs typeface="Verdana"/>
              </a:rPr>
              <a:t>Deep</a:t>
            </a:r>
            <a:r>
              <a:rPr sz="825" i="1" spc="-68" dirty="0">
                <a:latin typeface="Verdana"/>
                <a:cs typeface="Verdana"/>
              </a:rPr>
              <a:t> </a:t>
            </a:r>
            <a:r>
              <a:rPr sz="825" i="1" spc="-75" dirty="0">
                <a:latin typeface="Verdana"/>
                <a:cs typeface="Verdana"/>
              </a:rPr>
              <a:t>Generative</a:t>
            </a:r>
            <a:r>
              <a:rPr sz="825" i="1" spc="-68" dirty="0">
                <a:latin typeface="Verdana"/>
                <a:cs typeface="Verdana"/>
              </a:rPr>
              <a:t> </a:t>
            </a:r>
            <a:r>
              <a:rPr sz="825" i="1" spc="-38" dirty="0">
                <a:latin typeface="Verdana"/>
                <a:cs typeface="Verdana"/>
              </a:rPr>
              <a:t>Models</a:t>
            </a:r>
            <a:r>
              <a:rPr sz="825" i="1" spc="-56" dirty="0">
                <a:latin typeface="Verdana"/>
                <a:cs typeface="Verdana"/>
              </a:rPr>
              <a:t> </a:t>
            </a:r>
            <a:r>
              <a:rPr sz="825" dirty="0">
                <a:latin typeface="Trebuchet MS"/>
                <a:cs typeface="Trebuchet MS"/>
              </a:rPr>
              <a:t>by</a:t>
            </a:r>
            <a:r>
              <a:rPr sz="825" spc="-19" dirty="0">
                <a:latin typeface="Trebuchet MS"/>
                <a:cs typeface="Trebuchet MS"/>
              </a:rPr>
              <a:t> </a:t>
            </a:r>
            <a:r>
              <a:rPr sz="825" spc="-34" dirty="0">
                <a:latin typeface="Trebuchet MS"/>
                <a:cs typeface="Trebuchet MS"/>
              </a:rPr>
              <a:t>Lilian</a:t>
            </a:r>
            <a:r>
              <a:rPr sz="825" spc="-26" dirty="0">
                <a:latin typeface="Trebuchet MS"/>
                <a:cs typeface="Trebuchet MS"/>
              </a:rPr>
              <a:t> </a:t>
            </a:r>
            <a:r>
              <a:rPr sz="825" dirty="0">
                <a:latin typeface="Trebuchet MS"/>
                <a:cs typeface="Trebuchet MS"/>
              </a:rPr>
              <a:t>Weng,</a:t>
            </a:r>
            <a:r>
              <a:rPr sz="825" spc="-11" dirty="0">
                <a:latin typeface="Trebuchet MS"/>
                <a:cs typeface="Trebuchet MS"/>
              </a:rPr>
              <a:t> </a:t>
            </a:r>
            <a:r>
              <a:rPr sz="825" spc="-15" dirty="0">
                <a:latin typeface="Trebuchet MS"/>
                <a:cs typeface="Trebuchet MS"/>
              </a:rPr>
              <a:t>2018</a:t>
            </a:r>
            <a:endParaRPr sz="825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6520" y="4942332"/>
            <a:ext cx="130969" cy="1365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825" spc="-19" dirty="0">
                <a:latin typeface="Trebuchet MS"/>
                <a:cs typeface="Trebuchet MS"/>
              </a:rPr>
              <a:t>44</a:t>
            </a:r>
            <a:endParaRPr sz="825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79" dirty="0"/>
              <a:t>Constructing</a:t>
            </a:r>
            <a:r>
              <a:rPr lang="en-IN" spc="-23" dirty="0"/>
              <a:t> </a:t>
            </a:r>
            <a:r>
              <a:rPr lang="en-IN" dirty="0"/>
              <a:t>flows:</a:t>
            </a:r>
            <a:r>
              <a:rPr lang="en-IN" spc="-19" dirty="0"/>
              <a:t> </a:t>
            </a:r>
            <a:r>
              <a:rPr lang="en-IN" spc="94" dirty="0"/>
              <a:t>composition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45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288" y="910209"/>
            <a:ext cx="5642134" cy="860011"/>
          </a:xfrm>
          <a:prstGeom prst="rect">
            <a:avLst/>
          </a:prstGeom>
        </p:spPr>
        <p:txBody>
          <a:bodyPr vert="horz" wrap="square" lIns="0" tIns="110014" rIns="0" bIns="0" rtlCol="0">
            <a:spAutoFit/>
          </a:bodyPr>
          <a:lstStyle/>
          <a:p>
            <a:pPr marL="190024" indent="-170974">
              <a:spcBef>
                <a:spcPts val="866"/>
              </a:spcBef>
              <a:buFont typeface="Arial"/>
              <a:buChar char="•"/>
              <a:tabLst>
                <a:tab pos="190024" algn="l"/>
              </a:tabLst>
            </a:pPr>
            <a:r>
              <a:rPr sz="2100" spc="105" dirty="0">
                <a:latin typeface="Trebuchet MS"/>
                <a:cs typeface="Trebuchet MS"/>
              </a:rPr>
              <a:t>Flows</a:t>
            </a:r>
            <a:r>
              <a:rPr sz="2100" spc="-53" dirty="0">
                <a:latin typeface="Trebuchet MS"/>
                <a:cs typeface="Trebuchet MS"/>
              </a:rPr>
              <a:t> </a:t>
            </a:r>
            <a:r>
              <a:rPr sz="2100" spc="64" dirty="0">
                <a:latin typeface="Trebuchet MS"/>
                <a:cs typeface="Trebuchet MS"/>
              </a:rPr>
              <a:t>can</a:t>
            </a:r>
            <a:r>
              <a:rPr sz="2100" spc="-53" dirty="0">
                <a:latin typeface="Trebuchet MS"/>
                <a:cs typeface="Trebuchet MS"/>
              </a:rPr>
              <a:t> </a:t>
            </a:r>
            <a:r>
              <a:rPr sz="2100" spc="64" dirty="0">
                <a:latin typeface="Trebuchet MS"/>
                <a:cs typeface="Trebuchet MS"/>
              </a:rPr>
              <a:t>be</a:t>
            </a:r>
            <a:r>
              <a:rPr sz="2100" spc="-53" dirty="0">
                <a:latin typeface="Trebuchet MS"/>
                <a:cs typeface="Trebuchet MS"/>
              </a:rPr>
              <a:t> </a:t>
            </a:r>
            <a:r>
              <a:rPr sz="2100" spc="109" dirty="0">
                <a:latin typeface="Trebuchet MS"/>
                <a:cs typeface="Trebuchet MS"/>
              </a:rPr>
              <a:t>composed</a:t>
            </a:r>
            <a:endParaRPr sz="2100">
              <a:latin typeface="Trebuchet MS"/>
              <a:cs typeface="Trebuchet MS"/>
            </a:endParaRPr>
          </a:p>
          <a:p>
            <a:pPr marL="2821781">
              <a:spcBef>
                <a:spcPts val="791"/>
              </a:spcBef>
            </a:pPr>
            <a:r>
              <a:rPr sz="2100" dirty="0">
                <a:latin typeface="Trebuchet MS"/>
                <a:cs typeface="Trebuchet MS"/>
              </a:rPr>
              <a:t>x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→</a:t>
            </a:r>
            <a:r>
              <a:rPr sz="2100" spc="3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rebuchet MS"/>
                <a:cs typeface="Trebuchet MS"/>
              </a:rPr>
              <a:t>f</a:t>
            </a:r>
            <a:r>
              <a:rPr sz="2138" baseline="-17543" dirty="0">
                <a:latin typeface="Trebuchet MS"/>
                <a:cs typeface="Trebuchet MS"/>
              </a:rPr>
              <a:t>1</a:t>
            </a:r>
            <a:r>
              <a:rPr sz="2138" spc="163" baseline="-17543" dirty="0">
                <a:latin typeface="Trebuchet MS"/>
                <a:cs typeface="Trebuchet MS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→</a:t>
            </a:r>
            <a:r>
              <a:rPr sz="2100" spc="3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rebuchet MS"/>
                <a:cs typeface="Trebuchet MS"/>
              </a:rPr>
              <a:t>f</a:t>
            </a:r>
            <a:r>
              <a:rPr sz="2138" baseline="-17543" dirty="0">
                <a:latin typeface="Trebuchet MS"/>
                <a:cs typeface="Trebuchet MS"/>
              </a:rPr>
              <a:t>2</a:t>
            </a:r>
            <a:r>
              <a:rPr sz="2138" spc="163" baseline="-17543" dirty="0">
                <a:latin typeface="Trebuchet MS"/>
                <a:cs typeface="Trebuchet MS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→</a:t>
            </a:r>
            <a:r>
              <a:rPr sz="2100" spc="34" dirty="0">
                <a:latin typeface="Times New Roman"/>
                <a:cs typeface="Times New Roman"/>
              </a:rPr>
              <a:t> </a:t>
            </a:r>
            <a:r>
              <a:rPr sz="2100" spc="540" dirty="0">
                <a:latin typeface="Trebuchet MS"/>
                <a:cs typeface="Trebuchet MS"/>
              </a:rPr>
              <a:t>…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</a:t>
            </a:r>
            <a:r>
              <a:rPr sz="2138" baseline="-17543" dirty="0">
                <a:latin typeface="Trebuchet MS"/>
                <a:cs typeface="Trebuchet MS"/>
              </a:rPr>
              <a:t>k</a:t>
            </a:r>
            <a:r>
              <a:rPr sz="2138" spc="180" baseline="-17543" dirty="0">
                <a:latin typeface="Trebuchet MS"/>
                <a:cs typeface="Trebuchet MS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→</a:t>
            </a:r>
            <a:r>
              <a:rPr sz="2100" spc="34" dirty="0">
                <a:latin typeface="Times New Roman"/>
                <a:cs typeface="Times New Roman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z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3" y="3916298"/>
            <a:ext cx="4598194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spcBef>
                <a:spcPts val="75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75" dirty="0">
                <a:latin typeface="Trebuchet MS"/>
                <a:cs typeface="Trebuchet MS"/>
              </a:rPr>
              <a:t>Easy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38" dirty="0">
                <a:latin typeface="Trebuchet MS"/>
                <a:cs typeface="Trebuchet MS"/>
              </a:rPr>
              <a:t>way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increase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30" dirty="0">
                <a:latin typeface="Trebuchet MS"/>
                <a:cs typeface="Trebuchet MS"/>
              </a:rPr>
              <a:t>expressiveness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3663" y="1956816"/>
            <a:ext cx="5376672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94" dirty="0"/>
              <a:t>Affine</a:t>
            </a:r>
            <a:r>
              <a:rPr lang="en-IN" spc="-83" dirty="0"/>
              <a:t> </a:t>
            </a:r>
            <a:r>
              <a:rPr lang="en-IN" spc="34" dirty="0"/>
              <a:t>flows</a:t>
            </a:r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46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289" y="881378"/>
            <a:ext cx="6372701" cy="1328955"/>
          </a:xfrm>
          <a:prstGeom prst="rect">
            <a:avLst/>
          </a:prstGeom>
        </p:spPr>
        <p:txBody>
          <a:bodyPr vert="horz" wrap="square" lIns="0" tIns="168593" rIns="0" bIns="0" rtlCol="0">
            <a:spAutoFit/>
          </a:bodyPr>
          <a:lstStyle/>
          <a:p>
            <a:pPr marL="190024" indent="-170974">
              <a:spcBef>
                <a:spcPts val="1328"/>
              </a:spcBef>
              <a:buFont typeface="Arial"/>
              <a:buChar char="•"/>
              <a:tabLst>
                <a:tab pos="190024" algn="l"/>
              </a:tabLst>
            </a:pPr>
            <a:r>
              <a:rPr sz="2100" dirty="0">
                <a:latin typeface="Trebuchet MS"/>
                <a:cs typeface="Trebuchet MS"/>
              </a:rPr>
              <a:t>Another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name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for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56" dirty="0">
                <a:latin typeface="Trebuchet MS"/>
                <a:cs typeface="Trebuchet MS"/>
              </a:rPr>
              <a:t>affine </a:t>
            </a:r>
            <a:r>
              <a:rPr sz="2100" spc="-41" dirty="0">
                <a:latin typeface="Trebuchet MS"/>
                <a:cs typeface="Trebuchet MS"/>
              </a:rPr>
              <a:t>flow: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71" dirty="0">
                <a:latin typeface="Trebuchet MS"/>
                <a:cs typeface="Trebuchet MS"/>
              </a:rPr>
              <a:t>multivariate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Gaussian.</a:t>
            </a:r>
            <a:endParaRPr sz="2100">
              <a:latin typeface="Trebuchet MS"/>
              <a:cs typeface="Trebuchet MS"/>
            </a:endParaRPr>
          </a:p>
          <a:p>
            <a:pPr marL="532448" lvl="1" indent="-170497">
              <a:spcBef>
                <a:spcPts val="1073"/>
              </a:spcBef>
              <a:buFont typeface="Carlito"/>
              <a:buChar char="–"/>
              <a:tabLst>
                <a:tab pos="532448" algn="l"/>
              </a:tabLst>
            </a:pPr>
            <a:r>
              <a:rPr spc="-19" dirty="0">
                <a:latin typeface="Trebuchet MS"/>
                <a:cs typeface="Trebuchet MS"/>
              </a:rPr>
              <a:t>Parameters: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53" dirty="0">
                <a:latin typeface="Trebuchet MS"/>
                <a:cs typeface="Trebuchet MS"/>
              </a:rPr>
              <a:t>invertible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matrix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135" dirty="0">
                <a:latin typeface="Trebuchet MS"/>
                <a:cs typeface="Trebuchet MS"/>
              </a:rPr>
              <a:t>A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vector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b</a:t>
            </a:r>
            <a:endParaRPr>
              <a:latin typeface="Trebuchet MS"/>
              <a:cs typeface="Trebuchet MS"/>
            </a:endParaRPr>
          </a:p>
          <a:p>
            <a:pPr marL="543401" lvl="1" indent="-181451">
              <a:spcBef>
                <a:spcPts val="623"/>
              </a:spcBef>
              <a:buSzPct val="81355"/>
              <a:buFont typeface="Carlito"/>
              <a:buChar char="–"/>
              <a:tabLst>
                <a:tab pos="543401" algn="l"/>
              </a:tabLst>
            </a:pPr>
            <a:r>
              <a:rPr sz="2213" i="1" spc="349" dirty="0">
                <a:latin typeface="Georgia"/>
                <a:cs typeface="Georgia"/>
              </a:rPr>
              <a:t>f</a:t>
            </a:r>
            <a:r>
              <a:rPr sz="2213" i="1" spc="-293" dirty="0">
                <a:latin typeface="Georgia"/>
                <a:cs typeface="Georgia"/>
              </a:rPr>
              <a:t> </a:t>
            </a:r>
            <a:r>
              <a:rPr sz="2213" spc="49" dirty="0">
                <a:latin typeface="LM Roman 10"/>
                <a:cs typeface="LM Roman 10"/>
              </a:rPr>
              <a:t>(</a:t>
            </a:r>
            <a:r>
              <a:rPr sz="2213" i="1" spc="49" dirty="0">
                <a:latin typeface="Georgia"/>
                <a:cs typeface="Georgia"/>
              </a:rPr>
              <a:t>x</a:t>
            </a:r>
            <a:r>
              <a:rPr sz="2213" spc="49" dirty="0">
                <a:latin typeface="LM Roman 10"/>
                <a:cs typeface="LM Roman 10"/>
              </a:rPr>
              <a:t>)</a:t>
            </a:r>
            <a:r>
              <a:rPr sz="2213" spc="-105" dirty="0">
                <a:latin typeface="LM Roman 10"/>
                <a:cs typeface="LM Roman 10"/>
              </a:rPr>
              <a:t> </a:t>
            </a:r>
            <a:r>
              <a:rPr sz="2213" dirty="0">
                <a:latin typeface="LM Roman 10"/>
                <a:cs typeface="LM Roman 10"/>
              </a:rPr>
              <a:t>=</a:t>
            </a:r>
            <a:r>
              <a:rPr sz="2213" spc="-109" dirty="0">
                <a:latin typeface="LM Roman 10"/>
                <a:cs typeface="LM Roman 10"/>
              </a:rPr>
              <a:t> </a:t>
            </a:r>
            <a:r>
              <a:rPr sz="2213" i="1" dirty="0">
                <a:latin typeface="Georgia"/>
                <a:cs typeface="Georgia"/>
              </a:rPr>
              <a:t>A</a:t>
            </a:r>
            <a:r>
              <a:rPr sz="2306" i="1" baseline="32520" dirty="0">
                <a:latin typeface="Arial"/>
                <a:cs typeface="Arial"/>
              </a:rPr>
              <a:t>—</a:t>
            </a:r>
            <a:r>
              <a:rPr sz="2306" spc="134" baseline="32520" dirty="0">
                <a:latin typeface="Akkadian"/>
                <a:cs typeface="Akkadian"/>
              </a:rPr>
              <a:t>1</a:t>
            </a:r>
            <a:r>
              <a:rPr sz="2213" spc="90" dirty="0">
                <a:latin typeface="LM Roman 10"/>
                <a:cs typeface="LM Roman 10"/>
              </a:rPr>
              <a:t>(</a:t>
            </a:r>
            <a:r>
              <a:rPr sz="2213" i="1" spc="90" dirty="0">
                <a:latin typeface="Georgia"/>
                <a:cs typeface="Georgia"/>
              </a:rPr>
              <a:t>x</a:t>
            </a:r>
            <a:r>
              <a:rPr sz="2213" i="1" spc="-34" dirty="0">
                <a:latin typeface="Georgia"/>
                <a:cs typeface="Georgia"/>
              </a:rPr>
              <a:t> </a:t>
            </a:r>
            <a:r>
              <a:rPr sz="2213" i="1" spc="-488" dirty="0">
                <a:latin typeface="DejaVu Sans"/>
                <a:cs typeface="DejaVu Sans"/>
              </a:rPr>
              <a:t>—</a:t>
            </a:r>
            <a:r>
              <a:rPr sz="2213" i="1" spc="-199" dirty="0">
                <a:latin typeface="DejaVu Sans"/>
                <a:cs typeface="DejaVu Sans"/>
              </a:rPr>
              <a:t> </a:t>
            </a:r>
            <a:r>
              <a:rPr sz="2213" i="1" spc="-19" dirty="0">
                <a:latin typeface="Georgia"/>
                <a:cs typeface="Georgia"/>
              </a:rPr>
              <a:t>b</a:t>
            </a:r>
            <a:r>
              <a:rPr sz="2213" spc="-19" dirty="0">
                <a:latin typeface="LM Roman 10"/>
                <a:cs typeface="LM Roman 10"/>
              </a:rPr>
              <a:t>)</a:t>
            </a:r>
            <a:endParaRPr sz="2213">
              <a:latin typeface="LM Roman 10"/>
              <a:cs typeface="LM Roman 1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3" y="2325242"/>
            <a:ext cx="136017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spcBef>
                <a:spcPts val="75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-8" dirty="0">
                <a:latin typeface="Trebuchet MS"/>
                <a:cs typeface="Trebuchet MS"/>
              </a:rPr>
              <a:t>Sampling: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1277" y="2288786"/>
            <a:ext cx="4160996" cy="382316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sz="2400" i="1" spc="191" dirty="0">
                <a:latin typeface="Georgia"/>
                <a:cs typeface="Georgia"/>
              </a:rPr>
              <a:t>x</a:t>
            </a:r>
            <a:r>
              <a:rPr sz="2400" i="1" spc="109" dirty="0">
                <a:latin typeface="Georgia"/>
                <a:cs typeface="Georgia"/>
              </a:rPr>
              <a:t> </a:t>
            </a:r>
            <a:r>
              <a:rPr sz="2400" dirty="0">
                <a:latin typeface="LM Roman 10"/>
                <a:cs typeface="LM Roman 10"/>
              </a:rPr>
              <a:t>=</a:t>
            </a:r>
            <a:r>
              <a:rPr sz="2400" spc="-113" dirty="0">
                <a:latin typeface="LM Roman 10"/>
                <a:cs typeface="LM Roman 10"/>
              </a:rPr>
              <a:t> </a:t>
            </a:r>
            <a:r>
              <a:rPr sz="2400" i="1" spc="146" dirty="0">
                <a:latin typeface="Georgia"/>
                <a:cs typeface="Georgia"/>
              </a:rPr>
              <a:t>Az</a:t>
            </a:r>
            <a:r>
              <a:rPr sz="2400" i="1" spc="79" dirty="0">
                <a:latin typeface="Georgia"/>
                <a:cs typeface="Georgia"/>
              </a:rPr>
              <a:t> </a:t>
            </a:r>
            <a:r>
              <a:rPr sz="2400" dirty="0">
                <a:latin typeface="LM Roman 10"/>
                <a:cs typeface="LM Roman 10"/>
              </a:rPr>
              <a:t>+</a:t>
            </a:r>
            <a:r>
              <a:rPr sz="2400" spc="-251" dirty="0">
                <a:latin typeface="LM Roman 10"/>
                <a:cs typeface="LM Roman 10"/>
              </a:rPr>
              <a:t> </a:t>
            </a:r>
            <a:r>
              <a:rPr sz="2400" i="1" spc="-296" dirty="0">
                <a:latin typeface="Georgia"/>
                <a:cs typeface="Georgia"/>
              </a:rPr>
              <a:t>b</a:t>
            </a:r>
            <a:r>
              <a:rPr sz="2400" i="1" spc="-30" dirty="0">
                <a:latin typeface="Georgia"/>
                <a:cs typeface="Georgia"/>
              </a:rPr>
              <a:t> </a:t>
            </a:r>
            <a:r>
              <a:rPr sz="2100" spc="-195" dirty="0">
                <a:latin typeface="Trebuchet MS"/>
                <a:cs typeface="Trebuchet MS"/>
              </a:rPr>
              <a:t>,</a:t>
            </a:r>
            <a:r>
              <a:rPr sz="2100" spc="-5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where</a:t>
            </a:r>
            <a:r>
              <a:rPr sz="2100" spc="191" dirty="0">
                <a:latin typeface="Trebuchet MS"/>
                <a:cs typeface="Trebuchet MS"/>
              </a:rPr>
              <a:t> </a:t>
            </a:r>
            <a:r>
              <a:rPr sz="3600" i="1" baseline="2604" dirty="0">
                <a:latin typeface="Verdana"/>
                <a:cs typeface="Verdana"/>
              </a:rPr>
              <a:t>z</a:t>
            </a:r>
            <a:r>
              <a:rPr sz="3600" i="1" spc="-73" baseline="2604" dirty="0">
                <a:latin typeface="Verdana"/>
                <a:cs typeface="Verdana"/>
              </a:rPr>
              <a:t> </a:t>
            </a:r>
            <a:r>
              <a:rPr sz="3600" i="1" spc="-191" baseline="2604" dirty="0">
                <a:latin typeface="DejaVu Sans"/>
                <a:cs typeface="DejaVu Sans"/>
              </a:rPr>
              <a:t>⇠</a:t>
            </a:r>
            <a:r>
              <a:rPr sz="3600" i="1" spc="-113" baseline="2604" dirty="0">
                <a:latin typeface="DejaVu Sans"/>
                <a:cs typeface="DejaVu Sans"/>
              </a:rPr>
              <a:t> </a:t>
            </a:r>
            <a:r>
              <a:rPr sz="3600" i="1" spc="293" baseline="2604" dirty="0">
                <a:latin typeface="DejaVu Sans"/>
                <a:cs typeface="DejaVu Sans"/>
              </a:rPr>
              <a:t>N</a:t>
            </a:r>
            <a:r>
              <a:rPr sz="3600" i="1" spc="-602" baseline="2604" dirty="0">
                <a:latin typeface="DejaVu Sans"/>
                <a:cs typeface="DejaVu Sans"/>
              </a:rPr>
              <a:t> </a:t>
            </a:r>
            <a:r>
              <a:rPr sz="3600" spc="-90" baseline="2604" dirty="0">
                <a:latin typeface="FreeFarsi"/>
                <a:cs typeface="FreeFarsi"/>
              </a:rPr>
              <a:t>(0</a:t>
            </a:r>
            <a:r>
              <a:rPr sz="3600" i="1" spc="-90" baseline="2604" dirty="0">
                <a:latin typeface="Verdana"/>
                <a:cs typeface="Verdana"/>
              </a:rPr>
              <a:t>,</a:t>
            </a:r>
            <a:r>
              <a:rPr sz="3600" i="1" spc="-641" baseline="2604" dirty="0">
                <a:latin typeface="Verdana"/>
                <a:cs typeface="Verdana"/>
              </a:rPr>
              <a:t> </a:t>
            </a:r>
            <a:r>
              <a:rPr sz="3600" i="1" spc="152" baseline="2604" dirty="0">
                <a:latin typeface="Verdana"/>
                <a:cs typeface="Verdana"/>
              </a:rPr>
              <a:t>I</a:t>
            </a:r>
            <a:r>
              <a:rPr sz="3600" spc="152" baseline="2604" dirty="0">
                <a:latin typeface="FreeFarsi"/>
                <a:cs typeface="FreeFarsi"/>
              </a:rPr>
              <a:t>)</a:t>
            </a:r>
            <a:endParaRPr sz="3600" baseline="2604">
              <a:latin typeface="FreeFarsi"/>
              <a:cs typeface="FreeFars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763" y="2668033"/>
            <a:ext cx="6424613" cy="1197411"/>
          </a:xfrm>
          <a:prstGeom prst="rect">
            <a:avLst/>
          </a:prstGeom>
        </p:spPr>
        <p:txBody>
          <a:bodyPr vert="horz" wrap="square" lIns="0" tIns="132874" rIns="0" bIns="0" rtlCol="0">
            <a:spAutoFit/>
          </a:bodyPr>
          <a:lstStyle/>
          <a:p>
            <a:pPr marL="199549" indent="-170974">
              <a:spcBef>
                <a:spcPts val="1046"/>
              </a:spcBef>
              <a:buFont typeface="Arial"/>
              <a:buChar char="•"/>
              <a:tabLst>
                <a:tab pos="199549" algn="l"/>
              </a:tabLst>
            </a:pPr>
            <a:r>
              <a:rPr sz="2100" spc="79" dirty="0">
                <a:latin typeface="Trebuchet MS"/>
                <a:cs typeface="Trebuchet MS"/>
              </a:rPr>
              <a:t>Log</a:t>
            </a:r>
            <a:r>
              <a:rPr sz="2100" spc="-19" dirty="0">
                <a:latin typeface="Trebuchet MS"/>
                <a:cs typeface="Trebuchet MS"/>
              </a:rPr>
              <a:t> </a:t>
            </a:r>
            <a:r>
              <a:rPr sz="2100" spc="-49" dirty="0">
                <a:latin typeface="Trebuchet MS"/>
                <a:cs typeface="Trebuchet MS"/>
              </a:rPr>
              <a:t>likelihood</a:t>
            </a:r>
            <a:r>
              <a:rPr sz="2100" spc="-1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expensive</a:t>
            </a:r>
            <a:r>
              <a:rPr sz="2100" spc="-19" dirty="0">
                <a:latin typeface="Trebuchet MS"/>
                <a:cs typeface="Trebuchet MS"/>
              </a:rPr>
              <a:t> </a:t>
            </a:r>
            <a:r>
              <a:rPr sz="2100" spc="53" dirty="0">
                <a:latin typeface="Trebuchet MS"/>
                <a:cs typeface="Trebuchet MS"/>
              </a:rPr>
              <a:t>when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dimension</a:t>
            </a:r>
            <a:r>
              <a:rPr sz="2100" spc="-1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1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large.</a:t>
            </a:r>
            <a:endParaRPr sz="2100">
              <a:latin typeface="Trebuchet MS"/>
              <a:cs typeface="Trebuchet MS"/>
            </a:endParaRPr>
          </a:p>
          <a:p>
            <a:pPr marL="541973" lvl="1" indent="-170497">
              <a:spcBef>
                <a:spcPts val="945"/>
              </a:spcBef>
              <a:buFont typeface="Carlito"/>
              <a:buChar char="–"/>
              <a:tabLst>
                <a:tab pos="541973" algn="l"/>
              </a:tabLst>
            </a:pPr>
            <a:r>
              <a:rPr sz="2700" baseline="1157" dirty="0">
                <a:latin typeface="Trebuchet MS"/>
                <a:cs typeface="Trebuchet MS"/>
              </a:rPr>
              <a:t>The</a:t>
            </a:r>
            <a:r>
              <a:rPr sz="2700" spc="-78" baseline="1157" dirty="0">
                <a:latin typeface="Trebuchet MS"/>
                <a:cs typeface="Trebuchet MS"/>
              </a:rPr>
              <a:t> </a:t>
            </a:r>
            <a:r>
              <a:rPr sz="2700" spc="-23" baseline="1157" dirty="0">
                <a:latin typeface="Trebuchet MS"/>
                <a:cs typeface="Trebuchet MS"/>
              </a:rPr>
              <a:t>Jacobian</a:t>
            </a:r>
            <a:r>
              <a:rPr sz="2700" spc="-73" baseline="1157" dirty="0">
                <a:latin typeface="Trebuchet MS"/>
                <a:cs typeface="Trebuchet MS"/>
              </a:rPr>
              <a:t> </a:t>
            </a:r>
            <a:r>
              <a:rPr sz="2700" spc="-11" baseline="1157" dirty="0">
                <a:latin typeface="Trebuchet MS"/>
                <a:cs typeface="Trebuchet MS"/>
              </a:rPr>
              <a:t>of</a:t>
            </a:r>
            <a:r>
              <a:rPr sz="2700" spc="-146" baseline="1157" dirty="0">
                <a:latin typeface="Trebuchet MS"/>
                <a:cs typeface="Trebuchet MS"/>
              </a:rPr>
              <a:t> </a:t>
            </a:r>
            <a:r>
              <a:rPr sz="2700" i="1" baseline="3472" dirty="0">
                <a:latin typeface="Go Smallcaps"/>
                <a:cs typeface="Go Smallcaps"/>
              </a:rPr>
              <a:t>f</a:t>
            </a:r>
            <a:r>
              <a:rPr sz="2700" i="1" spc="203" baseline="3472" dirty="0">
                <a:latin typeface="Go Smallcaps"/>
                <a:cs typeface="Go Smallcaps"/>
              </a:rPr>
              <a:t> </a:t>
            </a:r>
            <a:r>
              <a:rPr sz="2700" baseline="1157" dirty="0">
                <a:latin typeface="Trebuchet MS"/>
                <a:cs typeface="Trebuchet MS"/>
              </a:rPr>
              <a:t>is</a:t>
            </a:r>
            <a:r>
              <a:rPr sz="2700" spc="-62" baseline="1157" dirty="0">
                <a:latin typeface="Trebuchet MS"/>
                <a:cs typeface="Trebuchet MS"/>
              </a:rPr>
              <a:t> </a:t>
            </a:r>
            <a:r>
              <a:rPr sz="1988" i="1" spc="-60" dirty="0">
                <a:latin typeface="Klaudia"/>
                <a:cs typeface="Klaudia"/>
              </a:rPr>
              <a:t>A</a:t>
            </a:r>
            <a:r>
              <a:rPr sz="2081" i="1" spc="-90" baseline="33033" dirty="0">
                <a:latin typeface="Arial"/>
                <a:cs typeface="Arial"/>
              </a:rPr>
              <a:t>—</a:t>
            </a:r>
            <a:r>
              <a:rPr sz="2081" spc="-56" baseline="33033" dirty="0">
                <a:latin typeface="Akkadian"/>
                <a:cs typeface="Akkadian"/>
              </a:rPr>
              <a:t>1</a:t>
            </a:r>
            <a:endParaRPr sz="2081" baseline="33033">
              <a:latin typeface="Akkadian"/>
              <a:cs typeface="Akkadian"/>
            </a:endParaRPr>
          </a:p>
          <a:p>
            <a:pPr marL="541973" lvl="1" indent="-170497">
              <a:spcBef>
                <a:spcPts val="60"/>
              </a:spcBef>
              <a:buFont typeface="Carlito"/>
              <a:buChar char="–"/>
              <a:tabLst>
                <a:tab pos="541973" algn="l"/>
              </a:tabLst>
            </a:pPr>
            <a:r>
              <a:rPr sz="2700" spc="101" baseline="1157" dirty="0">
                <a:latin typeface="Trebuchet MS"/>
                <a:cs typeface="Trebuchet MS"/>
              </a:rPr>
              <a:t>Log</a:t>
            </a:r>
            <a:r>
              <a:rPr sz="2700" spc="-134" baseline="1157" dirty="0">
                <a:latin typeface="Trebuchet MS"/>
                <a:cs typeface="Trebuchet MS"/>
              </a:rPr>
              <a:t> </a:t>
            </a:r>
            <a:r>
              <a:rPr sz="2700" spc="-62" baseline="1157" dirty="0">
                <a:latin typeface="Trebuchet MS"/>
                <a:cs typeface="Trebuchet MS"/>
              </a:rPr>
              <a:t>likelihood</a:t>
            </a:r>
            <a:r>
              <a:rPr sz="2700" spc="-134" baseline="1157" dirty="0">
                <a:latin typeface="Trebuchet MS"/>
                <a:cs typeface="Trebuchet MS"/>
              </a:rPr>
              <a:t> </a:t>
            </a:r>
            <a:r>
              <a:rPr sz="2700" baseline="1157" dirty="0">
                <a:latin typeface="Trebuchet MS"/>
                <a:cs typeface="Trebuchet MS"/>
              </a:rPr>
              <a:t>involves</a:t>
            </a:r>
            <a:r>
              <a:rPr sz="2700" spc="-134" baseline="1157" dirty="0">
                <a:latin typeface="Trebuchet MS"/>
                <a:cs typeface="Trebuchet MS"/>
              </a:rPr>
              <a:t> </a:t>
            </a:r>
            <a:r>
              <a:rPr sz="2700" spc="-45" baseline="1157" dirty="0">
                <a:latin typeface="Trebuchet MS"/>
                <a:cs typeface="Trebuchet MS"/>
              </a:rPr>
              <a:t>calculating</a:t>
            </a:r>
            <a:r>
              <a:rPr sz="2700" spc="5" baseline="1157" dirty="0">
                <a:latin typeface="Trebuchet MS"/>
                <a:cs typeface="Trebuchet MS"/>
              </a:rPr>
              <a:t> </a:t>
            </a:r>
            <a:r>
              <a:rPr sz="1988" spc="-8" dirty="0">
                <a:latin typeface="LM Roman 10"/>
                <a:cs typeface="LM Roman 10"/>
              </a:rPr>
              <a:t>det(</a:t>
            </a:r>
            <a:r>
              <a:rPr sz="1988" i="1" spc="-8" dirty="0">
                <a:latin typeface="Klaudia"/>
                <a:cs typeface="Klaudia"/>
              </a:rPr>
              <a:t>A</a:t>
            </a:r>
            <a:r>
              <a:rPr sz="1988" spc="-8" dirty="0">
                <a:latin typeface="LM Roman 10"/>
                <a:cs typeface="LM Roman 10"/>
              </a:rPr>
              <a:t>)</a:t>
            </a:r>
            <a:endParaRPr sz="1988">
              <a:latin typeface="LM Roman 10"/>
              <a:cs typeface="LM Roman 1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4481" y="2306013"/>
            <a:ext cx="1939290" cy="34968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8575">
              <a:spcBef>
                <a:spcPts val="71"/>
              </a:spcBef>
            </a:pPr>
            <a:r>
              <a:rPr sz="2213" i="1" spc="153" dirty="0">
                <a:latin typeface="Georgia"/>
                <a:cs typeface="Georgia"/>
              </a:rPr>
              <a:t>x</a:t>
            </a:r>
            <a:r>
              <a:rPr sz="2213" i="1" spc="94" dirty="0">
                <a:latin typeface="Georgia"/>
                <a:cs typeface="Georgia"/>
              </a:rPr>
              <a:t> </a:t>
            </a:r>
            <a:r>
              <a:rPr sz="2213" i="1" spc="-135" dirty="0">
                <a:latin typeface="DejaVu Sans"/>
                <a:cs typeface="DejaVu Sans"/>
              </a:rPr>
              <a:t>⇠</a:t>
            </a:r>
            <a:r>
              <a:rPr sz="2213" i="1" spc="-71" dirty="0">
                <a:latin typeface="DejaVu Sans"/>
                <a:cs typeface="DejaVu Sans"/>
              </a:rPr>
              <a:t> </a:t>
            </a:r>
            <a:r>
              <a:rPr sz="2213" i="1" spc="165" dirty="0">
                <a:latin typeface="DejaVu Sans"/>
                <a:cs typeface="DejaVu Sans"/>
              </a:rPr>
              <a:t>N</a:t>
            </a:r>
            <a:r>
              <a:rPr sz="2213" i="1" spc="-371" dirty="0">
                <a:latin typeface="DejaVu Sans"/>
                <a:cs typeface="DejaVu Sans"/>
              </a:rPr>
              <a:t> </a:t>
            </a:r>
            <a:r>
              <a:rPr sz="2213" spc="-98" dirty="0">
                <a:latin typeface="BPG DejaVu Sans 2011 GNU-GPL"/>
                <a:cs typeface="BPG DejaVu Sans 2011 GNU-GPL"/>
              </a:rPr>
              <a:t>(</a:t>
            </a:r>
            <a:r>
              <a:rPr sz="2213" i="1" spc="-98" dirty="0">
                <a:latin typeface="Georgia"/>
                <a:cs typeface="Georgia"/>
              </a:rPr>
              <a:t>b,</a:t>
            </a:r>
            <a:r>
              <a:rPr sz="2213" i="1" spc="-153" dirty="0">
                <a:latin typeface="Georgia"/>
                <a:cs typeface="Georgia"/>
              </a:rPr>
              <a:t> </a:t>
            </a:r>
            <a:r>
              <a:rPr sz="2213" i="1" spc="165" dirty="0">
                <a:latin typeface="Georgia"/>
                <a:cs typeface="Georgia"/>
              </a:rPr>
              <a:t>AA</a:t>
            </a:r>
            <a:r>
              <a:rPr sz="2306" i="1" spc="248" baseline="32520" dirty="0">
                <a:latin typeface="Asea"/>
                <a:cs typeface="Asea"/>
              </a:rPr>
              <a:t>T</a:t>
            </a:r>
            <a:r>
              <a:rPr sz="2306" i="1" spc="-45" baseline="32520" dirty="0">
                <a:latin typeface="Asea"/>
                <a:cs typeface="Asea"/>
              </a:rPr>
              <a:t> </a:t>
            </a:r>
            <a:r>
              <a:rPr sz="2213" spc="-38" dirty="0">
                <a:latin typeface="BPG DejaVu Sans 2011 GNU-GPL"/>
                <a:cs typeface="BPG DejaVu Sans 2011 GNU-GPL"/>
              </a:rPr>
              <a:t>)</a:t>
            </a:r>
            <a:endParaRPr sz="2213">
              <a:latin typeface="BPG DejaVu Sans 2011 GNU-GPL"/>
              <a:cs typeface="BPG DejaVu Sans 2011 GNU-GP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34" dirty="0" err="1"/>
              <a:t>Elementwise</a:t>
            </a:r>
            <a:r>
              <a:rPr lang="en-IN" spc="-56" dirty="0"/>
              <a:t> </a:t>
            </a:r>
            <a:r>
              <a:rPr lang="en-IN" spc="34" dirty="0"/>
              <a:t>flows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47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667758"/>
            <a:ext cx="8082387" cy="1151917"/>
          </a:xfrm>
          <a:prstGeom prst="rect">
            <a:avLst/>
          </a:prstGeom>
        </p:spPr>
        <p:txBody>
          <a:bodyPr vert="horz" wrap="square" lIns="0" tIns="48577" rIns="0" bIns="0" rtlCol="0">
            <a:spAutoFit/>
          </a:bodyPr>
          <a:lstStyle/>
          <a:p>
            <a:pPr marL="180499" indent="-170974">
              <a:spcBef>
                <a:spcPts val="382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41" dirty="0">
                <a:latin typeface="Trebuchet MS"/>
                <a:cs typeface="Trebuchet MS"/>
              </a:rPr>
              <a:t>Lots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freedom</a:t>
            </a:r>
            <a:r>
              <a:rPr sz="2100" spc="-68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in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elementwise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flow</a:t>
            </a:r>
            <a:endParaRPr sz="2100" dirty="0">
              <a:latin typeface="Trebuchet MS"/>
              <a:cs typeface="Trebuchet MS"/>
            </a:endParaRPr>
          </a:p>
          <a:p>
            <a:pPr marL="352425">
              <a:spcBef>
                <a:spcPts val="263"/>
              </a:spcBef>
            </a:pPr>
            <a:r>
              <a:rPr dirty="0">
                <a:latin typeface="Carlito"/>
                <a:cs typeface="Carlito"/>
              </a:rPr>
              <a:t>–</a:t>
            </a:r>
            <a:r>
              <a:rPr spc="45" dirty="0">
                <a:latin typeface="Carlito"/>
                <a:cs typeface="Carlito"/>
              </a:rPr>
              <a:t> </a:t>
            </a:r>
            <a:r>
              <a:rPr dirty="0">
                <a:latin typeface="Trebuchet MS"/>
                <a:cs typeface="Trebuchet MS"/>
              </a:rPr>
              <a:t>Can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60" dirty="0">
                <a:latin typeface="Trebuchet MS"/>
                <a:cs typeface="Trebuchet MS"/>
              </a:rPr>
              <a:t>use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elementwise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affine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functions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or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116" dirty="0">
                <a:latin typeface="Trebuchet MS"/>
                <a:cs typeface="Trebuchet MS"/>
              </a:rPr>
              <a:t>CDF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flows.</a:t>
            </a:r>
            <a:endParaRPr dirty="0">
              <a:latin typeface="Trebuchet MS"/>
              <a:cs typeface="Trebuchet MS"/>
            </a:endParaRPr>
          </a:p>
          <a:p>
            <a:pPr marL="180499" indent="-170974">
              <a:spcBef>
                <a:spcPts val="1140"/>
              </a:spcBef>
              <a:buFont typeface="Arial"/>
              <a:buChar char="•"/>
              <a:tabLst>
                <a:tab pos="180499" algn="l"/>
              </a:tabLst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Jacobian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56" dirty="0">
                <a:latin typeface="Trebuchet MS"/>
                <a:cs typeface="Trebuchet MS"/>
              </a:rPr>
              <a:t>diagonal,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116" dirty="0">
                <a:latin typeface="Trebuchet MS"/>
                <a:cs typeface="Trebuchet MS"/>
              </a:rPr>
              <a:t>so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the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determinant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41" dirty="0">
                <a:latin typeface="Trebuchet MS"/>
                <a:cs typeface="Trebuchet MS"/>
              </a:rPr>
              <a:t>easy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evaluate.</a:t>
            </a:r>
            <a:endParaRPr sz="21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167530"/>
            <a:ext cx="6311646" cy="3977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9800" y="2922140"/>
            <a:ext cx="4599432" cy="177622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3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3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249D48A-441F-4417-86DC-FFB6DC7EC3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NICE</a:t>
            </a:r>
            <a:r>
              <a:rPr lang="en-IN" spc="-30" dirty="0"/>
              <a:t> </a:t>
            </a:r>
            <a:r>
              <a:rPr lang="en-IN" dirty="0"/>
              <a:t>-</a:t>
            </a:r>
            <a:r>
              <a:rPr lang="en-IN" spc="-30" dirty="0"/>
              <a:t> </a:t>
            </a:r>
            <a:r>
              <a:rPr lang="en-IN" spc="-15" dirty="0"/>
              <a:t>Additive</a:t>
            </a:r>
            <a:r>
              <a:rPr lang="en-IN" spc="-30" dirty="0"/>
              <a:t> </a:t>
            </a:r>
            <a:r>
              <a:rPr lang="en-IN" spc="-52" dirty="0"/>
              <a:t>coupling</a:t>
            </a:r>
            <a:r>
              <a:rPr lang="en-IN" spc="-30" dirty="0"/>
              <a:t> </a:t>
            </a:r>
            <a:r>
              <a:rPr lang="en-IN" spc="-82" dirty="0"/>
              <a:t>layers</a:t>
            </a:r>
            <a:endParaRPr lang="en-IN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36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9600" y="1069624"/>
            <a:ext cx="8160041" cy="2727252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342374" marR="133067" indent="-285750">
              <a:lnSpc>
                <a:spcPct val="102600"/>
              </a:lnSpc>
              <a:spcBef>
                <a:spcPts val="82"/>
              </a:spcBef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disjoint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subsets,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say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422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i="1" spc="-100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-334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+1:</a:t>
            </a:r>
            <a:r>
              <a:rPr i="1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i="1" spc="300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≤</a:t>
            </a:r>
            <a:r>
              <a:rPr spc="-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14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indent="-285750">
              <a:spcBef>
                <a:spcPts val="7"/>
              </a:spcBef>
              <a:buFont typeface="Arial" panose="020B0604020202020204" pitchFamily="34" charset="0"/>
              <a:buChar char="•"/>
            </a:pP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6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'→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65313" indent="-285750">
              <a:lnSpc>
                <a:spcPts val="1783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3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41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(identity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65313" indent="-285750">
              <a:lnSpc>
                <a:spcPts val="1776"/>
              </a:lnSpc>
              <a:buFont typeface="Arial" panose="020B0604020202020204" pitchFamily="34" charset="0"/>
              <a:buChar char="•"/>
            </a:pPr>
            <a:r>
              <a:rPr b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spc="-89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-29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+1:</a:t>
            </a:r>
            <a:r>
              <a:rPr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i="1" spc="29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="1" spc="-59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89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-29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+1:</a:t>
            </a:r>
            <a:r>
              <a:rPr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i="1" spc="178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l-GR" i="1" spc="-89" baseline="-11904" dirty="0"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el-GR" i="1" spc="-31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b="1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77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spc="-77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i="1" spc="-77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pc="-5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622513" lvl="1" indent="-285750">
              <a:buFont typeface="Arial" panose="020B0604020202020204" pitchFamily="34" charset="0"/>
              <a:buChar char="•"/>
            </a:pPr>
            <a:r>
              <a:rPr i="1" spc="-59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i="1" spc="-89" baseline="-11904" dirty="0" err="1"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i="1" spc="-31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9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(·)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  <a:r>
              <a:rPr lang="en-US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i="1" spc="-89" dirty="0"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el-GR" sz="1600" i="1" spc="-3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spc="-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15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units,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15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indent="-285750">
              <a:lnSpc>
                <a:spcPts val="1954"/>
              </a:lnSpc>
              <a:buFont typeface="Arial" panose="020B0604020202020204" pitchFamily="34" charset="0"/>
              <a:buChar char="•"/>
            </a:pPr>
            <a:r>
              <a:rPr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6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'→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65313" indent="-285750">
              <a:spcBef>
                <a:spcPts val="59"/>
              </a:spcBef>
              <a:buFont typeface="Arial" panose="020B0604020202020204" pitchFamily="34" charset="0"/>
              <a:buChar char="•"/>
            </a:pP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300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11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412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(identity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65313" indent="-285750">
              <a:spcBef>
                <a:spcPts val="215"/>
              </a:spcBef>
              <a:buFont typeface="Arial" panose="020B0604020202020204" pitchFamily="34" charset="0"/>
              <a:buChar char="•"/>
            </a:pPr>
            <a:r>
              <a:rPr lang="en-IN" b="1"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="1" spc="-89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59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-186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+1:</a:t>
            </a:r>
            <a:r>
              <a:rPr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i="1" spc="2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22"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spc="-89"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59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-186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+1:</a:t>
            </a:r>
            <a:r>
              <a:rPr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i="1" spc="16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9"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spc="-166"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i="1"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i="1" spc="-89" baseline="-11904" dirty="0"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el-GR" i="1" spc="-311" baseline="-119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2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7"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spc="-7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spc="-52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i="1" spc="-52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i="1" spc="-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11" baseline="83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baseline="8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indent="-285750">
              <a:spcBef>
                <a:spcPts val="7"/>
              </a:spcBef>
              <a:buFont typeface="Arial" panose="020B0604020202020204" pitchFamily="34" charset="0"/>
              <a:buChar char="•"/>
            </a:pP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Jacobian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1817" y="4333033"/>
            <a:ext cx="5230326" cy="571152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>
              <a:spcBef>
                <a:spcPts val="899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875"/>
            <a:r>
              <a:rPr lang="en-US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b="1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</a:t>
            </a:r>
            <a:r>
              <a:rPr b="1" spc="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preserving</a:t>
            </a:r>
            <a:r>
              <a:rPr b="1" spc="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  <a:r>
              <a:rPr b="1" spc="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determinant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AB674-AA99-4BFB-8E0E-B7A4DDF7A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767002"/>
            <a:ext cx="2214776" cy="9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37651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3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3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3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B99D3F5-1A9D-4428-9787-D7710242923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NICE - </a:t>
            </a:r>
            <a:r>
              <a:rPr lang="en-IN" spc="-52" dirty="0"/>
              <a:t>Rescaling</a:t>
            </a:r>
            <a:r>
              <a:rPr lang="en-IN" spc="-22" dirty="0"/>
              <a:t> </a:t>
            </a:r>
            <a:r>
              <a:rPr lang="en-IN" spc="-89" dirty="0"/>
              <a:t>layers</a:t>
            </a:r>
            <a:endParaRPr lang="en-IN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37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6172" y="1047750"/>
            <a:ext cx="7529628" cy="2077715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342374" marR="45299" indent="-285750">
              <a:spcBef>
                <a:spcPts val="82"/>
              </a:spcBef>
              <a:buFont typeface="Arial" panose="020B0604020202020204" pitchFamily="34" charset="0"/>
              <a:buChar char="•"/>
            </a:pP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Additive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coupling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layers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composed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arbitrary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partitions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marR="823882" indent="-285750">
              <a:buFont typeface="Arial" panose="020B0604020202020204" pitchFamily="34" charset="0"/>
              <a:buChar char="•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NICE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rescaling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</a:t>
            </a:r>
            <a:endParaRPr lang="en-US" spc="-5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marR="823882" indent="-285750">
              <a:buFont typeface="Arial" panose="020B0604020202020204" pitchFamily="34" charset="0"/>
              <a:buChar char="•"/>
            </a:pPr>
            <a:r>
              <a:rPr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6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'→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pc="-3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6624" marR="823882"/>
            <a:r>
              <a:rPr lang="en-IN"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i="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479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i="1" spc="-4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i="1" spc="-45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baseline="-1041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6624" marR="570961">
              <a:spcBef>
                <a:spcPts val="520"/>
              </a:spcBef>
            </a:pPr>
            <a:r>
              <a:rPr lang="en-US"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i="1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256" baseline="-1041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spc="14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i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</a:t>
            </a:r>
            <a:r>
              <a:rPr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i="1" spc="-2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dimension. </a:t>
            </a:r>
            <a:endParaRPr lang="en-US" spc="-7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marR="570961" indent="-285750">
              <a:spcBef>
                <a:spcPts val="520"/>
              </a:spcBef>
              <a:buFont typeface="Arial" panose="020B0604020202020204" pitchFamily="34" charset="0"/>
              <a:buChar char="•"/>
            </a:pPr>
            <a:r>
              <a:rPr spc="-11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6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'→</a:t>
            </a:r>
            <a:r>
              <a:rPr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8220" y="3120959"/>
            <a:ext cx="76445" cy="201105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sz="1189" i="1" spc="-74" dirty="0">
                <a:latin typeface="Arial"/>
                <a:cs typeface="Arial"/>
              </a:rPr>
              <a:t>i</a:t>
            </a:r>
            <a:endParaRPr sz="118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8694" y="3033322"/>
            <a:ext cx="407705" cy="268761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18875">
              <a:spcBef>
                <a:spcPts val="134"/>
              </a:spcBef>
            </a:pPr>
            <a:r>
              <a:rPr sz="1635" i="1" dirty="0">
                <a:latin typeface="Arial"/>
                <a:cs typeface="Arial"/>
              </a:rPr>
              <a:t>z</a:t>
            </a:r>
            <a:r>
              <a:rPr sz="1635" i="1" spc="357" dirty="0">
                <a:latin typeface="Arial"/>
                <a:cs typeface="Arial"/>
              </a:rPr>
              <a:t> </a:t>
            </a:r>
            <a:r>
              <a:rPr sz="1635" spc="-74" dirty="0">
                <a:latin typeface="Tahoma"/>
                <a:cs typeface="Tahoma"/>
              </a:rPr>
              <a:t>=</a:t>
            </a:r>
            <a:endParaRPr sz="1635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71917" y="2952750"/>
            <a:ext cx="133070" cy="268761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18875">
              <a:spcBef>
                <a:spcPts val="134"/>
              </a:spcBef>
            </a:pPr>
            <a:r>
              <a:rPr sz="1635" i="1" u="sng" spc="-7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endParaRPr sz="1635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3395" y="3054186"/>
            <a:ext cx="76445" cy="201105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sz="1189" i="1" u="sng" spc="-7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1189" u="sng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7970" y="3174565"/>
            <a:ext cx="230278" cy="268761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56624">
              <a:spcBef>
                <a:spcPts val="134"/>
              </a:spcBef>
            </a:pPr>
            <a:r>
              <a:rPr sz="1635" i="1" spc="-37" dirty="0">
                <a:latin typeface="Arial"/>
                <a:cs typeface="Arial"/>
              </a:rPr>
              <a:t>s</a:t>
            </a:r>
            <a:r>
              <a:rPr sz="1783" i="1" spc="-55" baseline="-10416" dirty="0">
                <a:latin typeface="Arial"/>
                <a:cs typeface="Arial"/>
              </a:rPr>
              <a:t>i</a:t>
            </a:r>
            <a:endParaRPr sz="1783" baseline="-10416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9292" y="3280832"/>
            <a:ext cx="3546656" cy="797709"/>
          </a:xfrm>
          <a:prstGeom prst="rect">
            <a:avLst/>
          </a:prstGeom>
        </p:spPr>
        <p:txBody>
          <a:bodyPr vert="horz" wrap="square" lIns="0" tIns="151946" rIns="0" bIns="0" rtlCol="0">
            <a:spAutoFit/>
          </a:bodyPr>
          <a:lstStyle/>
          <a:p>
            <a:pPr marL="304625" indent="-285750">
              <a:spcBef>
                <a:spcPts val="1196"/>
              </a:spcBef>
              <a:buFont typeface="Arial" panose="020B0604020202020204" pitchFamily="34" charset="0"/>
              <a:buChar char="•"/>
            </a:pPr>
            <a:r>
              <a:rPr sz="1635" spc="-37" dirty="0">
                <a:latin typeface="Tahoma"/>
                <a:cs typeface="Tahoma"/>
              </a:rPr>
              <a:t>Jacobian</a:t>
            </a:r>
            <a:r>
              <a:rPr sz="1635" spc="-67" dirty="0">
                <a:latin typeface="Tahoma"/>
                <a:cs typeface="Tahoma"/>
              </a:rPr>
              <a:t> </a:t>
            </a:r>
            <a:r>
              <a:rPr sz="1635" dirty="0">
                <a:latin typeface="Tahoma"/>
                <a:cs typeface="Tahoma"/>
              </a:rPr>
              <a:t>of</a:t>
            </a:r>
            <a:r>
              <a:rPr sz="1635" spc="-67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forward</a:t>
            </a:r>
            <a:r>
              <a:rPr sz="1635" spc="-52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mapping:</a:t>
            </a:r>
            <a:endParaRPr sz="1635" dirty="0">
              <a:latin typeface="Tahoma"/>
              <a:cs typeface="Tahoma"/>
            </a:endParaRPr>
          </a:p>
          <a:p>
            <a:pPr marR="7550" algn="r">
              <a:spcBef>
                <a:spcPts val="1055"/>
              </a:spcBef>
            </a:pPr>
            <a:r>
              <a:rPr sz="1635" i="1" dirty="0">
                <a:latin typeface="Arial"/>
                <a:cs typeface="Arial"/>
              </a:rPr>
              <a:t>J</a:t>
            </a:r>
            <a:r>
              <a:rPr sz="1635" i="1" spc="126" dirty="0">
                <a:latin typeface="Arial"/>
                <a:cs typeface="Arial"/>
              </a:rPr>
              <a:t> </a:t>
            </a:r>
            <a:r>
              <a:rPr sz="1635" dirty="0">
                <a:latin typeface="Tahoma"/>
                <a:cs typeface="Tahoma"/>
              </a:rPr>
              <a:t>=</a:t>
            </a:r>
            <a:r>
              <a:rPr sz="1635" spc="-59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diag(</a:t>
            </a:r>
            <a:r>
              <a:rPr sz="1635" b="1" spc="-15" dirty="0">
                <a:latin typeface="Gill Sans MT"/>
                <a:cs typeface="Gill Sans MT"/>
              </a:rPr>
              <a:t>s</a:t>
            </a:r>
            <a:r>
              <a:rPr sz="1635" spc="-15" dirty="0">
                <a:latin typeface="Tahoma"/>
                <a:cs typeface="Tahoma"/>
              </a:rPr>
              <a:t>)</a:t>
            </a:r>
            <a:endParaRPr sz="1635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8600" y="4047045"/>
            <a:ext cx="120801" cy="201105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sz="1189" i="1" spc="-74" dirty="0">
                <a:latin typeface="Arial"/>
                <a:cs typeface="Arial"/>
              </a:rPr>
              <a:t>n</a:t>
            </a:r>
            <a:endParaRPr sz="1189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2853" y="4137126"/>
            <a:ext cx="1249540" cy="324930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18875">
              <a:tabLst>
                <a:tab pos="1150415" algn="l"/>
              </a:tabLst>
            </a:pPr>
            <a:r>
              <a:rPr sz="1635" dirty="0">
                <a:latin typeface="Calibri"/>
                <a:cs typeface="Calibri"/>
              </a:rPr>
              <a:t>det</a:t>
            </a:r>
            <a:r>
              <a:rPr sz="1635" dirty="0">
                <a:latin typeface="Tahoma"/>
                <a:cs typeface="Tahoma"/>
              </a:rPr>
              <a:t>(</a:t>
            </a:r>
            <a:r>
              <a:rPr sz="1635" i="1" dirty="0">
                <a:latin typeface="Arial"/>
                <a:cs typeface="Arial"/>
              </a:rPr>
              <a:t>J</a:t>
            </a:r>
            <a:r>
              <a:rPr sz="1635" dirty="0">
                <a:latin typeface="Tahoma"/>
                <a:cs typeface="Tahoma"/>
              </a:rPr>
              <a:t>)</a:t>
            </a:r>
            <a:r>
              <a:rPr sz="1635" spc="15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=</a:t>
            </a:r>
            <a:r>
              <a:rPr lang="en-US" sz="1635" spc="-74" dirty="0">
                <a:latin typeface="Tahoma"/>
                <a:cs typeface="Tahoma"/>
              </a:rPr>
              <a:t> </a:t>
            </a:r>
            <a:r>
              <a:rPr lang="el-GR" sz="2000" dirty="0">
                <a:latin typeface="Tahoma"/>
                <a:cs typeface="Tahoma"/>
              </a:rPr>
              <a:t>π</a:t>
            </a:r>
            <a:r>
              <a:rPr lang="en-US" sz="2000" dirty="0">
                <a:latin typeface="Tahoma"/>
                <a:cs typeface="Tahoma"/>
              </a:rPr>
              <a:t> </a:t>
            </a:r>
            <a:r>
              <a:rPr sz="1635" i="1" spc="-111" dirty="0">
                <a:latin typeface="Arial"/>
                <a:cs typeface="Arial"/>
              </a:rPr>
              <a:t>s</a:t>
            </a:r>
            <a:endParaRPr sz="1635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90549" y="4434249"/>
            <a:ext cx="295397" cy="201105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sz="1189" i="1" dirty="0">
                <a:latin typeface="Arial"/>
                <a:cs typeface="Arial"/>
              </a:rPr>
              <a:t>i</a:t>
            </a:r>
            <a:r>
              <a:rPr sz="1189" i="1" spc="-178" dirty="0">
                <a:latin typeface="Arial"/>
                <a:cs typeface="Arial"/>
              </a:rPr>
              <a:t> </a:t>
            </a:r>
            <a:r>
              <a:rPr sz="1189" spc="-37" dirty="0">
                <a:latin typeface="Tahoma"/>
                <a:cs typeface="Tahoma"/>
              </a:rPr>
              <a:t>=1</a:t>
            </a:r>
            <a:endParaRPr sz="1189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75948" y="4327492"/>
            <a:ext cx="76445" cy="201105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>
              <a:spcBef>
                <a:spcPts val="141"/>
              </a:spcBef>
            </a:pPr>
            <a:r>
              <a:rPr sz="1189" i="1" spc="-74" dirty="0">
                <a:latin typeface="Arial"/>
                <a:cs typeface="Arial"/>
              </a:rPr>
              <a:t>i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037285"/>
      </p:ext>
    </p:extLst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4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5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6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87785" y="88993"/>
            <a:ext cx="3171982" cy="345947"/>
          </a:xfrm>
          <a:prstGeom prst="rect">
            <a:avLst/>
          </a:prstGeom>
        </p:spPr>
        <p:txBody>
          <a:bodyPr vert="horz" wrap="square" lIns="0" tIns="25482" rIns="0" bIns="0" rtlCol="0">
            <a:spAutoFit/>
          </a:bodyPr>
          <a:lstStyle/>
          <a:p>
            <a:pPr marL="18875">
              <a:spcBef>
                <a:spcPts val="201"/>
              </a:spcBef>
            </a:pPr>
            <a:r>
              <a:rPr sz="2081" spc="-82" dirty="0">
                <a:solidFill>
                  <a:srgbClr val="FFFFFF"/>
                </a:solidFill>
                <a:latin typeface="Tahoma"/>
                <a:cs typeface="Tahoma"/>
              </a:rPr>
              <a:t>Samples</a:t>
            </a:r>
            <a:r>
              <a:rPr sz="208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spc="-104" dirty="0">
                <a:solidFill>
                  <a:srgbClr val="FFFFFF"/>
                </a:solidFill>
                <a:latin typeface="Tahoma"/>
                <a:cs typeface="Tahoma"/>
              </a:rPr>
              <a:t>generated</a:t>
            </a:r>
            <a:r>
              <a:rPr sz="208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2081" spc="-2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spc="-30" dirty="0">
                <a:solidFill>
                  <a:srgbClr val="FFFFFF"/>
                </a:solidFill>
                <a:latin typeface="Tahoma"/>
                <a:cs typeface="Tahoma"/>
              </a:rPr>
              <a:t>NICE</a:t>
            </a:r>
            <a:endParaRPr sz="2081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5739" y="1279360"/>
            <a:ext cx="5225962" cy="275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0671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4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6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87785" y="88993"/>
            <a:ext cx="3171982" cy="345947"/>
          </a:xfrm>
          <a:prstGeom prst="rect">
            <a:avLst/>
          </a:prstGeom>
        </p:spPr>
        <p:txBody>
          <a:bodyPr vert="horz" wrap="square" lIns="0" tIns="25482" rIns="0" bIns="0" rtlCol="0">
            <a:spAutoFit/>
          </a:bodyPr>
          <a:lstStyle/>
          <a:p>
            <a:pPr marL="18875">
              <a:spcBef>
                <a:spcPts val="201"/>
              </a:spcBef>
            </a:pPr>
            <a:r>
              <a:rPr sz="2081" spc="-82" dirty="0">
                <a:solidFill>
                  <a:srgbClr val="FFFFFF"/>
                </a:solidFill>
                <a:latin typeface="Tahoma"/>
                <a:cs typeface="Tahoma"/>
              </a:rPr>
              <a:t>Samples</a:t>
            </a:r>
            <a:r>
              <a:rPr sz="208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spc="-104" dirty="0">
                <a:solidFill>
                  <a:srgbClr val="FFFFFF"/>
                </a:solidFill>
                <a:latin typeface="Tahoma"/>
                <a:cs typeface="Tahoma"/>
              </a:rPr>
              <a:t>generated</a:t>
            </a:r>
            <a:r>
              <a:rPr sz="208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2081" spc="-22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spc="-30" dirty="0">
                <a:solidFill>
                  <a:srgbClr val="FFFFFF"/>
                </a:solidFill>
                <a:latin typeface="Tahoma"/>
                <a:cs typeface="Tahoma"/>
              </a:rPr>
              <a:t>NICE</a:t>
            </a:r>
            <a:endParaRPr sz="2081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878" y="1260389"/>
            <a:ext cx="5161396" cy="272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47886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3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4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4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F35B04A-3F56-4848-9CD2-A38CB2718FD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5461" y="274059"/>
            <a:ext cx="6858000" cy="857250"/>
          </a:xfrm>
        </p:spPr>
        <p:txBody>
          <a:bodyPr>
            <a:normAutofit/>
          </a:bodyPr>
          <a:lstStyle/>
          <a:p>
            <a:r>
              <a:rPr lang="en-US" spc="-15" dirty="0"/>
              <a:t>Real-</a:t>
            </a:r>
            <a:r>
              <a:rPr lang="en-US" dirty="0"/>
              <a:t>NVP:</a:t>
            </a:r>
            <a:r>
              <a:rPr lang="en-US" spc="-52" dirty="0"/>
              <a:t> </a:t>
            </a:r>
            <a:r>
              <a:rPr lang="en-US" spc="-89" dirty="0"/>
              <a:t>Non-</a:t>
            </a:r>
            <a:r>
              <a:rPr lang="en-US" spc="-52" dirty="0"/>
              <a:t>volume </a:t>
            </a:r>
            <a:r>
              <a:rPr lang="en-US" spc="-89" dirty="0"/>
              <a:t>preserving</a:t>
            </a:r>
            <a:r>
              <a:rPr lang="en-US" spc="-52" dirty="0"/>
              <a:t> </a:t>
            </a:r>
            <a:r>
              <a:rPr lang="en-US" spc="-30" dirty="0"/>
              <a:t>NICE</a:t>
            </a:r>
            <a:endParaRPr lang="en-IN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idx="12"/>
          </p:nvPr>
        </p:nvSpPr>
        <p:spPr>
          <a:xfrm>
            <a:off x="5638800" y="4767263"/>
            <a:ext cx="2133600" cy="273844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40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507" y="1142430"/>
            <a:ext cx="96999" cy="9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183" y="1398208"/>
            <a:ext cx="78161" cy="781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183" y="1623861"/>
            <a:ext cx="78161" cy="781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4183" y="1849515"/>
            <a:ext cx="78161" cy="781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3507" y="2298915"/>
            <a:ext cx="96999" cy="96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4183" y="2554693"/>
            <a:ext cx="78161" cy="7816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4183" y="2780346"/>
            <a:ext cx="78161" cy="7816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89158" y="1090219"/>
            <a:ext cx="7973841" cy="2164614"/>
          </a:xfrm>
          <a:prstGeom prst="rect">
            <a:avLst/>
          </a:prstGeom>
        </p:spPr>
        <p:txBody>
          <a:bodyPr vert="horz" wrap="square" lIns="0" tIns="29257" rIns="0" bIns="0" rtlCol="0">
            <a:spAutoFit/>
          </a:bodyPr>
          <a:lstStyle/>
          <a:p>
            <a:pPr marL="56624">
              <a:spcBef>
                <a:spcPts val="230"/>
              </a:spcBef>
            </a:pPr>
            <a:r>
              <a:rPr sz="1486" spc="-59" dirty="0">
                <a:latin typeface="Tahoma"/>
                <a:cs typeface="Tahoma"/>
              </a:rPr>
              <a:t>Forward </a:t>
            </a:r>
            <a:r>
              <a:rPr sz="1486" spc="-45" dirty="0">
                <a:latin typeface="Tahoma"/>
                <a:cs typeface="Tahoma"/>
              </a:rPr>
              <a:t>mapping </a:t>
            </a:r>
            <a:r>
              <a:rPr sz="1486" b="1" dirty="0">
                <a:latin typeface="Gill Sans MT"/>
                <a:cs typeface="Gill Sans MT"/>
              </a:rPr>
              <a:t>z</a:t>
            </a:r>
            <a:r>
              <a:rPr sz="1486" b="1" spc="-52" dirty="0">
                <a:latin typeface="Gill Sans MT"/>
                <a:cs typeface="Gill Sans MT"/>
              </a:rPr>
              <a:t> </a:t>
            </a:r>
            <a:r>
              <a:rPr sz="1486" spc="-141" dirty="0">
                <a:latin typeface="Lucida Sans Unicode"/>
                <a:cs typeface="Lucida Sans Unicode"/>
              </a:rPr>
              <a:t>'→</a:t>
            </a:r>
            <a:r>
              <a:rPr sz="1486" spc="-59" dirty="0">
                <a:latin typeface="Lucida Sans Unicode"/>
                <a:cs typeface="Lucida Sans Unicode"/>
              </a:rPr>
              <a:t> </a:t>
            </a:r>
            <a:r>
              <a:rPr sz="1486" b="1" spc="-37" dirty="0">
                <a:latin typeface="Gill Sans MT"/>
                <a:cs typeface="Gill Sans MT"/>
              </a:rPr>
              <a:t>x</a:t>
            </a:r>
            <a:r>
              <a:rPr sz="1486" spc="-37" dirty="0">
                <a:latin typeface="Tahoma"/>
                <a:cs typeface="Tahoma"/>
              </a:rPr>
              <a:t>:</a:t>
            </a:r>
            <a:endParaRPr sz="1486" dirty="0">
              <a:latin typeface="Tahoma"/>
              <a:cs typeface="Tahoma"/>
            </a:endParaRPr>
          </a:p>
          <a:p>
            <a:pPr marL="468094">
              <a:lnSpc>
                <a:spcPts val="1783"/>
              </a:lnSpc>
              <a:spcBef>
                <a:spcPts val="82"/>
              </a:spcBef>
            </a:pPr>
            <a:r>
              <a:rPr sz="1486" b="1" dirty="0">
                <a:latin typeface="Gill Sans MT"/>
                <a:cs typeface="Gill Sans MT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1:</a:t>
            </a:r>
            <a:r>
              <a:rPr sz="1561" i="1" baseline="-11904" dirty="0">
                <a:latin typeface="Arial"/>
                <a:cs typeface="Arial"/>
              </a:rPr>
              <a:t>d</a:t>
            </a:r>
            <a:r>
              <a:rPr sz="1561" i="1" spc="300" baseline="-11904" dirty="0">
                <a:latin typeface="Arial"/>
                <a:cs typeface="Arial"/>
              </a:rPr>
              <a:t> </a:t>
            </a:r>
            <a:r>
              <a:rPr sz="1486" dirty="0">
                <a:latin typeface="Tahoma"/>
                <a:cs typeface="Tahoma"/>
              </a:rPr>
              <a:t>=</a:t>
            </a:r>
            <a:r>
              <a:rPr sz="1486" spc="-119" dirty="0">
                <a:latin typeface="Tahoma"/>
                <a:cs typeface="Tahoma"/>
              </a:rPr>
              <a:t> </a:t>
            </a:r>
            <a:r>
              <a:rPr sz="1486" b="1" dirty="0">
                <a:latin typeface="Gill Sans MT"/>
                <a:cs typeface="Gill Sans MT"/>
              </a:rPr>
              <a:t>z</a:t>
            </a:r>
            <a:r>
              <a:rPr sz="1561" baseline="-11904" dirty="0">
                <a:latin typeface="Tahoma"/>
                <a:cs typeface="Tahoma"/>
              </a:rPr>
              <a:t>1:</a:t>
            </a:r>
            <a:r>
              <a:rPr sz="1561" i="1" baseline="-11904" dirty="0">
                <a:latin typeface="Arial"/>
                <a:cs typeface="Arial"/>
              </a:rPr>
              <a:t>d</a:t>
            </a:r>
            <a:r>
              <a:rPr sz="1561" i="1" spc="412" baseline="-11904" dirty="0">
                <a:latin typeface="Arial"/>
                <a:cs typeface="Arial"/>
              </a:rPr>
              <a:t> </a:t>
            </a:r>
            <a:r>
              <a:rPr sz="1486" spc="-30" dirty="0">
                <a:latin typeface="Tahoma"/>
                <a:cs typeface="Tahoma"/>
              </a:rPr>
              <a:t>(identity</a:t>
            </a:r>
            <a:r>
              <a:rPr sz="1486" spc="-45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transformation)</a:t>
            </a:r>
            <a:endParaRPr sz="1486" dirty="0">
              <a:latin typeface="Tahoma"/>
              <a:cs typeface="Tahoma"/>
            </a:endParaRPr>
          </a:p>
          <a:p>
            <a:pPr marL="468094">
              <a:lnSpc>
                <a:spcPts val="1776"/>
              </a:lnSpc>
            </a:pPr>
            <a:r>
              <a:rPr sz="1486" b="1" spc="-59" dirty="0">
                <a:latin typeface="Gill Sans MT"/>
                <a:cs typeface="Gill Sans MT"/>
              </a:rPr>
              <a:t>x</a:t>
            </a:r>
            <a:r>
              <a:rPr sz="1561" i="1" spc="-89" baseline="-11904" dirty="0">
                <a:latin typeface="Arial"/>
                <a:cs typeface="Arial"/>
              </a:rPr>
              <a:t>d</a:t>
            </a:r>
            <a:r>
              <a:rPr sz="1561" i="1" spc="-278" baseline="-11904" dirty="0">
                <a:latin typeface="Arial"/>
                <a:cs typeface="Arial"/>
              </a:rPr>
              <a:t> </a:t>
            </a:r>
            <a:r>
              <a:rPr sz="1561" baseline="-11904" dirty="0">
                <a:latin typeface="Tahoma"/>
                <a:cs typeface="Tahoma"/>
              </a:rPr>
              <a:t>+1:</a:t>
            </a:r>
            <a:r>
              <a:rPr sz="1561" i="1" baseline="-11904" dirty="0">
                <a:latin typeface="Arial"/>
                <a:cs typeface="Arial"/>
              </a:rPr>
              <a:t>n</a:t>
            </a:r>
            <a:r>
              <a:rPr sz="1561" i="1" spc="422" baseline="-11904" dirty="0">
                <a:latin typeface="Arial"/>
                <a:cs typeface="Arial"/>
              </a:rPr>
              <a:t> </a:t>
            </a:r>
            <a:r>
              <a:rPr sz="1486" dirty="0">
                <a:latin typeface="Tahoma"/>
                <a:cs typeface="Tahoma"/>
              </a:rPr>
              <a:t>= </a:t>
            </a:r>
            <a:r>
              <a:rPr sz="1486" b="1" spc="-59" dirty="0">
                <a:latin typeface="Gill Sans MT"/>
                <a:cs typeface="Gill Sans MT"/>
              </a:rPr>
              <a:t>z</a:t>
            </a:r>
            <a:r>
              <a:rPr sz="1561" i="1" spc="-89" baseline="-11904" dirty="0">
                <a:latin typeface="Arial"/>
                <a:cs typeface="Arial"/>
              </a:rPr>
              <a:t>d</a:t>
            </a:r>
            <a:r>
              <a:rPr sz="1561" i="1" spc="-266" baseline="-11904" dirty="0">
                <a:latin typeface="Arial"/>
                <a:cs typeface="Arial"/>
              </a:rPr>
              <a:t> </a:t>
            </a:r>
            <a:r>
              <a:rPr sz="1561" baseline="-11904" dirty="0">
                <a:latin typeface="Tahoma"/>
                <a:cs typeface="Tahoma"/>
              </a:rPr>
              <a:t>+1:</a:t>
            </a:r>
            <a:r>
              <a:rPr sz="1561" i="1" baseline="-11904" dirty="0">
                <a:latin typeface="Arial"/>
                <a:cs typeface="Arial"/>
              </a:rPr>
              <a:t>n</a:t>
            </a:r>
            <a:r>
              <a:rPr sz="1561" i="1" spc="278" baseline="-11904" dirty="0">
                <a:latin typeface="Arial"/>
                <a:cs typeface="Arial"/>
              </a:rPr>
              <a:t> </a:t>
            </a:r>
            <a:r>
              <a:rPr sz="1486" spc="-59" dirty="0">
                <a:latin typeface="Lucida Sans Unicode"/>
                <a:cs typeface="Lucida Sans Unicode"/>
              </a:rPr>
              <a:t>⊙</a:t>
            </a:r>
            <a:r>
              <a:rPr sz="1486" spc="-104" dirty="0">
                <a:latin typeface="Lucida Sans Unicode"/>
                <a:cs typeface="Lucida Sans Unicode"/>
              </a:rPr>
              <a:t> </a:t>
            </a:r>
            <a:r>
              <a:rPr sz="1486" spc="-37" dirty="0">
                <a:latin typeface="Tahoma"/>
                <a:cs typeface="Tahoma"/>
              </a:rPr>
              <a:t>exp(</a:t>
            </a:r>
            <a:r>
              <a:rPr sz="1486" i="1" spc="-37" dirty="0">
                <a:latin typeface="Times New Roman"/>
                <a:cs typeface="Times New Roman"/>
              </a:rPr>
              <a:t>α</a:t>
            </a:r>
            <a:r>
              <a:rPr sz="1561" i="1" spc="-55" baseline="-11904" dirty="0">
                <a:latin typeface="Bookman Old Style"/>
                <a:cs typeface="Bookman Old Style"/>
              </a:rPr>
              <a:t>θ</a:t>
            </a:r>
            <a:r>
              <a:rPr sz="1561" i="1" spc="-290" baseline="-11904" dirty="0">
                <a:latin typeface="Bookman Old Style"/>
                <a:cs typeface="Bookman Old Style"/>
              </a:rPr>
              <a:t> </a:t>
            </a:r>
            <a:r>
              <a:rPr sz="1486" spc="-52" dirty="0">
                <a:latin typeface="Tahoma"/>
                <a:cs typeface="Tahoma"/>
              </a:rPr>
              <a:t>(</a:t>
            </a:r>
            <a:r>
              <a:rPr sz="1486" b="1" spc="-52" dirty="0">
                <a:latin typeface="Gill Sans MT"/>
                <a:cs typeface="Gill Sans MT"/>
              </a:rPr>
              <a:t>z</a:t>
            </a:r>
            <a:r>
              <a:rPr sz="1561" spc="-77" baseline="-11904" dirty="0">
                <a:latin typeface="Tahoma"/>
                <a:cs typeface="Tahoma"/>
              </a:rPr>
              <a:t>1:</a:t>
            </a:r>
            <a:r>
              <a:rPr sz="1561" i="1" spc="-77" baseline="-11904" dirty="0">
                <a:latin typeface="Arial"/>
                <a:cs typeface="Arial"/>
              </a:rPr>
              <a:t>d</a:t>
            </a:r>
            <a:r>
              <a:rPr sz="1561" i="1" spc="-144" baseline="-11904" dirty="0">
                <a:latin typeface="Arial"/>
                <a:cs typeface="Arial"/>
              </a:rPr>
              <a:t> </a:t>
            </a:r>
            <a:r>
              <a:rPr sz="1486" spc="-15" dirty="0">
                <a:latin typeface="Tahoma"/>
                <a:cs typeface="Tahoma"/>
              </a:rPr>
              <a:t>))</a:t>
            </a:r>
            <a:r>
              <a:rPr sz="1486" spc="-97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+</a:t>
            </a:r>
            <a:r>
              <a:rPr sz="1486" spc="-97" dirty="0">
                <a:latin typeface="Tahoma"/>
                <a:cs typeface="Tahoma"/>
              </a:rPr>
              <a:t> </a:t>
            </a:r>
            <a:r>
              <a:rPr sz="1486" i="1" spc="-15" dirty="0">
                <a:latin typeface="Times New Roman"/>
                <a:cs typeface="Times New Roman"/>
              </a:rPr>
              <a:t>µ</a:t>
            </a:r>
            <a:r>
              <a:rPr sz="1561" i="1" spc="-22" baseline="-11904" dirty="0">
                <a:latin typeface="Bookman Old Style"/>
                <a:cs typeface="Bookman Old Style"/>
              </a:rPr>
              <a:t>θ</a:t>
            </a:r>
            <a:r>
              <a:rPr sz="1561" i="1" spc="-300" baseline="-11904" dirty="0">
                <a:latin typeface="Bookman Old Style"/>
                <a:cs typeface="Bookman Old Style"/>
              </a:rPr>
              <a:t> </a:t>
            </a:r>
            <a:r>
              <a:rPr sz="1486" spc="-52" dirty="0">
                <a:latin typeface="Tahoma"/>
                <a:cs typeface="Tahoma"/>
              </a:rPr>
              <a:t>(</a:t>
            </a:r>
            <a:r>
              <a:rPr sz="1486" b="1" spc="-52" dirty="0">
                <a:latin typeface="Gill Sans MT"/>
                <a:cs typeface="Gill Sans MT"/>
              </a:rPr>
              <a:t>z</a:t>
            </a:r>
            <a:r>
              <a:rPr sz="1561" spc="-77" baseline="-11904" dirty="0">
                <a:latin typeface="Tahoma"/>
                <a:cs typeface="Tahoma"/>
              </a:rPr>
              <a:t>1:</a:t>
            </a:r>
            <a:r>
              <a:rPr sz="1561" i="1" spc="-77" baseline="-11904" dirty="0">
                <a:latin typeface="Arial"/>
                <a:cs typeface="Arial"/>
              </a:rPr>
              <a:t>d</a:t>
            </a:r>
            <a:r>
              <a:rPr sz="1561" i="1" spc="-132" baseline="-11904" dirty="0">
                <a:latin typeface="Arial"/>
                <a:cs typeface="Arial"/>
              </a:rPr>
              <a:t> </a:t>
            </a:r>
            <a:r>
              <a:rPr sz="1486" spc="-74" dirty="0">
                <a:latin typeface="Tahoma"/>
                <a:cs typeface="Tahoma"/>
              </a:rPr>
              <a:t>)</a:t>
            </a:r>
            <a:endParaRPr sz="1486" dirty="0">
              <a:latin typeface="Tahoma"/>
              <a:cs typeface="Tahoma"/>
            </a:endParaRPr>
          </a:p>
          <a:p>
            <a:pPr marL="468094" marR="45299">
              <a:lnSpc>
                <a:spcPts val="1783"/>
              </a:lnSpc>
              <a:spcBef>
                <a:spcPts val="59"/>
              </a:spcBef>
            </a:pPr>
            <a:r>
              <a:rPr sz="1486" i="1" spc="-15" dirty="0">
                <a:latin typeface="Times New Roman"/>
                <a:cs typeface="Times New Roman"/>
              </a:rPr>
              <a:t>µ</a:t>
            </a:r>
            <a:r>
              <a:rPr sz="1561" i="1" spc="-22" baseline="-11904" dirty="0">
                <a:latin typeface="Bookman Old Style"/>
                <a:cs typeface="Bookman Old Style"/>
              </a:rPr>
              <a:t>θ</a:t>
            </a:r>
            <a:r>
              <a:rPr sz="1561" i="1" spc="-311" baseline="-11904" dirty="0">
                <a:latin typeface="Bookman Old Style"/>
                <a:cs typeface="Bookman Old Style"/>
              </a:rPr>
              <a:t> </a:t>
            </a:r>
            <a:r>
              <a:rPr sz="1486" spc="-193" dirty="0">
                <a:latin typeface="Tahoma"/>
                <a:cs typeface="Tahoma"/>
              </a:rPr>
              <a:t>(</a:t>
            </a:r>
            <a:r>
              <a:rPr sz="1486" spc="-193" dirty="0">
                <a:latin typeface="Lucida Sans Unicode"/>
                <a:cs typeface="Lucida Sans Unicode"/>
              </a:rPr>
              <a:t>·</a:t>
            </a:r>
            <a:r>
              <a:rPr sz="1486" spc="-193" dirty="0">
                <a:latin typeface="Tahoma"/>
                <a:cs typeface="Tahoma"/>
              </a:rPr>
              <a:t>)</a:t>
            </a:r>
            <a:r>
              <a:rPr sz="1486" spc="30" dirty="0">
                <a:latin typeface="Tahoma"/>
                <a:cs typeface="Tahoma"/>
              </a:rPr>
              <a:t> </a:t>
            </a:r>
            <a:r>
              <a:rPr sz="1486" spc="-37" dirty="0">
                <a:latin typeface="Tahoma"/>
                <a:cs typeface="Tahoma"/>
              </a:rPr>
              <a:t>and</a:t>
            </a:r>
            <a:r>
              <a:rPr sz="1486" spc="-82" dirty="0">
                <a:latin typeface="Tahoma"/>
                <a:cs typeface="Tahoma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α</a:t>
            </a:r>
            <a:r>
              <a:rPr sz="1561" i="1" baseline="-11904" dirty="0">
                <a:latin typeface="Bookman Old Style"/>
                <a:cs typeface="Bookman Old Style"/>
              </a:rPr>
              <a:t>θ</a:t>
            </a:r>
            <a:r>
              <a:rPr sz="1561" i="1" spc="-311" baseline="-11904" dirty="0">
                <a:latin typeface="Bookman Old Style"/>
                <a:cs typeface="Bookman Old Style"/>
              </a:rPr>
              <a:t> </a:t>
            </a:r>
            <a:r>
              <a:rPr sz="1486" spc="-193" dirty="0">
                <a:latin typeface="Tahoma"/>
                <a:cs typeface="Tahoma"/>
              </a:rPr>
              <a:t>(</a:t>
            </a:r>
            <a:r>
              <a:rPr sz="1486" spc="-193" dirty="0">
                <a:latin typeface="Lucida Sans Unicode"/>
                <a:cs typeface="Lucida Sans Unicode"/>
              </a:rPr>
              <a:t>·</a:t>
            </a:r>
            <a:r>
              <a:rPr sz="1486" spc="-193" dirty="0">
                <a:latin typeface="Tahoma"/>
                <a:cs typeface="Tahoma"/>
              </a:rPr>
              <a:t>)</a:t>
            </a:r>
            <a:r>
              <a:rPr sz="1486" spc="30" dirty="0">
                <a:latin typeface="Tahoma"/>
                <a:cs typeface="Tahoma"/>
              </a:rPr>
              <a:t> </a:t>
            </a:r>
            <a:r>
              <a:rPr sz="1486" spc="-74" dirty="0">
                <a:latin typeface="Tahoma"/>
                <a:cs typeface="Tahoma"/>
              </a:rPr>
              <a:t>are</a:t>
            </a:r>
            <a:r>
              <a:rPr sz="1486" spc="-37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both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spc="-52" dirty="0">
                <a:latin typeface="Tahoma"/>
                <a:cs typeface="Tahoma"/>
              </a:rPr>
              <a:t>neural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spc="-74" dirty="0">
                <a:latin typeface="Tahoma"/>
                <a:cs typeface="Tahoma"/>
              </a:rPr>
              <a:t>networks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with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spc="-67" dirty="0">
                <a:latin typeface="Tahoma"/>
                <a:cs typeface="Tahoma"/>
              </a:rPr>
              <a:t>parameters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i="1" dirty="0">
                <a:latin typeface="Times New Roman"/>
                <a:cs typeface="Times New Roman"/>
              </a:rPr>
              <a:t>θ</a:t>
            </a:r>
            <a:r>
              <a:rPr sz="1486" dirty="0">
                <a:latin typeface="Tahoma"/>
                <a:cs typeface="Tahoma"/>
              </a:rPr>
              <a:t>,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i="1" dirty="0">
                <a:latin typeface="Arial"/>
                <a:cs typeface="Arial"/>
              </a:rPr>
              <a:t>d</a:t>
            </a:r>
            <a:r>
              <a:rPr sz="1486" i="1" spc="163" dirty="0">
                <a:latin typeface="Arial"/>
                <a:cs typeface="Arial"/>
              </a:rPr>
              <a:t> </a:t>
            </a:r>
            <a:r>
              <a:rPr sz="1486" spc="-15" dirty="0">
                <a:latin typeface="Tahoma"/>
                <a:cs typeface="Tahoma"/>
              </a:rPr>
              <a:t>input </a:t>
            </a:r>
            <a:r>
              <a:rPr sz="1486" spc="-30" dirty="0">
                <a:latin typeface="Tahoma"/>
                <a:cs typeface="Tahoma"/>
              </a:rPr>
              <a:t>units,</a:t>
            </a:r>
            <a:r>
              <a:rPr sz="1486" spc="-82" dirty="0">
                <a:latin typeface="Tahoma"/>
                <a:cs typeface="Tahoma"/>
              </a:rPr>
              <a:t> </a:t>
            </a:r>
            <a:r>
              <a:rPr sz="1486" spc="-52" dirty="0">
                <a:latin typeface="Tahoma"/>
                <a:cs typeface="Tahoma"/>
              </a:rPr>
              <a:t>and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i="1" spc="-59" dirty="0">
                <a:latin typeface="Arial"/>
                <a:cs typeface="Arial"/>
              </a:rPr>
              <a:t>n </a:t>
            </a:r>
            <a:r>
              <a:rPr sz="1486" spc="-59" dirty="0">
                <a:latin typeface="Lucida Sans Unicode"/>
                <a:cs typeface="Lucida Sans Unicode"/>
              </a:rPr>
              <a:t>−</a:t>
            </a:r>
            <a:r>
              <a:rPr sz="1486" spc="-141" dirty="0">
                <a:latin typeface="Lucida Sans Unicode"/>
                <a:cs typeface="Lucida Sans Unicode"/>
              </a:rPr>
              <a:t> </a:t>
            </a:r>
            <a:r>
              <a:rPr sz="1486" i="1" dirty="0">
                <a:latin typeface="Arial"/>
                <a:cs typeface="Arial"/>
              </a:rPr>
              <a:t>d</a:t>
            </a:r>
            <a:r>
              <a:rPr sz="1486" i="1" spc="156" dirty="0">
                <a:latin typeface="Arial"/>
                <a:cs typeface="Arial"/>
              </a:rPr>
              <a:t> </a:t>
            </a:r>
            <a:r>
              <a:rPr sz="1486" spc="-30" dirty="0">
                <a:latin typeface="Tahoma"/>
                <a:cs typeface="Tahoma"/>
              </a:rPr>
              <a:t>output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30" dirty="0">
                <a:latin typeface="Tahoma"/>
                <a:cs typeface="Tahoma"/>
              </a:rPr>
              <a:t>units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spc="-67" dirty="0">
                <a:latin typeface="Tahoma"/>
                <a:cs typeface="Tahoma"/>
              </a:rPr>
              <a:t>[</a:t>
            </a:r>
            <a:r>
              <a:rPr sz="1486" spc="-67" dirty="0">
                <a:latin typeface="Lucida Sans Unicode"/>
                <a:cs typeface="Lucida Sans Unicode"/>
              </a:rPr>
              <a:t>⊙</a:t>
            </a:r>
            <a:r>
              <a:rPr sz="1486" spc="-22" dirty="0">
                <a:latin typeface="Lucida Sans Unicode"/>
                <a:cs typeface="Lucida Sans Unicode"/>
              </a:rPr>
              <a:t> </a:t>
            </a:r>
            <a:r>
              <a:rPr sz="1486" spc="-67" dirty="0">
                <a:latin typeface="Tahoma"/>
                <a:cs typeface="Tahoma"/>
              </a:rPr>
              <a:t>denotes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74" dirty="0">
                <a:latin typeface="Tahoma"/>
                <a:cs typeface="Tahoma"/>
              </a:rPr>
              <a:t>elementwise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product]</a:t>
            </a:r>
            <a:endParaRPr sz="1486" dirty="0">
              <a:latin typeface="Tahoma"/>
              <a:cs typeface="Tahoma"/>
            </a:endParaRPr>
          </a:p>
          <a:p>
            <a:pPr marL="56624">
              <a:spcBef>
                <a:spcPts val="59"/>
              </a:spcBef>
            </a:pPr>
            <a:r>
              <a:rPr sz="1486" spc="-104" dirty="0">
                <a:latin typeface="Tahoma"/>
                <a:cs typeface="Tahoma"/>
              </a:rPr>
              <a:t>Inverse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spc="-45" dirty="0">
                <a:latin typeface="Tahoma"/>
                <a:cs typeface="Tahoma"/>
              </a:rPr>
              <a:t>mapping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b="1" dirty="0">
                <a:latin typeface="Gill Sans MT"/>
                <a:cs typeface="Gill Sans MT"/>
              </a:rPr>
              <a:t>x</a:t>
            </a:r>
            <a:r>
              <a:rPr sz="1486" b="1" spc="-30" dirty="0">
                <a:latin typeface="Gill Sans MT"/>
                <a:cs typeface="Gill Sans MT"/>
              </a:rPr>
              <a:t> </a:t>
            </a:r>
            <a:r>
              <a:rPr sz="1486" spc="-141" dirty="0">
                <a:latin typeface="Lucida Sans Unicode"/>
                <a:cs typeface="Lucida Sans Unicode"/>
              </a:rPr>
              <a:t>'→</a:t>
            </a:r>
            <a:r>
              <a:rPr sz="1486" spc="-59" dirty="0">
                <a:latin typeface="Lucida Sans Unicode"/>
                <a:cs typeface="Lucida Sans Unicode"/>
              </a:rPr>
              <a:t> </a:t>
            </a:r>
            <a:r>
              <a:rPr sz="1486" b="1" spc="-37" dirty="0">
                <a:latin typeface="Gill Sans MT"/>
                <a:cs typeface="Gill Sans MT"/>
              </a:rPr>
              <a:t>z</a:t>
            </a:r>
            <a:r>
              <a:rPr sz="1486" spc="-37" dirty="0">
                <a:latin typeface="Tahoma"/>
                <a:cs typeface="Tahoma"/>
              </a:rPr>
              <a:t>:</a:t>
            </a:r>
            <a:endParaRPr sz="1486" dirty="0">
              <a:latin typeface="Tahoma"/>
              <a:cs typeface="Tahoma"/>
            </a:endParaRPr>
          </a:p>
          <a:p>
            <a:pPr marL="468094">
              <a:lnSpc>
                <a:spcPts val="1783"/>
              </a:lnSpc>
              <a:spcBef>
                <a:spcPts val="82"/>
              </a:spcBef>
            </a:pPr>
            <a:r>
              <a:rPr sz="1486" b="1" dirty="0">
                <a:latin typeface="Gill Sans MT"/>
                <a:cs typeface="Gill Sans MT"/>
              </a:rPr>
              <a:t>z</a:t>
            </a:r>
            <a:r>
              <a:rPr sz="1561" baseline="-11904" dirty="0">
                <a:latin typeface="Tahoma"/>
                <a:cs typeface="Tahoma"/>
              </a:rPr>
              <a:t>1:</a:t>
            </a:r>
            <a:r>
              <a:rPr sz="1561" i="1" baseline="-11904" dirty="0">
                <a:latin typeface="Arial"/>
                <a:cs typeface="Arial"/>
              </a:rPr>
              <a:t>d</a:t>
            </a:r>
            <a:r>
              <a:rPr sz="1561" i="1" spc="300" baseline="-11904" dirty="0">
                <a:latin typeface="Arial"/>
                <a:cs typeface="Arial"/>
              </a:rPr>
              <a:t> </a:t>
            </a:r>
            <a:r>
              <a:rPr sz="1486" dirty="0">
                <a:latin typeface="Tahoma"/>
                <a:cs typeface="Tahoma"/>
              </a:rPr>
              <a:t>=</a:t>
            </a:r>
            <a:r>
              <a:rPr sz="1486" spc="-119" dirty="0">
                <a:latin typeface="Tahoma"/>
                <a:cs typeface="Tahoma"/>
              </a:rPr>
              <a:t> </a:t>
            </a:r>
            <a:r>
              <a:rPr sz="1486" b="1" dirty="0">
                <a:latin typeface="Gill Sans MT"/>
                <a:cs typeface="Gill Sans MT"/>
              </a:rPr>
              <a:t>x</a:t>
            </a:r>
            <a:r>
              <a:rPr sz="1561" baseline="-11904" dirty="0">
                <a:latin typeface="Tahoma"/>
                <a:cs typeface="Tahoma"/>
              </a:rPr>
              <a:t>1:</a:t>
            </a:r>
            <a:r>
              <a:rPr sz="1561" i="1" baseline="-11904" dirty="0">
                <a:latin typeface="Arial"/>
                <a:cs typeface="Arial"/>
              </a:rPr>
              <a:t>d</a:t>
            </a:r>
            <a:r>
              <a:rPr sz="1561" i="1" spc="412" baseline="-11904" dirty="0">
                <a:latin typeface="Arial"/>
                <a:cs typeface="Arial"/>
              </a:rPr>
              <a:t> </a:t>
            </a:r>
            <a:r>
              <a:rPr sz="1486" spc="-30" dirty="0">
                <a:latin typeface="Tahoma"/>
                <a:cs typeface="Tahoma"/>
              </a:rPr>
              <a:t>(identity</a:t>
            </a:r>
            <a:r>
              <a:rPr sz="1486" spc="-45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transformation)</a:t>
            </a:r>
            <a:endParaRPr sz="1486" dirty="0">
              <a:latin typeface="Tahoma"/>
              <a:cs typeface="Tahoma"/>
            </a:endParaRPr>
          </a:p>
          <a:p>
            <a:pPr marL="468094">
              <a:lnSpc>
                <a:spcPts val="1783"/>
              </a:lnSpc>
            </a:pPr>
            <a:r>
              <a:rPr sz="1486" b="1" spc="-59" dirty="0">
                <a:latin typeface="Gill Sans MT"/>
                <a:cs typeface="Gill Sans MT"/>
              </a:rPr>
              <a:t>z</a:t>
            </a:r>
            <a:r>
              <a:rPr sz="1561" i="1" spc="-89" baseline="-11904" dirty="0">
                <a:latin typeface="Arial"/>
                <a:cs typeface="Arial"/>
              </a:rPr>
              <a:t>d</a:t>
            </a:r>
            <a:r>
              <a:rPr sz="1561" i="1" spc="-278" baseline="-11904" dirty="0">
                <a:latin typeface="Arial"/>
                <a:cs typeface="Arial"/>
              </a:rPr>
              <a:t> </a:t>
            </a:r>
            <a:r>
              <a:rPr sz="1561" baseline="-11904" dirty="0">
                <a:latin typeface="Tahoma"/>
                <a:cs typeface="Tahoma"/>
              </a:rPr>
              <a:t>+1:</a:t>
            </a:r>
            <a:r>
              <a:rPr sz="1561" i="1" baseline="-11904" dirty="0">
                <a:latin typeface="Arial"/>
                <a:cs typeface="Arial"/>
              </a:rPr>
              <a:t>n</a:t>
            </a:r>
            <a:r>
              <a:rPr sz="1561" i="1" spc="422" baseline="-11904" dirty="0">
                <a:latin typeface="Arial"/>
                <a:cs typeface="Arial"/>
              </a:rPr>
              <a:t> </a:t>
            </a:r>
            <a:r>
              <a:rPr sz="1486" dirty="0">
                <a:latin typeface="Tahoma"/>
                <a:cs typeface="Tahoma"/>
              </a:rPr>
              <a:t>= </a:t>
            </a:r>
            <a:r>
              <a:rPr sz="1486" spc="-45" dirty="0">
                <a:latin typeface="Tahoma"/>
                <a:cs typeface="Tahoma"/>
              </a:rPr>
              <a:t>(</a:t>
            </a:r>
            <a:r>
              <a:rPr sz="1486" b="1" spc="-45" dirty="0">
                <a:latin typeface="Gill Sans MT"/>
                <a:cs typeface="Gill Sans MT"/>
              </a:rPr>
              <a:t>x</a:t>
            </a:r>
            <a:r>
              <a:rPr sz="1561" i="1" spc="-65" baseline="-11904" dirty="0">
                <a:latin typeface="Arial"/>
                <a:cs typeface="Arial"/>
              </a:rPr>
              <a:t>d</a:t>
            </a:r>
            <a:r>
              <a:rPr sz="1561" i="1" spc="-266" baseline="-11904" dirty="0">
                <a:latin typeface="Arial"/>
                <a:cs typeface="Arial"/>
              </a:rPr>
              <a:t> </a:t>
            </a:r>
            <a:r>
              <a:rPr sz="1561" baseline="-11904" dirty="0">
                <a:latin typeface="Tahoma"/>
                <a:cs typeface="Tahoma"/>
              </a:rPr>
              <a:t>+1:</a:t>
            </a:r>
            <a:r>
              <a:rPr sz="1561" i="1" baseline="-11904" dirty="0">
                <a:latin typeface="Arial"/>
                <a:cs typeface="Arial"/>
              </a:rPr>
              <a:t>n</a:t>
            </a:r>
            <a:r>
              <a:rPr sz="1561" i="1" spc="266" baseline="-11904" dirty="0">
                <a:latin typeface="Arial"/>
                <a:cs typeface="Arial"/>
              </a:rPr>
              <a:t> </a:t>
            </a:r>
            <a:r>
              <a:rPr sz="1486" spc="-59" dirty="0">
                <a:latin typeface="Lucida Sans Unicode"/>
                <a:cs typeface="Lucida Sans Unicode"/>
              </a:rPr>
              <a:t>−</a:t>
            </a:r>
            <a:r>
              <a:rPr sz="1486" spc="-97" dirty="0">
                <a:latin typeface="Lucida Sans Unicode"/>
                <a:cs typeface="Lucida Sans Unicode"/>
              </a:rPr>
              <a:t> </a:t>
            </a:r>
            <a:r>
              <a:rPr sz="1486" i="1" spc="-15" dirty="0">
                <a:latin typeface="Times New Roman"/>
                <a:cs typeface="Times New Roman"/>
              </a:rPr>
              <a:t>µ</a:t>
            </a:r>
            <a:r>
              <a:rPr sz="1561" i="1" spc="-22" baseline="-11904" dirty="0">
                <a:latin typeface="Bookman Old Style"/>
                <a:cs typeface="Bookman Old Style"/>
              </a:rPr>
              <a:t>θ</a:t>
            </a:r>
            <a:r>
              <a:rPr sz="1561" i="1" spc="-290" baseline="-11904" dirty="0">
                <a:latin typeface="Bookman Old Style"/>
                <a:cs typeface="Bookman Old Style"/>
              </a:rPr>
              <a:t> </a:t>
            </a:r>
            <a:r>
              <a:rPr sz="1486" spc="-52" dirty="0">
                <a:latin typeface="Tahoma"/>
                <a:cs typeface="Tahoma"/>
              </a:rPr>
              <a:t>(</a:t>
            </a:r>
            <a:r>
              <a:rPr sz="1486" b="1" spc="-52" dirty="0">
                <a:latin typeface="Gill Sans MT"/>
                <a:cs typeface="Gill Sans MT"/>
              </a:rPr>
              <a:t>x</a:t>
            </a:r>
            <a:r>
              <a:rPr sz="1561" spc="-77" baseline="-11904" dirty="0">
                <a:latin typeface="Tahoma"/>
                <a:cs typeface="Tahoma"/>
              </a:rPr>
              <a:t>1:</a:t>
            </a:r>
            <a:r>
              <a:rPr sz="1561" i="1" spc="-77" baseline="-11904" dirty="0">
                <a:latin typeface="Arial"/>
                <a:cs typeface="Arial"/>
              </a:rPr>
              <a:t>d</a:t>
            </a:r>
            <a:r>
              <a:rPr sz="1561" i="1" spc="-144" baseline="-11904" dirty="0">
                <a:latin typeface="Arial"/>
                <a:cs typeface="Arial"/>
              </a:rPr>
              <a:t> </a:t>
            </a:r>
            <a:r>
              <a:rPr sz="1486" spc="-15" dirty="0">
                <a:latin typeface="Tahoma"/>
                <a:cs typeface="Tahoma"/>
              </a:rPr>
              <a:t>))</a:t>
            </a:r>
            <a:r>
              <a:rPr sz="1486" spc="-104" dirty="0">
                <a:latin typeface="Tahoma"/>
                <a:cs typeface="Tahoma"/>
              </a:rPr>
              <a:t> </a:t>
            </a:r>
            <a:r>
              <a:rPr sz="1486" spc="-59" dirty="0">
                <a:latin typeface="Lucida Sans Unicode"/>
                <a:cs typeface="Lucida Sans Unicode"/>
              </a:rPr>
              <a:t>⊙</a:t>
            </a:r>
            <a:r>
              <a:rPr sz="1486" spc="-97" dirty="0">
                <a:latin typeface="Lucida Sans Unicode"/>
                <a:cs typeface="Lucida Sans Unicode"/>
              </a:rPr>
              <a:t> </a:t>
            </a:r>
            <a:r>
              <a:rPr sz="1486" spc="-37" dirty="0">
                <a:latin typeface="Tahoma"/>
                <a:cs typeface="Tahoma"/>
              </a:rPr>
              <a:t>(exp(</a:t>
            </a:r>
            <a:r>
              <a:rPr sz="1486" spc="-37" dirty="0">
                <a:latin typeface="Lucida Sans Unicode"/>
                <a:cs typeface="Lucida Sans Unicode"/>
              </a:rPr>
              <a:t>−</a:t>
            </a:r>
            <a:r>
              <a:rPr sz="1486" i="1" spc="-37" dirty="0">
                <a:latin typeface="Times New Roman"/>
                <a:cs typeface="Times New Roman"/>
              </a:rPr>
              <a:t>α</a:t>
            </a:r>
            <a:r>
              <a:rPr sz="1561" i="1" spc="-55" baseline="-11904" dirty="0">
                <a:latin typeface="Bookman Old Style"/>
                <a:cs typeface="Bookman Old Style"/>
              </a:rPr>
              <a:t>θ</a:t>
            </a:r>
            <a:r>
              <a:rPr sz="1561" i="1" spc="-290" baseline="-11904" dirty="0">
                <a:latin typeface="Bookman Old Style"/>
                <a:cs typeface="Bookman Old Style"/>
              </a:rPr>
              <a:t> </a:t>
            </a:r>
            <a:r>
              <a:rPr sz="1486" spc="-52" dirty="0">
                <a:latin typeface="Tahoma"/>
                <a:cs typeface="Tahoma"/>
              </a:rPr>
              <a:t>(</a:t>
            </a:r>
            <a:r>
              <a:rPr sz="1486" b="1" spc="-52" dirty="0">
                <a:latin typeface="Gill Sans MT"/>
                <a:cs typeface="Gill Sans MT"/>
              </a:rPr>
              <a:t>x</a:t>
            </a:r>
            <a:r>
              <a:rPr sz="1561" spc="-77" baseline="-11904" dirty="0">
                <a:latin typeface="Tahoma"/>
                <a:cs typeface="Tahoma"/>
              </a:rPr>
              <a:t>1:</a:t>
            </a:r>
            <a:r>
              <a:rPr sz="1561" i="1" spc="-77" baseline="-11904" dirty="0">
                <a:latin typeface="Arial"/>
                <a:cs typeface="Arial"/>
              </a:rPr>
              <a:t>d</a:t>
            </a:r>
            <a:r>
              <a:rPr sz="1561" i="1" spc="-144" baseline="-11904" dirty="0">
                <a:latin typeface="Arial"/>
                <a:cs typeface="Arial"/>
              </a:rPr>
              <a:t> </a:t>
            </a:r>
            <a:r>
              <a:rPr sz="1486" spc="-37" dirty="0">
                <a:latin typeface="Tahoma"/>
                <a:cs typeface="Tahoma"/>
              </a:rPr>
              <a:t>)))</a:t>
            </a:r>
            <a:endParaRPr sz="1486" dirty="0">
              <a:latin typeface="Tahoma"/>
              <a:cs typeface="Tahoma"/>
            </a:endParaRPr>
          </a:p>
          <a:p>
            <a:pPr marL="56624">
              <a:spcBef>
                <a:spcPts val="126"/>
              </a:spcBef>
            </a:pPr>
            <a:r>
              <a:rPr sz="1486" spc="-30" dirty="0">
                <a:latin typeface="Tahoma"/>
                <a:cs typeface="Tahoma"/>
              </a:rPr>
              <a:t>Jacobian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dirty="0">
                <a:latin typeface="Tahoma"/>
                <a:cs typeface="Tahoma"/>
              </a:rPr>
              <a:t>of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spc="-74" dirty="0">
                <a:latin typeface="Tahoma"/>
                <a:cs typeface="Tahoma"/>
              </a:rPr>
              <a:t>forward</a:t>
            </a:r>
            <a:r>
              <a:rPr sz="1486" spc="-7" dirty="0">
                <a:latin typeface="Tahoma"/>
                <a:cs typeface="Tahoma"/>
              </a:rPr>
              <a:t> </a:t>
            </a:r>
            <a:r>
              <a:rPr sz="1486" spc="-15" dirty="0">
                <a:latin typeface="Tahoma"/>
                <a:cs typeface="Tahoma"/>
              </a:rPr>
              <a:t>mapping:</a:t>
            </a:r>
            <a:endParaRPr sz="1486" dirty="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3507" y="3070139"/>
            <a:ext cx="96999" cy="969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78083" y="4417742"/>
            <a:ext cx="7732517" cy="246758"/>
          </a:xfrm>
          <a:prstGeom prst="rect">
            <a:avLst/>
          </a:prstGeom>
        </p:spPr>
        <p:txBody>
          <a:bodyPr vert="horz" wrap="square" lIns="0" tIns="17931" rIns="0" bIns="0" rtlCol="0">
            <a:spAutoFit/>
          </a:bodyPr>
          <a:lstStyle/>
          <a:p>
            <a:pPr marL="18875" marR="7550"/>
            <a:r>
              <a:rPr sz="1486" b="1" spc="-74" dirty="0">
                <a:latin typeface="Gill Sans MT"/>
                <a:cs typeface="Gill Sans MT"/>
              </a:rPr>
              <a:t>Non-</a:t>
            </a:r>
            <a:r>
              <a:rPr sz="1486" b="1" spc="-37" dirty="0">
                <a:latin typeface="Gill Sans MT"/>
                <a:cs typeface="Gill Sans MT"/>
              </a:rPr>
              <a:t>volume</a:t>
            </a:r>
            <a:r>
              <a:rPr sz="1486" b="1" spc="67" dirty="0">
                <a:latin typeface="Gill Sans MT"/>
                <a:cs typeface="Gill Sans MT"/>
              </a:rPr>
              <a:t> </a:t>
            </a:r>
            <a:r>
              <a:rPr sz="1486" b="1" spc="-45" dirty="0">
                <a:latin typeface="Gill Sans MT"/>
                <a:cs typeface="Gill Sans MT"/>
              </a:rPr>
              <a:t>preserving</a:t>
            </a:r>
            <a:r>
              <a:rPr sz="1486" b="1" spc="74" dirty="0">
                <a:latin typeface="Gill Sans MT"/>
                <a:cs typeface="Gill Sans MT"/>
              </a:rPr>
              <a:t> </a:t>
            </a:r>
            <a:r>
              <a:rPr sz="1486" b="1" spc="-52" dirty="0">
                <a:latin typeface="Gill Sans MT"/>
                <a:cs typeface="Gill Sans MT"/>
              </a:rPr>
              <a:t>transformation</a:t>
            </a:r>
            <a:r>
              <a:rPr sz="1486" b="1" spc="45" dirty="0">
                <a:latin typeface="Gill Sans MT"/>
                <a:cs typeface="Gill Sans MT"/>
              </a:rPr>
              <a:t> </a:t>
            </a:r>
            <a:r>
              <a:rPr sz="1486" dirty="0">
                <a:latin typeface="Tahoma"/>
                <a:cs typeface="Tahoma"/>
              </a:rPr>
              <a:t>in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59" dirty="0">
                <a:latin typeface="Tahoma"/>
                <a:cs typeface="Tahoma"/>
              </a:rPr>
              <a:t>general</a:t>
            </a:r>
            <a:r>
              <a:rPr sz="1486" spc="-15" dirty="0">
                <a:latin typeface="Tahoma"/>
                <a:cs typeface="Tahoma"/>
              </a:rPr>
              <a:t> </a:t>
            </a:r>
            <a:r>
              <a:rPr sz="1486" spc="-52" dirty="0">
                <a:latin typeface="Tahoma"/>
                <a:cs typeface="Tahoma"/>
              </a:rPr>
              <a:t>since</a:t>
            </a:r>
            <a:r>
              <a:rPr sz="1486" spc="-30" dirty="0">
                <a:latin typeface="Tahoma"/>
                <a:cs typeface="Tahoma"/>
              </a:rPr>
              <a:t> </a:t>
            </a:r>
            <a:r>
              <a:rPr sz="1486" spc="-52" dirty="0">
                <a:latin typeface="Tahoma"/>
                <a:cs typeface="Tahoma"/>
              </a:rPr>
              <a:t>determinant</a:t>
            </a:r>
            <a:r>
              <a:rPr sz="1486" spc="-22" dirty="0">
                <a:latin typeface="Tahoma"/>
                <a:cs typeface="Tahoma"/>
              </a:rPr>
              <a:t> </a:t>
            </a:r>
            <a:r>
              <a:rPr sz="1486" spc="-37" dirty="0">
                <a:latin typeface="Tahoma"/>
                <a:cs typeface="Tahoma"/>
              </a:rPr>
              <a:t>can </a:t>
            </a:r>
            <a:r>
              <a:rPr sz="1486" spc="-15" dirty="0">
                <a:latin typeface="Tahoma"/>
                <a:cs typeface="Tahoma"/>
              </a:rPr>
              <a:t>be</a:t>
            </a:r>
            <a:r>
              <a:rPr sz="1486" spc="-74" dirty="0">
                <a:latin typeface="Tahoma"/>
                <a:cs typeface="Tahoma"/>
              </a:rPr>
              <a:t> </a:t>
            </a:r>
            <a:r>
              <a:rPr lang="en-US" sz="1486" spc="-67" dirty="0">
                <a:latin typeface="Tahoma"/>
                <a:cs typeface="Tahoma"/>
              </a:rPr>
              <a:t>&lt;</a:t>
            </a:r>
            <a:r>
              <a:rPr sz="1486" spc="-52" dirty="0">
                <a:latin typeface="Tahoma"/>
                <a:cs typeface="Tahoma"/>
              </a:rPr>
              <a:t> </a:t>
            </a:r>
            <a:r>
              <a:rPr lang="en-US" sz="1486" spc="-15" dirty="0">
                <a:latin typeface="Tahoma"/>
                <a:cs typeface="Tahoma"/>
              </a:rPr>
              <a:t>&gt;</a:t>
            </a:r>
            <a:r>
              <a:rPr sz="1486" spc="-59" dirty="0">
                <a:latin typeface="Tahoma"/>
                <a:cs typeface="Tahoma"/>
              </a:rPr>
              <a:t> </a:t>
            </a:r>
            <a:r>
              <a:rPr sz="1486" spc="-74" dirty="0">
                <a:latin typeface="Tahoma"/>
                <a:cs typeface="Tahoma"/>
              </a:rPr>
              <a:t>1</a:t>
            </a:r>
            <a:endParaRPr sz="1486" dirty="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9512" y="4511765"/>
            <a:ext cx="96999" cy="96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FC0130-4769-4476-9BD9-A4AB64B973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8401" y="3287590"/>
            <a:ext cx="3581400" cy="120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58797"/>
      </p:ext>
    </p:extLst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ABC3DA-E0B8-4CBF-BCF2-C3466C7D1E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 err="1"/>
              <a:t>RealNVP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4413" y="1056010"/>
            <a:ext cx="4742180" cy="8826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Calibri"/>
                <a:cs typeface="Calibri"/>
              </a:rPr>
              <a:t>Affine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coupling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layer</a:t>
            </a:r>
            <a:endParaRPr sz="2400" dirty="0">
              <a:latin typeface="Calibri"/>
              <a:cs typeface="Calibri"/>
            </a:endParaRPr>
          </a:p>
          <a:p>
            <a:pPr marL="494665" indent="-338455">
              <a:lnSpc>
                <a:spcPct val="100000"/>
              </a:lnSpc>
              <a:spcBef>
                <a:spcPts val="495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494665" algn="l"/>
              </a:tabLst>
            </a:pPr>
            <a:r>
              <a:rPr sz="2400" dirty="0">
                <a:latin typeface="Calibri"/>
                <a:cs typeface="Calibri"/>
              </a:rPr>
              <a:t>Split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half: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baseline="-31250" dirty="0">
                <a:latin typeface="Calibri"/>
                <a:cs typeface="Calibri"/>
              </a:rPr>
              <a:t>1:d/2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x</a:t>
            </a:r>
            <a:r>
              <a:rPr sz="2400" spc="-15" baseline="-31250" dirty="0">
                <a:latin typeface="Calibri"/>
                <a:cs typeface="Calibri"/>
              </a:rPr>
              <a:t>d/2+1:d</a:t>
            </a:r>
            <a:endParaRPr sz="2400" baseline="-312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625" y="3261995"/>
            <a:ext cx="7546975" cy="10623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6555" marR="30480" indent="-339090">
              <a:lnSpc>
                <a:spcPct val="100499"/>
              </a:lnSpc>
              <a:spcBef>
                <a:spcPts val="85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76555" algn="l"/>
              </a:tabLst>
            </a:pPr>
            <a:r>
              <a:rPr sz="2400" spc="-10" dirty="0">
                <a:latin typeface="Calibri"/>
                <a:cs typeface="Calibri"/>
              </a:rPr>
              <a:t>Invertible!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baseline="-31250" dirty="0">
                <a:latin typeface="Arial"/>
                <a:cs typeface="Arial"/>
              </a:rPr>
              <a:t>θ</a:t>
            </a:r>
            <a:r>
              <a:rPr sz="2400" spc="75" baseline="-3125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baseline="-31250" dirty="0">
                <a:latin typeface="Arial"/>
                <a:cs typeface="Arial"/>
              </a:rPr>
              <a:t>θ</a:t>
            </a:r>
            <a:r>
              <a:rPr sz="2400" spc="67" baseline="-31250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arbitrary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nets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restrictions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833755" lvl="1" indent="-312420">
              <a:lnSpc>
                <a:spcPts val="2385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33755" algn="l"/>
              </a:tabLst>
            </a:pPr>
            <a:r>
              <a:rPr sz="2000" dirty="0">
                <a:latin typeface="Calibri"/>
                <a:cs typeface="Calibri"/>
              </a:rPr>
              <a:t>Think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data-</a:t>
            </a:r>
            <a:r>
              <a:rPr sz="2000" b="1" spc="-20" dirty="0">
                <a:latin typeface="Calibri"/>
                <a:cs typeface="Calibri"/>
              </a:rPr>
              <a:t>parameterized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elementwise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flows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216" y="2285189"/>
            <a:ext cx="4469140" cy="6373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B6DB7B-1037-4730-92A1-C5BA7BCBDB96}"/>
              </a:ext>
            </a:extLst>
          </p:cNvPr>
          <p:cNvSpPr/>
          <p:nvPr/>
        </p:nvSpPr>
        <p:spPr>
          <a:xfrm>
            <a:off x="3614057" y="4385325"/>
            <a:ext cx="5105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hlinkClick r:id="rId4"/>
              </a:rPr>
              <a:t>http://www0.cs.ucl.ac.uk/staff/A.Sztrajman/webpage/blog/rnvp/rnvp.html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00758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5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49" dirty="0"/>
              <a:t>NICE/</a:t>
            </a:r>
            <a:r>
              <a:rPr lang="en-IN" spc="-49" dirty="0" err="1"/>
              <a:t>RealNVP</a:t>
            </a:r>
            <a:endParaRPr lang="en-IN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49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3" y="1010792"/>
            <a:ext cx="530637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spcBef>
                <a:spcPts val="75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-45" dirty="0">
                <a:latin typeface="Trebuchet MS"/>
                <a:cs typeface="Trebuchet MS"/>
              </a:rPr>
              <a:t>It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also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49" dirty="0">
                <a:latin typeface="Trebuchet MS"/>
                <a:cs typeface="Trebuchet MS"/>
              </a:rPr>
              <a:t>has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79" dirty="0">
                <a:latin typeface="Trebuchet MS"/>
                <a:cs typeface="Trebuchet MS"/>
              </a:rPr>
              <a:t> tractable </a:t>
            </a:r>
            <a:r>
              <a:rPr sz="2100" spc="-19" dirty="0">
                <a:latin typeface="Trebuchet MS"/>
                <a:cs typeface="Trebuchet MS"/>
              </a:rPr>
              <a:t>Jacobian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determinant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3" y="3507104"/>
            <a:ext cx="8524875" cy="666689"/>
          </a:xfrm>
          <a:prstGeom prst="rect">
            <a:avLst/>
          </a:prstGeom>
        </p:spPr>
        <p:txBody>
          <a:bodyPr vert="horz" wrap="square" lIns="0" tIns="25241" rIns="0" bIns="0" rtlCol="0">
            <a:spAutoFit/>
          </a:bodyPr>
          <a:lstStyle/>
          <a:p>
            <a:pPr marL="180975" marR="3810" indent="-171450">
              <a:lnSpc>
                <a:spcPts val="2468"/>
              </a:lnSpc>
              <a:spcBef>
                <a:spcPts val="199"/>
              </a:spcBef>
              <a:buFont typeface="Arial"/>
              <a:buChar char="•"/>
              <a:tabLst>
                <a:tab pos="180975" algn="l"/>
              </a:tabLst>
            </a:pPr>
            <a:r>
              <a:rPr sz="2100" dirty="0">
                <a:latin typeface="Trebuchet MS"/>
                <a:cs typeface="Trebuchet MS"/>
              </a:rPr>
              <a:t>The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Jacobian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86" dirty="0">
                <a:latin typeface="Trebuchet MS"/>
                <a:cs typeface="Trebuchet MS"/>
              </a:rPr>
              <a:t>triangular,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116" dirty="0">
                <a:latin typeface="Trebuchet MS"/>
                <a:cs typeface="Trebuchet MS"/>
              </a:rPr>
              <a:t>so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its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determinant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the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26" dirty="0">
                <a:latin typeface="Trebuchet MS"/>
                <a:cs typeface="Trebuchet MS"/>
              </a:rPr>
              <a:t>product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diagonal entries.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5456" y="1513332"/>
            <a:ext cx="3643884" cy="5212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7742" y="2327148"/>
            <a:ext cx="3639311" cy="7795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76372" y="4137660"/>
            <a:ext cx="2699766" cy="7772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36942" y="1033273"/>
            <a:ext cx="1090422" cy="109270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60253" y="2193417"/>
            <a:ext cx="1444942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sz="1500" dirty="0">
                <a:latin typeface="Trebuchet MS"/>
                <a:cs typeface="Trebuchet MS"/>
              </a:rPr>
              <a:t>(Lower</a:t>
            </a:r>
            <a:r>
              <a:rPr sz="1500" spc="-53" dirty="0">
                <a:latin typeface="Trebuchet MS"/>
                <a:cs typeface="Trebuchet MS"/>
              </a:rPr>
              <a:t> </a:t>
            </a:r>
            <a:r>
              <a:rPr sz="1500" spc="-34" dirty="0">
                <a:latin typeface="Trebuchet MS"/>
                <a:cs typeface="Trebuchet MS"/>
              </a:rPr>
              <a:t>triangular</a:t>
            </a:r>
            <a:endParaRPr sz="1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500" spc="195" dirty="0">
                <a:latin typeface="Trebuchet MS"/>
                <a:cs typeface="Trebuchet MS"/>
              </a:rPr>
              <a:t>+</a:t>
            </a:r>
            <a:r>
              <a:rPr sz="1500" spc="-38" dirty="0">
                <a:latin typeface="Trebuchet MS"/>
                <a:cs typeface="Trebuchet MS"/>
              </a:rPr>
              <a:t> </a:t>
            </a:r>
            <a:r>
              <a:rPr sz="1500" spc="-8" dirty="0">
                <a:latin typeface="Trebuchet MS"/>
                <a:cs typeface="Trebuchet MS"/>
              </a:rPr>
              <a:t>structured)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87949" y="1065420"/>
            <a:ext cx="269304" cy="99726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>
              <a:lnSpc>
                <a:spcPts val="2123"/>
              </a:lnSpc>
            </a:pPr>
            <a:r>
              <a:rPr spc="56" dirty="0">
                <a:latin typeface="Trebuchet MS"/>
                <a:cs typeface="Trebuchet MS"/>
              </a:rPr>
              <a:t>Jacobian</a:t>
            </a:r>
            <a:endParaRPr>
              <a:latin typeface="Trebuchet MS"/>
              <a:cs typeface="Trebuchet MS"/>
            </a:endParaRPr>
          </a:p>
        </p:txBody>
      </p:sp>
      <p:pic>
        <p:nvPicPr>
          <p:cNvPr id="114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6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4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5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6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87785" y="88993"/>
            <a:ext cx="3682557" cy="345947"/>
          </a:xfrm>
          <a:prstGeom prst="rect">
            <a:avLst/>
          </a:prstGeom>
        </p:spPr>
        <p:txBody>
          <a:bodyPr vert="horz" wrap="square" lIns="0" tIns="25482" rIns="0" bIns="0" rtlCol="0">
            <a:spAutoFit/>
          </a:bodyPr>
          <a:lstStyle/>
          <a:p>
            <a:pPr marL="18875">
              <a:spcBef>
                <a:spcPts val="201"/>
              </a:spcBef>
            </a:pPr>
            <a:r>
              <a:rPr sz="2081" spc="-82" dirty="0">
                <a:solidFill>
                  <a:srgbClr val="FFFFFF"/>
                </a:solidFill>
                <a:latin typeface="Tahoma"/>
                <a:cs typeface="Tahoma"/>
              </a:rPr>
              <a:t>Samples</a:t>
            </a:r>
            <a:r>
              <a:rPr sz="208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spc="-104" dirty="0">
                <a:solidFill>
                  <a:srgbClr val="FFFFFF"/>
                </a:solidFill>
                <a:latin typeface="Tahoma"/>
                <a:cs typeface="Tahoma"/>
              </a:rPr>
              <a:t>generated</a:t>
            </a:r>
            <a:r>
              <a:rPr sz="2081" spc="-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208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81" dirty="0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sz="2081" spc="-37" dirty="0">
                <a:solidFill>
                  <a:srgbClr val="FFFFFF"/>
                </a:solidFill>
                <a:latin typeface="Tahoma"/>
                <a:cs typeface="Tahoma"/>
              </a:rPr>
              <a:t>NVP</a:t>
            </a:r>
            <a:endParaRPr sz="2081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0" y="1882775"/>
            <a:ext cx="5164880" cy="2896582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FF1FFA-DC2D-4406-B662-AEDB6E5923A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object 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43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C76FA3D-3A4F-44DD-ABD1-1947E6786187}"/>
              </a:ext>
            </a:extLst>
          </p:cNvPr>
          <p:cNvSpPr txBox="1"/>
          <p:nvPr/>
        </p:nvSpPr>
        <p:spPr>
          <a:xfrm>
            <a:off x="625501" y="1047750"/>
            <a:ext cx="8014334" cy="7588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1155" marR="5080" indent="-339090">
              <a:lnSpc>
                <a:spcPct val="100499"/>
              </a:lnSpc>
              <a:spcBef>
                <a:spcPts val="85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40" dirty="0">
                <a:latin typeface="Calibri"/>
                <a:cs typeface="Calibri"/>
              </a:rPr>
              <a:t>Takeaway: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coupling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unrestricted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be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invertibility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tractability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7240551"/>
      </p:ext>
    </p:extLst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5595934-6530-4D3A-AC04-5F3CDEFC27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2400" y="218459"/>
            <a:ext cx="6858000" cy="857250"/>
          </a:xfrm>
        </p:spPr>
        <p:txBody>
          <a:bodyPr>
            <a:normAutofit/>
          </a:bodyPr>
          <a:lstStyle/>
          <a:p>
            <a:r>
              <a:rPr lang="en-IN" dirty="0"/>
              <a:t>Latent</a:t>
            </a:r>
            <a:r>
              <a:rPr lang="en-IN" spc="-74" dirty="0"/>
              <a:t> </a:t>
            </a:r>
            <a:r>
              <a:rPr lang="en-IN" spc="-89" dirty="0"/>
              <a:t>space</a:t>
            </a:r>
            <a:r>
              <a:rPr lang="en-IN" spc="-74" dirty="0"/>
              <a:t> </a:t>
            </a:r>
            <a:r>
              <a:rPr lang="en-IN" spc="-45" dirty="0"/>
              <a:t>interpolations</a:t>
            </a:r>
            <a:r>
              <a:rPr lang="en-IN" spc="-74" dirty="0"/>
              <a:t> </a:t>
            </a:r>
            <a:r>
              <a:rPr lang="en-IN" dirty="0"/>
              <a:t>via</a:t>
            </a:r>
            <a:r>
              <a:rPr lang="en-IN" spc="-74" dirty="0"/>
              <a:t> </a:t>
            </a:r>
            <a:r>
              <a:rPr lang="en-IN" dirty="0"/>
              <a:t>Real-</a:t>
            </a:r>
            <a:r>
              <a:rPr lang="en-IN" spc="-37" dirty="0"/>
              <a:t>NVP</a:t>
            </a:r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0" y="1075709"/>
            <a:ext cx="5209551" cy="25052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3638550"/>
            <a:ext cx="8153370" cy="1098604"/>
          </a:xfrm>
          <a:prstGeom prst="rect">
            <a:avLst/>
          </a:prstGeom>
        </p:spPr>
        <p:txBody>
          <a:bodyPr vert="horz" wrap="square" lIns="0" tIns="16988" rIns="0" bIns="0" rtlCol="0">
            <a:spAutoFit/>
          </a:bodyPr>
          <a:lstStyle/>
          <a:p>
            <a:pPr marL="56624">
              <a:spcBef>
                <a:spcPts val="134"/>
              </a:spcBef>
            </a:pPr>
            <a:r>
              <a:rPr sz="1635" spc="-30" dirty="0">
                <a:latin typeface="Tahoma"/>
                <a:cs typeface="Tahoma"/>
              </a:rPr>
              <a:t>Using</a:t>
            </a:r>
            <a:r>
              <a:rPr sz="1635" spc="-104" dirty="0">
                <a:latin typeface="Tahoma"/>
                <a:cs typeface="Tahoma"/>
              </a:rPr>
              <a:t> </a:t>
            </a:r>
            <a:r>
              <a:rPr sz="1635" dirty="0">
                <a:latin typeface="Tahoma"/>
                <a:cs typeface="Tahoma"/>
              </a:rPr>
              <a:t>with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30" dirty="0">
                <a:latin typeface="Tahoma"/>
                <a:cs typeface="Tahoma"/>
              </a:rPr>
              <a:t>four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37" dirty="0">
                <a:latin typeface="Tahoma"/>
                <a:cs typeface="Tahoma"/>
              </a:rPr>
              <a:t>validation</a:t>
            </a:r>
            <a:r>
              <a:rPr sz="1635" spc="-30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examples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783" baseline="27777" dirty="0">
                <a:latin typeface="Tahoma"/>
                <a:cs typeface="Tahoma"/>
              </a:rPr>
              <a:t>(1)</a:t>
            </a:r>
            <a:r>
              <a:rPr sz="1635" i="1" dirty="0">
                <a:latin typeface="Times New Roman"/>
                <a:cs typeface="Times New Roman"/>
              </a:rPr>
              <a:t>,</a:t>
            </a:r>
            <a:r>
              <a:rPr sz="1635" i="1" spc="-141" dirty="0">
                <a:latin typeface="Times New Roman"/>
                <a:cs typeface="Times New Roman"/>
              </a:rPr>
              <a:t> </a:t>
            </a: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783" baseline="27777" dirty="0">
                <a:latin typeface="Tahoma"/>
                <a:cs typeface="Tahoma"/>
              </a:rPr>
              <a:t>(2)</a:t>
            </a:r>
            <a:r>
              <a:rPr sz="1635" i="1" dirty="0">
                <a:latin typeface="Times New Roman"/>
                <a:cs typeface="Times New Roman"/>
              </a:rPr>
              <a:t>,</a:t>
            </a:r>
            <a:r>
              <a:rPr sz="1635" i="1" spc="-141" dirty="0">
                <a:latin typeface="Times New Roman"/>
                <a:cs typeface="Times New Roman"/>
              </a:rPr>
              <a:t> </a:t>
            </a: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783" baseline="27777" dirty="0">
                <a:latin typeface="Tahoma"/>
                <a:cs typeface="Tahoma"/>
              </a:rPr>
              <a:t>(3)</a:t>
            </a:r>
            <a:r>
              <a:rPr sz="1635" i="1" dirty="0">
                <a:latin typeface="Times New Roman"/>
                <a:cs typeface="Times New Roman"/>
              </a:rPr>
              <a:t>,</a:t>
            </a:r>
            <a:r>
              <a:rPr sz="1635" i="1" spc="-141" dirty="0">
                <a:latin typeface="Times New Roman"/>
                <a:cs typeface="Times New Roman"/>
              </a:rPr>
              <a:t> </a:t>
            </a: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783" baseline="27777" dirty="0">
                <a:latin typeface="Tahoma"/>
                <a:cs typeface="Tahoma"/>
              </a:rPr>
              <a:t>(4)</a:t>
            </a:r>
            <a:r>
              <a:rPr sz="1635" dirty="0">
                <a:latin typeface="Tahoma"/>
                <a:cs typeface="Tahoma"/>
              </a:rPr>
              <a:t>,</a:t>
            </a:r>
            <a:r>
              <a:rPr sz="1635" spc="-22" dirty="0">
                <a:latin typeface="Tahoma"/>
                <a:cs typeface="Tahoma"/>
              </a:rPr>
              <a:t> </a:t>
            </a:r>
            <a:r>
              <a:rPr sz="1635" spc="-59" dirty="0">
                <a:latin typeface="Tahoma"/>
                <a:cs typeface="Tahoma"/>
              </a:rPr>
              <a:t>define</a:t>
            </a:r>
            <a:r>
              <a:rPr sz="1635" spc="-30" dirty="0">
                <a:latin typeface="Tahoma"/>
                <a:cs typeface="Tahoma"/>
              </a:rPr>
              <a:t> </a:t>
            </a:r>
            <a:r>
              <a:rPr sz="1635" spc="-15" dirty="0">
                <a:latin typeface="Tahoma"/>
                <a:cs typeface="Tahoma"/>
              </a:rPr>
              <a:t>interpolated</a:t>
            </a:r>
            <a:r>
              <a:rPr lang="en-US" sz="1635" spc="-15" dirty="0">
                <a:latin typeface="Tahoma"/>
                <a:cs typeface="Tahoma"/>
              </a:rPr>
              <a:t> </a:t>
            </a: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635" b="1" spc="-7" dirty="0">
                <a:latin typeface="Gill Sans MT"/>
                <a:cs typeface="Gill Sans MT"/>
              </a:rPr>
              <a:t> </a:t>
            </a:r>
            <a:r>
              <a:rPr sz="1635" spc="-37" dirty="0">
                <a:latin typeface="Tahoma"/>
                <a:cs typeface="Tahoma"/>
              </a:rPr>
              <a:t>as:</a:t>
            </a:r>
            <a:endParaRPr sz="1635" dirty="0">
              <a:latin typeface="Tahoma"/>
              <a:cs typeface="Tahoma"/>
            </a:endParaRPr>
          </a:p>
          <a:p>
            <a:pPr marL="56624" marR="604934" indent="605879">
              <a:lnSpc>
                <a:spcPct val="176700"/>
              </a:lnSpc>
            </a:pPr>
            <a:r>
              <a:rPr sz="1635" b="1" dirty="0">
                <a:latin typeface="Gill Sans MT"/>
                <a:cs typeface="Gill Sans MT"/>
              </a:rPr>
              <a:t>z</a:t>
            </a:r>
            <a:r>
              <a:rPr sz="1635" b="1" spc="22" dirty="0">
                <a:latin typeface="Gill Sans MT"/>
                <a:cs typeface="Gill Sans MT"/>
              </a:rPr>
              <a:t> </a:t>
            </a:r>
            <a:r>
              <a:rPr sz="1635" dirty="0">
                <a:latin typeface="Tahoma"/>
                <a:cs typeface="Tahoma"/>
              </a:rPr>
              <a:t>=</a:t>
            </a:r>
            <a:r>
              <a:rPr sz="1635" spc="-30" dirty="0">
                <a:latin typeface="Tahoma"/>
                <a:cs typeface="Tahoma"/>
              </a:rPr>
              <a:t> </a:t>
            </a:r>
            <a:r>
              <a:rPr sz="1635" i="1" spc="-30" dirty="0">
                <a:latin typeface="Arial"/>
                <a:cs typeface="Arial"/>
              </a:rPr>
              <a:t>cos</a:t>
            </a:r>
            <a:r>
              <a:rPr sz="1635" i="1" spc="-30" dirty="0">
                <a:latin typeface="Times New Roman"/>
                <a:cs typeface="Times New Roman"/>
              </a:rPr>
              <a:t>ϕ</a:t>
            </a:r>
            <a:r>
              <a:rPr sz="1635" spc="-30" dirty="0">
                <a:latin typeface="Tahoma"/>
                <a:cs typeface="Tahoma"/>
              </a:rPr>
              <a:t>(</a:t>
            </a:r>
            <a:r>
              <a:rPr sz="1635" b="1" spc="-30" dirty="0">
                <a:latin typeface="Gill Sans MT"/>
                <a:cs typeface="Gill Sans MT"/>
              </a:rPr>
              <a:t>z</a:t>
            </a:r>
            <a:r>
              <a:rPr sz="1783" spc="-45" baseline="31250" dirty="0">
                <a:latin typeface="Tahoma"/>
                <a:cs typeface="Tahoma"/>
              </a:rPr>
              <a:t>(1)</a:t>
            </a:r>
            <a:r>
              <a:rPr sz="1635" i="1" spc="-30" dirty="0">
                <a:latin typeface="Arial"/>
                <a:cs typeface="Arial"/>
              </a:rPr>
              <a:t>cos</a:t>
            </a:r>
            <a:r>
              <a:rPr sz="1635" i="1" spc="-30" dirty="0">
                <a:latin typeface="Times New Roman"/>
                <a:cs typeface="Times New Roman"/>
              </a:rPr>
              <a:t>ϕ</a:t>
            </a:r>
            <a:r>
              <a:rPr sz="1783" spc="-45" baseline="31250" dirty="0">
                <a:latin typeface="Lucida Sans Unicode"/>
                <a:cs typeface="Lucida Sans Unicode"/>
              </a:rPr>
              <a:t>′</a:t>
            </a:r>
            <a:r>
              <a:rPr sz="1783" spc="122" baseline="31250" dirty="0">
                <a:latin typeface="Lucida Sans Unicode"/>
                <a:cs typeface="Lucida Sans Unicode"/>
              </a:rPr>
              <a:t> </a:t>
            </a:r>
            <a:r>
              <a:rPr sz="1635" dirty="0">
                <a:latin typeface="Tahoma"/>
                <a:cs typeface="Tahoma"/>
              </a:rPr>
              <a:t>+</a:t>
            </a:r>
            <a:r>
              <a:rPr sz="1635" spc="-134" dirty="0">
                <a:latin typeface="Tahoma"/>
                <a:cs typeface="Tahoma"/>
              </a:rPr>
              <a:t> </a:t>
            </a:r>
            <a:r>
              <a:rPr sz="1635" b="1" spc="-15" dirty="0">
                <a:latin typeface="Gill Sans MT"/>
                <a:cs typeface="Gill Sans MT"/>
              </a:rPr>
              <a:t>z</a:t>
            </a:r>
            <a:r>
              <a:rPr sz="1783" spc="-22" baseline="31250" dirty="0">
                <a:latin typeface="Tahoma"/>
                <a:cs typeface="Tahoma"/>
              </a:rPr>
              <a:t>(2)</a:t>
            </a:r>
            <a:r>
              <a:rPr sz="1635" i="1" spc="-15" dirty="0">
                <a:latin typeface="Arial"/>
                <a:cs typeface="Arial"/>
              </a:rPr>
              <a:t>sin</a:t>
            </a:r>
            <a:r>
              <a:rPr sz="1635" i="1" spc="-15" dirty="0">
                <a:latin typeface="Times New Roman"/>
                <a:cs typeface="Times New Roman"/>
              </a:rPr>
              <a:t>ϕ</a:t>
            </a:r>
            <a:r>
              <a:rPr sz="1783" spc="-22" baseline="31250" dirty="0">
                <a:latin typeface="Lucida Sans Unicode"/>
                <a:cs typeface="Lucida Sans Unicode"/>
              </a:rPr>
              <a:t>′</a:t>
            </a:r>
            <a:r>
              <a:rPr sz="1635" spc="-15" dirty="0">
                <a:latin typeface="Tahoma"/>
                <a:cs typeface="Tahoma"/>
              </a:rPr>
              <a:t>)</a:t>
            </a:r>
            <a:r>
              <a:rPr sz="1635" spc="-134" dirty="0">
                <a:latin typeface="Tahoma"/>
                <a:cs typeface="Tahoma"/>
              </a:rPr>
              <a:t> </a:t>
            </a:r>
            <a:r>
              <a:rPr sz="1635" dirty="0">
                <a:latin typeface="Tahoma"/>
                <a:cs typeface="Tahoma"/>
              </a:rPr>
              <a:t>+</a:t>
            </a:r>
            <a:r>
              <a:rPr sz="1635" spc="-126" dirty="0">
                <a:latin typeface="Tahoma"/>
                <a:cs typeface="Tahoma"/>
              </a:rPr>
              <a:t> </a:t>
            </a:r>
            <a:r>
              <a:rPr sz="1635" i="1" spc="-30" dirty="0">
                <a:latin typeface="Arial"/>
                <a:cs typeface="Arial"/>
              </a:rPr>
              <a:t>sin</a:t>
            </a:r>
            <a:r>
              <a:rPr sz="1635" i="1" spc="-30" dirty="0">
                <a:latin typeface="Times New Roman"/>
                <a:cs typeface="Times New Roman"/>
              </a:rPr>
              <a:t>ϕ</a:t>
            </a:r>
            <a:r>
              <a:rPr sz="1635" spc="-30" dirty="0">
                <a:latin typeface="Tahoma"/>
                <a:cs typeface="Tahoma"/>
              </a:rPr>
              <a:t>(</a:t>
            </a:r>
            <a:r>
              <a:rPr sz="1635" b="1" spc="-30" dirty="0">
                <a:latin typeface="Gill Sans MT"/>
                <a:cs typeface="Gill Sans MT"/>
              </a:rPr>
              <a:t>z</a:t>
            </a:r>
            <a:r>
              <a:rPr sz="1783" spc="-45" baseline="31250" dirty="0">
                <a:latin typeface="Tahoma"/>
                <a:cs typeface="Tahoma"/>
              </a:rPr>
              <a:t>(3)</a:t>
            </a:r>
            <a:r>
              <a:rPr sz="1635" i="1" spc="-30" dirty="0">
                <a:latin typeface="Arial"/>
                <a:cs typeface="Arial"/>
              </a:rPr>
              <a:t>cos</a:t>
            </a:r>
            <a:r>
              <a:rPr sz="1635" i="1" spc="-30" dirty="0">
                <a:latin typeface="Times New Roman"/>
                <a:cs typeface="Times New Roman"/>
              </a:rPr>
              <a:t>ϕ</a:t>
            </a:r>
            <a:r>
              <a:rPr sz="1783" spc="-45" baseline="31250" dirty="0">
                <a:latin typeface="Lucida Sans Unicode"/>
                <a:cs typeface="Lucida Sans Unicode"/>
              </a:rPr>
              <a:t>′</a:t>
            </a:r>
            <a:r>
              <a:rPr sz="1783" spc="122" baseline="31250" dirty="0">
                <a:latin typeface="Lucida Sans Unicode"/>
                <a:cs typeface="Lucida Sans Unicode"/>
              </a:rPr>
              <a:t> </a:t>
            </a:r>
            <a:r>
              <a:rPr sz="1635" dirty="0">
                <a:latin typeface="Tahoma"/>
                <a:cs typeface="Tahoma"/>
              </a:rPr>
              <a:t>+</a:t>
            </a:r>
            <a:r>
              <a:rPr sz="1635" spc="-134" dirty="0">
                <a:latin typeface="Tahoma"/>
                <a:cs typeface="Tahoma"/>
              </a:rPr>
              <a:t> </a:t>
            </a:r>
            <a:r>
              <a:rPr sz="1635" b="1" spc="-15" dirty="0">
                <a:latin typeface="Gill Sans MT"/>
                <a:cs typeface="Gill Sans MT"/>
              </a:rPr>
              <a:t>z</a:t>
            </a:r>
            <a:r>
              <a:rPr sz="1783" spc="-22" baseline="31250" dirty="0">
                <a:latin typeface="Tahoma"/>
                <a:cs typeface="Tahoma"/>
              </a:rPr>
              <a:t>(4)</a:t>
            </a:r>
            <a:r>
              <a:rPr sz="1635" i="1" spc="-15" dirty="0">
                <a:latin typeface="Arial"/>
                <a:cs typeface="Arial"/>
              </a:rPr>
              <a:t>sin</a:t>
            </a:r>
            <a:r>
              <a:rPr sz="1635" i="1" spc="-15" dirty="0">
                <a:latin typeface="Times New Roman"/>
                <a:cs typeface="Times New Roman"/>
              </a:rPr>
              <a:t>ϕ</a:t>
            </a:r>
            <a:r>
              <a:rPr sz="1783" spc="-22" baseline="31250" dirty="0">
                <a:latin typeface="Lucida Sans Unicode"/>
                <a:cs typeface="Lucida Sans Unicode"/>
              </a:rPr>
              <a:t>′</a:t>
            </a:r>
            <a:r>
              <a:rPr sz="1635" spc="-15" dirty="0">
                <a:latin typeface="Tahoma"/>
                <a:cs typeface="Tahoma"/>
              </a:rPr>
              <a:t>) </a:t>
            </a:r>
            <a:r>
              <a:rPr sz="1635" dirty="0">
                <a:latin typeface="Tahoma"/>
                <a:cs typeface="Tahoma"/>
              </a:rPr>
              <a:t>with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45" dirty="0">
                <a:latin typeface="Tahoma"/>
                <a:cs typeface="Tahoma"/>
              </a:rPr>
              <a:t>manifold</a:t>
            </a:r>
            <a:r>
              <a:rPr sz="1635" spc="-37" dirty="0">
                <a:latin typeface="Tahoma"/>
                <a:cs typeface="Tahoma"/>
              </a:rPr>
              <a:t> </a:t>
            </a:r>
            <a:r>
              <a:rPr sz="1635" spc="-74" dirty="0">
                <a:latin typeface="Tahoma"/>
                <a:cs typeface="Tahoma"/>
              </a:rPr>
              <a:t>parameterized</a:t>
            </a:r>
            <a:r>
              <a:rPr sz="1635" spc="-30" dirty="0">
                <a:latin typeface="Tahoma"/>
                <a:cs typeface="Tahoma"/>
              </a:rPr>
              <a:t> </a:t>
            </a:r>
            <a:r>
              <a:rPr sz="1635" spc="-52" dirty="0">
                <a:latin typeface="Tahoma"/>
                <a:cs typeface="Tahoma"/>
              </a:rPr>
              <a:t>by</a:t>
            </a:r>
            <a:r>
              <a:rPr sz="1635" spc="-45" dirty="0">
                <a:latin typeface="Tahoma"/>
                <a:cs typeface="Tahoma"/>
              </a:rPr>
              <a:t> </a:t>
            </a:r>
            <a:r>
              <a:rPr sz="1635" i="1" spc="97" dirty="0">
                <a:latin typeface="Times New Roman"/>
                <a:cs typeface="Times New Roman"/>
              </a:rPr>
              <a:t>ϕ</a:t>
            </a:r>
            <a:r>
              <a:rPr sz="1635" i="1" spc="67" dirty="0">
                <a:latin typeface="Times New Roman"/>
                <a:cs typeface="Times New Roman"/>
              </a:rPr>
              <a:t> </a:t>
            </a:r>
            <a:r>
              <a:rPr sz="1635" spc="-52" dirty="0">
                <a:latin typeface="Tahoma"/>
                <a:cs typeface="Tahoma"/>
              </a:rPr>
              <a:t>and</a:t>
            </a:r>
            <a:r>
              <a:rPr sz="1635" spc="-30" dirty="0">
                <a:latin typeface="Tahoma"/>
                <a:cs typeface="Tahoma"/>
              </a:rPr>
              <a:t> </a:t>
            </a:r>
            <a:r>
              <a:rPr sz="1635" i="1" spc="-37" dirty="0">
                <a:latin typeface="Times New Roman"/>
                <a:cs typeface="Times New Roman"/>
              </a:rPr>
              <a:t>ϕ</a:t>
            </a:r>
            <a:r>
              <a:rPr sz="1783" spc="-55" baseline="27777" dirty="0">
                <a:latin typeface="Lucida Sans Unicode"/>
                <a:cs typeface="Lucida Sans Unicode"/>
              </a:rPr>
              <a:t>′</a:t>
            </a:r>
            <a:r>
              <a:rPr sz="1635" spc="-37" dirty="0">
                <a:latin typeface="Tahoma"/>
                <a:cs typeface="Tahoma"/>
              </a:rPr>
              <a:t>.</a:t>
            </a:r>
            <a:endParaRPr sz="1635" dirty="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B5435B-B5C5-411C-A1D1-C8DD441CEB56}"/>
                  </a:ext>
                </a:extLst>
              </p14:cNvPr>
              <p14:cNvContentPartPr/>
              <p14:nvPr/>
            </p14:nvContentPartPr>
            <p14:xfrm>
              <a:off x="2295360" y="4338720"/>
              <a:ext cx="1162440" cy="8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B5435B-B5C5-411C-A1D1-C8DD441CEB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6000" y="4329360"/>
                <a:ext cx="1181160" cy="1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651331"/>
      </p:ext>
    </p:extLst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1164486"/>
          </a:xfrm>
          <a:prstGeom prst="rect">
            <a:avLst/>
          </a:prstGeom>
        </p:spPr>
        <p:txBody>
          <a:bodyPr spcFirstLastPara="1" vert="horz" wrap="square" lIns="0" tIns="4763" rIns="0" bIns="0" rtlCol="0" anchor="t" anchorCtr="0">
            <a:spAutoFit/>
          </a:bodyPr>
          <a:lstStyle/>
          <a:p>
            <a:pPr marL="47149" marR="209550">
              <a:lnSpc>
                <a:spcPct val="101400"/>
              </a:lnSpc>
              <a:spcBef>
                <a:spcPts val="38"/>
              </a:spcBef>
            </a:pPr>
            <a:r>
              <a:rPr spc="-49" dirty="0"/>
              <a:t>Partitioning</a:t>
            </a:r>
            <a:r>
              <a:rPr spc="-105" dirty="0"/>
              <a:t> </a:t>
            </a:r>
            <a:r>
              <a:rPr dirty="0"/>
              <a:t>can</a:t>
            </a:r>
            <a:r>
              <a:rPr spc="-83" dirty="0"/>
              <a:t> </a:t>
            </a:r>
            <a:r>
              <a:rPr dirty="0"/>
              <a:t>be</a:t>
            </a:r>
            <a:r>
              <a:rPr spc="-79" dirty="0"/>
              <a:t> </a:t>
            </a:r>
            <a:r>
              <a:rPr spc="-8" dirty="0"/>
              <a:t>implemented</a:t>
            </a:r>
            <a:r>
              <a:rPr spc="-79" dirty="0"/>
              <a:t> </a:t>
            </a:r>
            <a:r>
              <a:rPr spc="38" dirty="0"/>
              <a:t>using</a:t>
            </a:r>
            <a:r>
              <a:rPr spc="-83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53" dirty="0"/>
              <a:t>binary</a:t>
            </a:r>
            <a:r>
              <a:rPr spc="-79" dirty="0"/>
              <a:t> </a:t>
            </a:r>
            <a:r>
              <a:rPr spc="56" dirty="0"/>
              <a:t>mask</a:t>
            </a:r>
            <a:r>
              <a:rPr spc="-75" dirty="0"/>
              <a:t> </a:t>
            </a:r>
            <a:r>
              <a:rPr spc="-109" dirty="0"/>
              <a:t>b,</a:t>
            </a:r>
            <a:r>
              <a:rPr spc="-56" dirty="0"/>
              <a:t> </a:t>
            </a:r>
            <a:r>
              <a:rPr dirty="0"/>
              <a:t>and</a:t>
            </a:r>
            <a:r>
              <a:rPr spc="-79" dirty="0"/>
              <a:t> </a:t>
            </a:r>
            <a:r>
              <a:rPr spc="38" dirty="0"/>
              <a:t>using</a:t>
            </a:r>
            <a:r>
              <a:rPr spc="-83" dirty="0"/>
              <a:t> </a:t>
            </a:r>
            <a:r>
              <a:rPr spc="-19" dirty="0"/>
              <a:t>the </a:t>
            </a:r>
            <a:r>
              <a:rPr spc="-49" dirty="0"/>
              <a:t>functional</a:t>
            </a:r>
            <a:r>
              <a:rPr spc="-105" dirty="0"/>
              <a:t> </a:t>
            </a:r>
            <a:r>
              <a:rPr dirty="0"/>
              <a:t>form</a:t>
            </a:r>
            <a:r>
              <a:rPr spc="-109" dirty="0"/>
              <a:t> </a:t>
            </a:r>
            <a:r>
              <a:rPr spc="-45" dirty="0"/>
              <a:t>for</a:t>
            </a:r>
            <a:r>
              <a:rPr spc="-109" dirty="0"/>
              <a:t> </a:t>
            </a:r>
            <a:r>
              <a:rPr spc="-38" dirty="0"/>
              <a:t>y</a:t>
            </a:r>
          </a:p>
          <a:p>
            <a:pPr marL="26194" algn="ctr">
              <a:spcBef>
                <a:spcPts val="1755"/>
              </a:spcBef>
            </a:pPr>
            <a:r>
              <a:rPr sz="2400" spc="435" dirty="0">
                <a:latin typeface="Georgia"/>
                <a:cs typeface="Georgia"/>
              </a:rPr>
              <a:t>f</a:t>
            </a:r>
            <a:r>
              <a:rPr sz="2400" spc="-353" dirty="0">
                <a:latin typeface="Georgia"/>
                <a:cs typeface="Georgia"/>
              </a:rPr>
              <a:t> </a:t>
            </a:r>
            <a:r>
              <a:rPr sz="2400" spc="71" dirty="0">
                <a:latin typeface="LM Roman 10"/>
                <a:cs typeface="LM Roman 10"/>
              </a:rPr>
              <a:t>(</a:t>
            </a:r>
            <a:r>
              <a:rPr sz="2400" spc="71" dirty="0">
                <a:latin typeface="Georgia"/>
                <a:cs typeface="Georgia"/>
              </a:rPr>
              <a:t>x</a:t>
            </a:r>
            <a:r>
              <a:rPr sz="2400" spc="71" dirty="0">
                <a:latin typeface="LM Roman 10"/>
                <a:cs typeface="LM Roman 10"/>
              </a:rPr>
              <a:t>)</a:t>
            </a:r>
            <a:r>
              <a:rPr sz="2400" spc="-131" dirty="0">
                <a:latin typeface="LM Roman 10"/>
                <a:cs typeface="LM Roman 10"/>
              </a:rPr>
              <a:t> </a:t>
            </a:r>
            <a:r>
              <a:rPr sz="2400" dirty="0">
                <a:latin typeface="LM Roman 10"/>
                <a:cs typeface="LM Roman 10"/>
              </a:rPr>
              <a:t>=</a:t>
            </a:r>
            <a:r>
              <a:rPr sz="2400" spc="-135" dirty="0">
                <a:latin typeface="LM Roman 10"/>
                <a:cs typeface="LM Roman 10"/>
              </a:rPr>
              <a:t> </a:t>
            </a:r>
            <a:r>
              <a:rPr sz="2400" spc="-326" dirty="0">
                <a:latin typeface="Georgia"/>
                <a:cs typeface="Georgia"/>
              </a:rPr>
              <a:t>b</a:t>
            </a:r>
            <a:r>
              <a:rPr sz="2400" spc="-38" dirty="0">
                <a:latin typeface="Georgia"/>
                <a:cs typeface="Georgia"/>
              </a:rPr>
              <a:t> </a:t>
            </a:r>
            <a:r>
              <a:rPr sz="2400" spc="-161" dirty="0">
                <a:latin typeface="DejaVu Sans"/>
                <a:cs typeface="DejaVu Sans"/>
              </a:rPr>
              <a:t>⊙</a:t>
            </a:r>
            <a:r>
              <a:rPr sz="2400" spc="-244" dirty="0">
                <a:latin typeface="DejaVu Sans"/>
                <a:cs typeface="DejaVu Sans"/>
              </a:rPr>
              <a:t> </a:t>
            </a:r>
            <a:r>
              <a:rPr sz="2400" spc="199" dirty="0">
                <a:latin typeface="Georgia"/>
                <a:cs typeface="Georgia"/>
              </a:rPr>
              <a:t>x</a:t>
            </a:r>
            <a:r>
              <a:rPr sz="2400" spc="-41" dirty="0">
                <a:latin typeface="Georgia"/>
                <a:cs typeface="Georgia"/>
              </a:rPr>
              <a:t> </a:t>
            </a:r>
            <a:r>
              <a:rPr sz="2400" dirty="0">
                <a:latin typeface="LM Roman 10"/>
                <a:cs typeface="LM Roman 10"/>
              </a:rPr>
              <a:t>+</a:t>
            </a:r>
            <a:r>
              <a:rPr sz="2400" spc="-285" dirty="0">
                <a:latin typeface="LM Roman 10"/>
                <a:cs typeface="LM Roman 10"/>
              </a:rPr>
              <a:t> </a:t>
            </a:r>
            <a:r>
              <a:rPr sz="2400" dirty="0">
                <a:latin typeface="LM Roman 10"/>
                <a:cs typeface="LM Roman 10"/>
              </a:rPr>
              <a:t>(1</a:t>
            </a:r>
            <a:r>
              <a:rPr sz="2400" spc="-281" dirty="0">
                <a:latin typeface="LM Roman 10"/>
                <a:cs typeface="LM Roman 10"/>
              </a:rPr>
              <a:t> </a:t>
            </a:r>
            <a:r>
              <a:rPr sz="2400" spc="-589" dirty="0">
                <a:latin typeface="DejaVu Sans"/>
                <a:cs typeface="DejaVu Sans"/>
              </a:rPr>
              <a:t>—</a:t>
            </a:r>
            <a:r>
              <a:rPr sz="2400" spc="-244" dirty="0">
                <a:latin typeface="DejaVu Sans"/>
                <a:cs typeface="DejaVu Sans"/>
              </a:rPr>
              <a:t> </a:t>
            </a:r>
            <a:r>
              <a:rPr sz="2400" spc="-161" dirty="0">
                <a:latin typeface="Georgia"/>
                <a:cs typeface="Georgia"/>
              </a:rPr>
              <a:t>b</a:t>
            </a:r>
            <a:r>
              <a:rPr sz="2400" spc="-161" dirty="0">
                <a:latin typeface="LM Roman 10"/>
                <a:cs typeface="LM Roman 10"/>
              </a:rPr>
              <a:t>)</a:t>
            </a:r>
            <a:r>
              <a:rPr sz="2400" spc="-285" dirty="0">
                <a:latin typeface="LM Roman 10"/>
                <a:cs typeface="LM Roman 10"/>
              </a:rPr>
              <a:t> </a:t>
            </a:r>
            <a:r>
              <a:rPr sz="2400" spc="-161" dirty="0">
                <a:latin typeface="DejaVu Sans"/>
                <a:cs typeface="DejaVu Sans"/>
              </a:rPr>
              <a:t>⊙</a:t>
            </a:r>
            <a:r>
              <a:rPr sz="2400" spc="-240" dirty="0">
                <a:latin typeface="DejaVu Sans"/>
                <a:cs typeface="DejaVu Sans"/>
              </a:rPr>
              <a:t> </a:t>
            </a:r>
            <a:r>
              <a:rPr sz="2400" spc="105" dirty="0">
                <a:latin typeface="LM Roman 10"/>
                <a:cs typeface="LM Roman 10"/>
              </a:rPr>
              <a:t>(</a:t>
            </a:r>
            <a:r>
              <a:rPr sz="2400" spc="105" dirty="0">
                <a:latin typeface="Georgia"/>
                <a:cs typeface="Georgia"/>
              </a:rPr>
              <a:t>x</a:t>
            </a:r>
            <a:r>
              <a:rPr sz="2400" spc="-41" dirty="0">
                <a:latin typeface="Georgia"/>
                <a:cs typeface="Georgia"/>
              </a:rPr>
              <a:t> </a:t>
            </a:r>
            <a:r>
              <a:rPr sz="2400" spc="-161" dirty="0">
                <a:latin typeface="DejaVu Sans"/>
                <a:cs typeface="DejaVu Sans"/>
              </a:rPr>
              <a:t>⊙</a:t>
            </a:r>
            <a:r>
              <a:rPr sz="2400" spc="-244" dirty="0">
                <a:latin typeface="DejaVu Sans"/>
                <a:cs typeface="DejaVu Sans"/>
              </a:rPr>
              <a:t> </a:t>
            </a:r>
            <a:r>
              <a:rPr sz="2400" spc="53" dirty="0">
                <a:latin typeface="LM Roman 10"/>
                <a:cs typeface="LM Roman 10"/>
              </a:rPr>
              <a:t>exp(</a:t>
            </a:r>
            <a:r>
              <a:rPr sz="2400" spc="53" dirty="0">
                <a:latin typeface="Georgia"/>
                <a:cs typeface="Georgia"/>
              </a:rPr>
              <a:t>s</a:t>
            </a:r>
            <a:r>
              <a:rPr sz="2400" u="sng" spc="14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spc="-161" dirty="0">
                <a:latin typeface="LM Roman 10"/>
                <a:cs typeface="LM Roman 10"/>
              </a:rPr>
              <a:t>(</a:t>
            </a:r>
            <a:r>
              <a:rPr sz="2400" spc="-161" dirty="0">
                <a:latin typeface="Georgia"/>
                <a:cs typeface="Georgia"/>
              </a:rPr>
              <a:t>b</a:t>
            </a:r>
            <a:r>
              <a:rPr sz="2400" spc="-38" dirty="0">
                <a:latin typeface="Georgia"/>
                <a:cs typeface="Georgia"/>
              </a:rPr>
              <a:t> </a:t>
            </a:r>
            <a:r>
              <a:rPr sz="2400" spc="-161" dirty="0">
                <a:latin typeface="DejaVu Sans"/>
                <a:cs typeface="DejaVu Sans"/>
              </a:rPr>
              <a:t>⊙</a:t>
            </a:r>
            <a:r>
              <a:rPr sz="2400" spc="-248" dirty="0">
                <a:latin typeface="DejaVu Sans"/>
                <a:cs typeface="DejaVu Sans"/>
              </a:rPr>
              <a:t> </a:t>
            </a:r>
            <a:r>
              <a:rPr sz="2400" spc="71" dirty="0">
                <a:latin typeface="Georgia"/>
                <a:cs typeface="Georgia"/>
              </a:rPr>
              <a:t>x</a:t>
            </a:r>
            <a:r>
              <a:rPr sz="2400" spc="71" dirty="0">
                <a:latin typeface="LM Roman 10"/>
                <a:cs typeface="LM Roman 10"/>
              </a:rPr>
              <a:t>))</a:t>
            </a:r>
            <a:r>
              <a:rPr sz="2400" spc="-281" dirty="0">
                <a:latin typeface="LM Roman 10"/>
                <a:cs typeface="LM Roman 10"/>
              </a:rPr>
              <a:t> </a:t>
            </a:r>
            <a:r>
              <a:rPr sz="2400" dirty="0">
                <a:latin typeface="LM Roman 10"/>
                <a:cs typeface="LM Roman 10"/>
              </a:rPr>
              <a:t>+</a:t>
            </a:r>
            <a:r>
              <a:rPr sz="2400" spc="-285" dirty="0">
                <a:latin typeface="LM Roman 10"/>
                <a:cs typeface="LM Roman 10"/>
              </a:rPr>
              <a:t> </a:t>
            </a:r>
            <a:r>
              <a:rPr sz="2400" spc="-101" dirty="0">
                <a:latin typeface="Georgia"/>
                <a:cs typeface="Georgia"/>
              </a:rPr>
              <a:t>m</a:t>
            </a:r>
            <a:r>
              <a:rPr sz="2400" spc="-101" dirty="0">
                <a:latin typeface="LM Roman 10"/>
                <a:cs typeface="LM Roman 10"/>
              </a:rPr>
              <a:t>(</a:t>
            </a:r>
            <a:r>
              <a:rPr sz="2400" spc="-101" dirty="0">
                <a:latin typeface="Georgia"/>
                <a:cs typeface="Georgia"/>
              </a:rPr>
              <a:t>b</a:t>
            </a:r>
            <a:r>
              <a:rPr sz="2400" spc="-38" dirty="0">
                <a:latin typeface="Georgia"/>
                <a:cs typeface="Georgia"/>
              </a:rPr>
              <a:t> </a:t>
            </a:r>
            <a:r>
              <a:rPr sz="2400" spc="-161" dirty="0">
                <a:latin typeface="DejaVu Sans"/>
                <a:cs typeface="DejaVu Sans"/>
              </a:rPr>
              <a:t>⊙</a:t>
            </a:r>
            <a:r>
              <a:rPr sz="2400" spc="-248" dirty="0">
                <a:latin typeface="DejaVu Sans"/>
                <a:cs typeface="DejaVu Sans"/>
              </a:rPr>
              <a:t> </a:t>
            </a:r>
            <a:r>
              <a:rPr sz="2400" spc="53" dirty="0">
                <a:latin typeface="Georgia"/>
                <a:cs typeface="Georgia"/>
              </a:rPr>
              <a:t>x</a:t>
            </a:r>
            <a:r>
              <a:rPr sz="2400" spc="53" dirty="0">
                <a:latin typeface="LM Roman 10"/>
                <a:cs typeface="LM Roman 10"/>
              </a:rPr>
              <a:t>))</a:t>
            </a:r>
            <a:endParaRPr sz="2400" dirty="0">
              <a:latin typeface="LM Roman 10"/>
              <a:cs typeface="LM Roman 10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"/>
          </p:nvPr>
        </p:nvSpPr>
        <p:spPr>
          <a:xfrm>
            <a:off x="0" y="156000"/>
            <a:ext cx="6589586" cy="857250"/>
          </a:xfrm>
        </p:spPr>
        <p:txBody>
          <a:bodyPr>
            <a:normAutofit/>
          </a:bodyPr>
          <a:lstStyle/>
          <a:p>
            <a:r>
              <a:rPr lang="en-US" spc="-90" dirty="0" err="1"/>
              <a:t>RealNVP</a:t>
            </a:r>
            <a:r>
              <a:rPr lang="en-US" spc="-90" dirty="0"/>
              <a:t>:</a:t>
            </a:r>
            <a:r>
              <a:rPr lang="en-US" spc="-94" dirty="0"/>
              <a:t> </a:t>
            </a:r>
            <a:r>
              <a:rPr lang="en-US" spc="75" dirty="0"/>
              <a:t>How</a:t>
            </a:r>
            <a:r>
              <a:rPr lang="en-US" spc="-94" dirty="0"/>
              <a:t> </a:t>
            </a:r>
            <a:r>
              <a:rPr lang="en-US" spc="165" dirty="0"/>
              <a:t>to</a:t>
            </a:r>
            <a:r>
              <a:rPr lang="en-US" spc="-94" dirty="0"/>
              <a:t> </a:t>
            </a:r>
            <a:r>
              <a:rPr lang="en-US" spc="127" dirty="0"/>
              <a:t>partition</a:t>
            </a:r>
            <a:r>
              <a:rPr lang="en-US" spc="-98" dirty="0"/>
              <a:t> </a:t>
            </a:r>
            <a:r>
              <a:rPr lang="en-US" spc="-8" dirty="0"/>
              <a:t>variables?</a:t>
            </a:r>
            <a:endParaRPr lang="en-IN" dirty="0"/>
          </a:p>
        </p:txBody>
      </p:sp>
      <p:sp>
        <p:nvSpPr>
          <p:cNvPr id="12" name="object 12"/>
          <p:cNvSpPr txBox="1"/>
          <p:nvPr/>
        </p:nvSpPr>
        <p:spPr>
          <a:xfrm>
            <a:off x="194319" y="2865333"/>
            <a:ext cx="2103647" cy="108683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68" dirty="0">
                <a:latin typeface="Trebuchet MS"/>
                <a:cs typeface="Trebuchet MS"/>
              </a:rPr>
              <a:t> </a:t>
            </a:r>
            <a:r>
              <a:rPr sz="1400" spc="-8" dirty="0">
                <a:latin typeface="Trebuchet MS"/>
                <a:cs typeface="Trebuchet MS"/>
              </a:rPr>
              <a:t>spatial </a:t>
            </a:r>
            <a:r>
              <a:rPr sz="1400" spc="34" dirty="0">
                <a:latin typeface="Trebuchet MS"/>
                <a:cs typeface="Trebuchet MS"/>
              </a:rPr>
              <a:t>checker</a:t>
            </a:r>
            <a:r>
              <a:rPr lang="en-US" sz="1400" spc="34" dirty="0">
                <a:latin typeface="Trebuchet MS"/>
                <a:cs typeface="Trebuchet MS"/>
              </a:rPr>
              <a:t> </a:t>
            </a:r>
            <a:r>
              <a:rPr sz="1400" spc="34" dirty="0">
                <a:latin typeface="Trebuchet MS"/>
                <a:cs typeface="Trebuchet MS"/>
              </a:rPr>
              <a:t>board</a:t>
            </a:r>
            <a:r>
              <a:rPr sz="1400" spc="-38" dirty="0">
                <a:latin typeface="Trebuchet MS"/>
                <a:cs typeface="Trebuchet MS"/>
              </a:rPr>
              <a:t> </a:t>
            </a:r>
            <a:r>
              <a:rPr sz="1400" spc="-8" dirty="0">
                <a:latin typeface="Trebuchet MS"/>
                <a:cs typeface="Trebuchet MS"/>
              </a:rPr>
              <a:t>pattern </a:t>
            </a:r>
            <a:r>
              <a:rPr sz="1400" spc="79" dirty="0">
                <a:latin typeface="Trebuchet MS"/>
                <a:cs typeface="Trebuchet MS"/>
              </a:rPr>
              <a:t>mask</a:t>
            </a:r>
            <a:r>
              <a:rPr sz="1400" spc="-53" dirty="0">
                <a:latin typeface="Trebuchet MS"/>
                <a:cs typeface="Trebuchet MS"/>
              </a:rPr>
              <a:t> </a:t>
            </a:r>
            <a:r>
              <a:rPr sz="1400" spc="38" dirty="0">
                <a:latin typeface="Trebuchet MS"/>
                <a:cs typeface="Trebuchet MS"/>
              </a:rPr>
              <a:t>has</a:t>
            </a:r>
            <a:r>
              <a:rPr sz="1400" spc="-53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value</a:t>
            </a:r>
            <a:r>
              <a:rPr sz="1400" spc="-49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 where</a:t>
            </a:r>
            <a:r>
              <a:rPr sz="1400" spc="-34" dirty="0">
                <a:latin typeface="Trebuchet MS"/>
                <a:cs typeface="Trebuchet MS"/>
              </a:rPr>
              <a:t> </a:t>
            </a:r>
            <a:r>
              <a:rPr sz="1400" spc="-8" dirty="0">
                <a:latin typeface="Trebuchet MS"/>
                <a:cs typeface="Trebuchet MS"/>
              </a:rPr>
              <a:t>the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75" dirty="0">
                <a:latin typeface="Trebuchet MS"/>
                <a:cs typeface="Trebuchet MS"/>
              </a:rPr>
              <a:t>sum</a:t>
            </a:r>
            <a:r>
              <a:rPr sz="1400" spc="-34" dirty="0">
                <a:latin typeface="Trebuchet MS"/>
                <a:cs typeface="Trebuchet MS"/>
              </a:rPr>
              <a:t> </a:t>
            </a:r>
            <a:r>
              <a:rPr sz="1400" spc="-19" dirty="0">
                <a:latin typeface="Trebuchet MS"/>
                <a:cs typeface="Trebuchet MS"/>
              </a:rPr>
              <a:t>of </a:t>
            </a:r>
            <a:r>
              <a:rPr sz="1400" spc="-34" dirty="0">
                <a:latin typeface="Trebuchet MS"/>
                <a:cs typeface="Trebuchet MS"/>
              </a:rPr>
              <a:t>spatial</a:t>
            </a:r>
            <a:r>
              <a:rPr sz="1400" spc="-79" dirty="0">
                <a:latin typeface="Trebuchet MS"/>
                <a:cs typeface="Trebuchet MS"/>
              </a:rPr>
              <a:t> </a:t>
            </a:r>
            <a:r>
              <a:rPr sz="1400" spc="-8" dirty="0">
                <a:latin typeface="Trebuchet MS"/>
                <a:cs typeface="Trebuchet MS"/>
              </a:rPr>
              <a:t>coordinates</a:t>
            </a:r>
            <a:r>
              <a:rPr sz="1400" spc="-79" dirty="0">
                <a:latin typeface="Trebuchet MS"/>
                <a:cs typeface="Trebuchet MS"/>
              </a:rPr>
              <a:t> </a:t>
            </a:r>
            <a:r>
              <a:rPr sz="1400" spc="-19" dirty="0">
                <a:latin typeface="Trebuchet MS"/>
                <a:cs typeface="Trebuchet MS"/>
              </a:rPr>
              <a:t>is odd,</a:t>
            </a:r>
            <a:r>
              <a:rPr sz="1400" spc="-71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68" dirty="0">
                <a:latin typeface="Trebuchet MS"/>
                <a:cs typeface="Trebuchet MS"/>
              </a:rPr>
              <a:t> </a:t>
            </a:r>
            <a:r>
              <a:rPr sz="1400" spc="38" dirty="0">
                <a:latin typeface="Trebuchet MS"/>
                <a:cs typeface="Trebuchet MS"/>
              </a:rPr>
              <a:t>0</a:t>
            </a:r>
            <a:r>
              <a:rPr sz="1400" spc="-68" dirty="0">
                <a:latin typeface="Trebuchet MS"/>
                <a:cs typeface="Trebuchet MS"/>
              </a:rPr>
              <a:t> </a:t>
            </a:r>
            <a:r>
              <a:rPr sz="1400" spc="-8" dirty="0">
                <a:latin typeface="Trebuchet MS"/>
                <a:cs typeface="Trebuchet MS"/>
              </a:rPr>
              <a:t>otherwise.</a:t>
            </a:r>
            <a:endParaRPr sz="1400" dirty="0">
              <a:latin typeface="Trebuchet MS"/>
              <a:cs typeface="Trebuchet M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CB9F4C-71F9-42C0-AECD-BCF8CE4D34FA}"/>
              </a:ext>
            </a:extLst>
          </p:cNvPr>
          <p:cNvGrpSpPr/>
          <p:nvPr/>
        </p:nvGrpSpPr>
        <p:grpSpPr>
          <a:xfrm>
            <a:off x="2297966" y="2477846"/>
            <a:ext cx="6713439" cy="2303704"/>
            <a:chOff x="2384299" y="2775204"/>
            <a:chExt cx="6713439" cy="2303704"/>
          </a:xfrm>
        </p:grpSpPr>
        <p:grpSp>
          <p:nvGrpSpPr>
            <p:cNvPr id="4" name="object 4"/>
            <p:cNvGrpSpPr/>
            <p:nvPr/>
          </p:nvGrpSpPr>
          <p:grpSpPr>
            <a:xfrm>
              <a:off x="2384299" y="2775204"/>
              <a:ext cx="6694646" cy="2167414"/>
              <a:chOff x="3179064" y="3700271"/>
              <a:chExt cx="8926195" cy="2889885"/>
            </a:xfrm>
          </p:grpSpPr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179064" y="3700271"/>
                <a:ext cx="5833872" cy="2776728"/>
              </a:xfrm>
              <a:prstGeom prst="rect">
                <a:avLst/>
              </a:prstGeom>
            </p:spPr>
          </p:pic>
          <p:sp>
            <p:nvSpPr>
              <p:cNvPr id="6" name="object 6"/>
              <p:cNvSpPr/>
              <p:nvPr/>
            </p:nvSpPr>
            <p:spPr>
              <a:xfrm>
                <a:off x="8267763" y="4216920"/>
                <a:ext cx="648335" cy="280670"/>
              </a:xfrm>
              <a:custGeom>
                <a:avLst/>
                <a:gdLst/>
                <a:ahLst/>
                <a:cxnLst/>
                <a:rect l="l" t="t" r="r" b="b"/>
                <a:pathLst>
                  <a:path w="648334" h="280670">
                    <a:moveTo>
                      <a:pt x="63474" y="200634"/>
                    </a:moveTo>
                    <a:lnTo>
                      <a:pt x="0" y="272440"/>
                    </a:lnTo>
                    <a:lnTo>
                      <a:pt x="95542" y="280136"/>
                    </a:lnTo>
                    <a:lnTo>
                      <a:pt x="87007" y="258978"/>
                    </a:lnTo>
                    <a:lnTo>
                      <a:pt x="71602" y="258978"/>
                    </a:lnTo>
                    <a:lnTo>
                      <a:pt x="60909" y="232473"/>
                    </a:lnTo>
                    <a:lnTo>
                      <a:pt x="74161" y="227129"/>
                    </a:lnTo>
                    <a:lnTo>
                      <a:pt x="63474" y="200634"/>
                    </a:lnTo>
                    <a:close/>
                  </a:path>
                  <a:path w="648334" h="280670">
                    <a:moveTo>
                      <a:pt x="74161" y="227129"/>
                    </a:moveTo>
                    <a:lnTo>
                      <a:pt x="60909" y="232473"/>
                    </a:lnTo>
                    <a:lnTo>
                      <a:pt x="71602" y="258978"/>
                    </a:lnTo>
                    <a:lnTo>
                      <a:pt x="84852" y="253635"/>
                    </a:lnTo>
                    <a:lnTo>
                      <a:pt x="74161" y="227129"/>
                    </a:lnTo>
                    <a:close/>
                  </a:path>
                  <a:path w="648334" h="280670">
                    <a:moveTo>
                      <a:pt x="84852" y="253635"/>
                    </a:moveTo>
                    <a:lnTo>
                      <a:pt x="71602" y="258978"/>
                    </a:lnTo>
                    <a:lnTo>
                      <a:pt x="87007" y="258978"/>
                    </a:lnTo>
                    <a:lnTo>
                      <a:pt x="84852" y="253635"/>
                    </a:lnTo>
                    <a:close/>
                  </a:path>
                  <a:path w="648334" h="280670">
                    <a:moveTo>
                      <a:pt x="637463" y="0"/>
                    </a:moveTo>
                    <a:lnTo>
                      <a:pt x="74161" y="227129"/>
                    </a:lnTo>
                    <a:lnTo>
                      <a:pt x="84852" y="253635"/>
                    </a:lnTo>
                    <a:lnTo>
                      <a:pt x="648144" y="26492"/>
                    </a:lnTo>
                    <a:lnTo>
                      <a:pt x="637463" y="0"/>
                    </a:lnTo>
                    <a:close/>
                  </a:path>
                </a:pathLst>
              </a:custGeom>
              <a:solidFill>
                <a:srgbClr val="44546A"/>
              </a:solidFill>
            </p:spPr>
            <p:txBody>
              <a:bodyPr wrap="square" lIns="0" tIns="0" rIns="0" bIns="0" rtlCol="0"/>
              <a:lstStyle/>
              <a:p>
                <a:endParaRPr sz="1350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8890800" y="3962171"/>
                <a:ext cx="3199765" cy="527685"/>
              </a:xfrm>
              <a:custGeom>
                <a:avLst/>
                <a:gdLst/>
                <a:ahLst/>
                <a:cxnLst/>
                <a:rect l="l" t="t" r="r" b="b"/>
                <a:pathLst>
                  <a:path w="3199765" h="527685">
                    <a:moveTo>
                      <a:pt x="0" y="87870"/>
                    </a:moveTo>
                    <a:lnTo>
                      <a:pt x="6905" y="53667"/>
                    </a:lnTo>
                    <a:lnTo>
                      <a:pt x="25736" y="25736"/>
                    </a:lnTo>
                    <a:lnTo>
                      <a:pt x="53667" y="6905"/>
                    </a:lnTo>
                    <a:lnTo>
                      <a:pt x="87870" y="0"/>
                    </a:lnTo>
                    <a:lnTo>
                      <a:pt x="3111731" y="0"/>
                    </a:lnTo>
                    <a:lnTo>
                      <a:pt x="3145935" y="6905"/>
                    </a:lnTo>
                    <a:lnTo>
                      <a:pt x="3173865" y="25736"/>
                    </a:lnTo>
                    <a:lnTo>
                      <a:pt x="3192696" y="53667"/>
                    </a:lnTo>
                    <a:lnTo>
                      <a:pt x="3199601" y="87870"/>
                    </a:lnTo>
                    <a:lnTo>
                      <a:pt x="3199601" y="439330"/>
                    </a:lnTo>
                    <a:lnTo>
                      <a:pt x="3192696" y="473533"/>
                    </a:lnTo>
                    <a:lnTo>
                      <a:pt x="3173865" y="501463"/>
                    </a:lnTo>
                    <a:lnTo>
                      <a:pt x="3145935" y="520294"/>
                    </a:lnTo>
                    <a:lnTo>
                      <a:pt x="3111731" y="527200"/>
                    </a:lnTo>
                    <a:lnTo>
                      <a:pt x="87870" y="527200"/>
                    </a:lnTo>
                    <a:lnTo>
                      <a:pt x="53667" y="520294"/>
                    </a:lnTo>
                    <a:lnTo>
                      <a:pt x="25736" y="501463"/>
                    </a:lnTo>
                    <a:lnTo>
                      <a:pt x="6905" y="473533"/>
                    </a:lnTo>
                    <a:lnTo>
                      <a:pt x="0" y="439330"/>
                    </a:lnTo>
                    <a:lnTo>
                      <a:pt x="0" y="87870"/>
                    </a:lnTo>
                    <a:close/>
                  </a:path>
                </a:pathLst>
              </a:custGeom>
              <a:ln w="28575">
                <a:solidFill>
                  <a:srgbClr val="44546A"/>
                </a:solidFill>
              </a:ln>
            </p:spPr>
            <p:txBody>
              <a:bodyPr wrap="square" lIns="0" tIns="0" rIns="0" bIns="0" rtlCol="0"/>
              <a:lstStyle/>
              <a:p>
                <a:endParaRPr sz="1350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7223411" y="5949613"/>
                <a:ext cx="652780" cy="630555"/>
              </a:xfrm>
              <a:custGeom>
                <a:avLst/>
                <a:gdLst/>
                <a:ahLst/>
                <a:cxnLst/>
                <a:rect l="l" t="t" r="r" b="b"/>
                <a:pathLst>
                  <a:path w="652779" h="630554">
                    <a:moveTo>
                      <a:pt x="652615" y="590859"/>
                    </a:moveTo>
                    <a:lnTo>
                      <a:pt x="611258" y="619848"/>
                    </a:lnTo>
                    <a:lnTo>
                      <a:pt x="563953" y="630556"/>
                    </a:lnTo>
                    <a:lnTo>
                      <a:pt x="516432" y="622804"/>
                    </a:lnTo>
                    <a:lnTo>
                      <a:pt x="474426" y="596413"/>
                    </a:lnTo>
                    <a:lnTo>
                      <a:pt x="353587" y="480648"/>
                    </a:lnTo>
                    <a:lnTo>
                      <a:pt x="311581" y="454257"/>
                    </a:lnTo>
                    <a:lnTo>
                      <a:pt x="264059" y="446505"/>
                    </a:lnTo>
                    <a:lnTo>
                      <a:pt x="216753" y="457213"/>
                    </a:lnTo>
                    <a:lnTo>
                      <a:pt x="175397" y="486201"/>
                    </a:lnTo>
                    <a:lnTo>
                      <a:pt x="202586" y="443640"/>
                    </a:lnTo>
                    <a:lnTo>
                      <a:pt x="211256" y="395919"/>
                    </a:lnTo>
                    <a:lnTo>
                      <a:pt x="201474" y="348774"/>
                    </a:lnTo>
                    <a:lnTo>
                      <a:pt x="173307" y="307938"/>
                    </a:lnTo>
                    <a:lnTo>
                      <a:pt x="37949" y="178264"/>
                    </a:lnTo>
                    <a:lnTo>
                      <a:pt x="9782" y="137427"/>
                    </a:lnTo>
                    <a:lnTo>
                      <a:pt x="0" y="90282"/>
                    </a:lnTo>
                    <a:lnTo>
                      <a:pt x="8669" y="42561"/>
                    </a:lnTo>
                    <a:lnTo>
                      <a:pt x="35858" y="0"/>
                    </a:lnTo>
                  </a:path>
                </a:pathLst>
              </a:custGeom>
              <a:ln w="1904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350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254452" y="5037774"/>
                <a:ext cx="652780" cy="630555"/>
              </a:xfrm>
              <a:custGeom>
                <a:avLst/>
                <a:gdLst/>
                <a:ahLst/>
                <a:cxnLst/>
                <a:rect l="l" t="t" r="r" b="b"/>
                <a:pathLst>
                  <a:path w="652779" h="630554">
                    <a:moveTo>
                      <a:pt x="652615" y="590859"/>
                    </a:moveTo>
                    <a:lnTo>
                      <a:pt x="611258" y="619848"/>
                    </a:lnTo>
                    <a:lnTo>
                      <a:pt x="563953" y="630556"/>
                    </a:lnTo>
                    <a:lnTo>
                      <a:pt x="516432" y="622804"/>
                    </a:lnTo>
                    <a:lnTo>
                      <a:pt x="474426" y="596413"/>
                    </a:lnTo>
                    <a:lnTo>
                      <a:pt x="353587" y="480648"/>
                    </a:lnTo>
                    <a:lnTo>
                      <a:pt x="311581" y="454257"/>
                    </a:lnTo>
                    <a:lnTo>
                      <a:pt x="264059" y="446505"/>
                    </a:lnTo>
                    <a:lnTo>
                      <a:pt x="216753" y="457213"/>
                    </a:lnTo>
                    <a:lnTo>
                      <a:pt x="175397" y="486201"/>
                    </a:lnTo>
                    <a:lnTo>
                      <a:pt x="202586" y="443640"/>
                    </a:lnTo>
                    <a:lnTo>
                      <a:pt x="211256" y="395919"/>
                    </a:lnTo>
                    <a:lnTo>
                      <a:pt x="201474" y="348774"/>
                    </a:lnTo>
                    <a:lnTo>
                      <a:pt x="173307" y="307938"/>
                    </a:lnTo>
                    <a:lnTo>
                      <a:pt x="37949" y="178264"/>
                    </a:lnTo>
                    <a:lnTo>
                      <a:pt x="9782" y="137427"/>
                    </a:lnTo>
                    <a:lnTo>
                      <a:pt x="0" y="90282"/>
                    </a:lnTo>
                    <a:lnTo>
                      <a:pt x="8669" y="42561"/>
                    </a:lnTo>
                    <a:lnTo>
                      <a:pt x="35858" y="0"/>
                    </a:lnTo>
                  </a:path>
                </a:pathLst>
              </a:custGeom>
              <a:ln w="1904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350"/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5481028" y="4942332"/>
              <a:ext cx="3115151" cy="136576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>
                <a:spcBef>
                  <a:spcPts val="75"/>
                </a:spcBef>
              </a:pPr>
              <a:r>
                <a:rPr sz="825" spc="-8" dirty="0">
                  <a:latin typeface="Trebuchet MS"/>
                  <a:cs typeface="Trebuchet MS"/>
                </a:rPr>
                <a:t>Figures</a:t>
              </a:r>
              <a:r>
                <a:rPr sz="825" spc="-19" dirty="0">
                  <a:latin typeface="Trebuchet MS"/>
                  <a:cs typeface="Trebuchet MS"/>
                </a:rPr>
                <a:t> from</a:t>
              </a:r>
              <a:r>
                <a:rPr sz="825" spc="-30" dirty="0">
                  <a:latin typeface="Trebuchet MS"/>
                  <a:cs typeface="Trebuchet MS"/>
                </a:rPr>
                <a:t> </a:t>
              </a:r>
              <a:r>
                <a:rPr sz="825" i="1" spc="-64" dirty="0">
                  <a:latin typeface="Verdana"/>
                  <a:cs typeface="Verdana"/>
                </a:rPr>
                <a:t>Density</a:t>
              </a:r>
              <a:r>
                <a:rPr sz="825" i="1" spc="-60" dirty="0">
                  <a:latin typeface="Verdana"/>
                  <a:cs typeface="Verdana"/>
                </a:rPr>
                <a:t> </a:t>
              </a:r>
              <a:r>
                <a:rPr sz="825" i="1" spc="-71" dirty="0">
                  <a:latin typeface="Verdana"/>
                  <a:cs typeface="Verdana"/>
                </a:rPr>
                <a:t>Estimation </a:t>
              </a:r>
              <a:r>
                <a:rPr sz="825" i="1" spc="-56" dirty="0">
                  <a:latin typeface="Verdana"/>
                  <a:cs typeface="Verdana"/>
                </a:rPr>
                <a:t>Using</a:t>
              </a:r>
              <a:r>
                <a:rPr sz="825" i="1" spc="-71" dirty="0">
                  <a:latin typeface="Verdana"/>
                  <a:cs typeface="Verdana"/>
                </a:rPr>
                <a:t> </a:t>
              </a:r>
              <a:r>
                <a:rPr sz="825" i="1" spc="-64" dirty="0">
                  <a:latin typeface="Verdana"/>
                  <a:cs typeface="Verdana"/>
                </a:rPr>
                <a:t>Real</a:t>
              </a:r>
              <a:r>
                <a:rPr sz="825" i="1" spc="-56" dirty="0">
                  <a:latin typeface="Verdana"/>
                  <a:cs typeface="Verdana"/>
                </a:rPr>
                <a:t> </a:t>
              </a:r>
              <a:r>
                <a:rPr sz="825" i="1" spc="-41" dirty="0">
                  <a:latin typeface="Verdana"/>
                  <a:cs typeface="Verdana"/>
                </a:rPr>
                <a:t>NVP</a:t>
              </a:r>
              <a:r>
                <a:rPr sz="825" i="1" spc="-68" dirty="0">
                  <a:latin typeface="Verdana"/>
                  <a:cs typeface="Verdana"/>
                </a:rPr>
                <a:t> </a:t>
              </a:r>
              <a:r>
                <a:rPr sz="825" dirty="0">
                  <a:latin typeface="Trebuchet MS"/>
                  <a:cs typeface="Trebuchet MS"/>
                </a:rPr>
                <a:t>by</a:t>
              </a:r>
              <a:r>
                <a:rPr sz="825" spc="-15" dirty="0">
                  <a:latin typeface="Trebuchet MS"/>
                  <a:cs typeface="Trebuchet MS"/>
                </a:rPr>
                <a:t> </a:t>
              </a:r>
              <a:r>
                <a:rPr sz="825" dirty="0">
                  <a:latin typeface="Trebuchet MS"/>
                  <a:cs typeface="Trebuchet MS"/>
                </a:rPr>
                <a:t>Dinh</a:t>
              </a:r>
              <a:r>
                <a:rPr sz="825" spc="-30" dirty="0">
                  <a:latin typeface="Trebuchet MS"/>
                  <a:cs typeface="Trebuchet MS"/>
                </a:rPr>
                <a:t> </a:t>
              </a:r>
              <a:r>
                <a:rPr sz="825" spc="-34" dirty="0">
                  <a:latin typeface="Trebuchet MS"/>
                  <a:cs typeface="Trebuchet MS"/>
                </a:rPr>
                <a:t>et</a:t>
              </a:r>
              <a:r>
                <a:rPr sz="825" spc="-23" dirty="0">
                  <a:latin typeface="Trebuchet MS"/>
                  <a:cs typeface="Trebuchet MS"/>
                </a:rPr>
                <a:t> </a:t>
              </a:r>
              <a:r>
                <a:rPr sz="825" spc="-68" dirty="0">
                  <a:latin typeface="Trebuchet MS"/>
                  <a:cs typeface="Trebuchet MS"/>
                </a:rPr>
                <a:t>al.,</a:t>
              </a:r>
              <a:r>
                <a:rPr sz="825" spc="-15" dirty="0">
                  <a:latin typeface="Trebuchet MS"/>
                  <a:cs typeface="Trebuchet MS"/>
                </a:rPr>
                <a:t> 2017</a:t>
              </a:r>
              <a:endParaRPr sz="825">
                <a:latin typeface="Trebuchet MS"/>
                <a:cs typeface="Trebuchet MS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8966769" y="4885182"/>
              <a:ext cx="130969" cy="136576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>
                <a:spcBef>
                  <a:spcPts val="75"/>
                </a:spcBef>
              </a:pPr>
              <a:r>
                <a:rPr sz="825" spc="-19" dirty="0">
                  <a:latin typeface="Trebuchet MS"/>
                  <a:cs typeface="Trebuchet MS"/>
                </a:rPr>
                <a:t>53</a:t>
              </a:r>
              <a:endParaRPr sz="825">
                <a:latin typeface="Trebuchet MS"/>
                <a:cs typeface="Trebuchet MS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894386" y="3878199"/>
              <a:ext cx="2175034" cy="932948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 marR="3810">
                <a:spcBef>
                  <a:spcPts val="75"/>
                </a:spcBef>
              </a:pPr>
              <a:r>
                <a:rPr sz="1500" spc="49" dirty="0">
                  <a:latin typeface="Trebuchet MS"/>
                  <a:cs typeface="Trebuchet MS"/>
                </a:rPr>
                <a:t>The</a:t>
              </a:r>
              <a:r>
                <a:rPr sz="1500" spc="98" dirty="0">
                  <a:latin typeface="Trebuchet MS"/>
                  <a:cs typeface="Trebuchet MS"/>
                </a:rPr>
                <a:t> </a:t>
              </a:r>
              <a:r>
                <a:rPr sz="1500" dirty="0">
                  <a:latin typeface="Trebuchet MS"/>
                  <a:cs typeface="Trebuchet MS"/>
                </a:rPr>
                <a:t>channel-</a:t>
              </a:r>
              <a:r>
                <a:rPr sz="1500" spc="60" dirty="0">
                  <a:latin typeface="Trebuchet MS"/>
                  <a:cs typeface="Trebuchet MS"/>
                </a:rPr>
                <a:t>wise</a:t>
              </a:r>
              <a:r>
                <a:rPr sz="1500" spc="101" dirty="0">
                  <a:latin typeface="Trebuchet MS"/>
                  <a:cs typeface="Trebuchet MS"/>
                </a:rPr>
                <a:t> </a:t>
              </a:r>
              <a:r>
                <a:rPr sz="1500" spc="64" dirty="0">
                  <a:latin typeface="Trebuchet MS"/>
                  <a:cs typeface="Trebuchet MS"/>
                </a:rPr>
                <a:t>mask </a:t>
              </a:r>
              <a:r>
                <a:rPr sz="1500" dirty="0">
                  <a:latin typeface="Trebuchet MS"/>
                  <a:cs typeface="Trebuchet MS"/>
                </a:rPr>
                <a:t>b</a:t>
              </a:r>
              <a:r>
                <a:rPr sz="1500" spc="-53" dirty="0">
                  <a:latin typeface="Trebuchet MS"/>
                  <a:cs typeface="Trebuchet MS"/>
                </a:rPr>
                <a:t> </a:t>
              </a:r>
              <a:r>
                <a:rPr sz="1500" dirty="0">
                  <a:latin typeface="Trebuchet MS"/>
                  <a:cs typeface="Trebuchet MS"/>
                </a:rPr>
                <a:t>is</a:t>
              </a:r>
              <a:r>
                <a:rPr sz="1500" spc="-53" dirty="0">
                  <a:latin typeface="Trebuchet MS"/>
                  <a:cs typeface="Trebuchet MS"/>
                </a:rPr>
                <a:t> </a:t>
              </a:r>
              <a:r>
                <a:rPr sz="1500" spc="38" dirty="0">
                  <a:latin typeface="Trebuchet MS"/>
                  <a:cs typeface="Trebuchet MS"/>
                </a:rPr>
                <a:t>1</a:t>
              </a:r>
              <a:r>
                <a:rPr sz="1500" spc="-49" dirty="0">
                  <a:latin typeface="Trebuchet MS"/>
                  <a:cs typeface="Trebuchet MS"/>
                </a:rPr>
                <a:t> </a:t>
              </a:r>
              <a:r>
                <a:rPr sz="1500" spc="-30" dirty="0">
                  <a:latin typeface="Trebuchet MS"/>
                  <a:cs typeface="Trebuchet MS"/>
                </a:rPr>
                <a:t>for</a:t>
              </a:r>
              <a:r>
                <a:rPr sz="1500" spc="-53" dirty="0">
                  <a:latin typeface="Trebuchet MS"/>
                  <a:cs typeface="Trebuchet MS"/>
                </a:rPr>
                <a:t> </a:t>
              </a:r>
              <a:r>
                <a:rPr sz="1500" spc="-8" dirty="0">
                  <a:latin typeface="Trebuchet MS"/>
                  <a:cs typeface="Trebuchet MS"/>
                </a:rPr>
                <a:t>the</a:t>
              </a:r>
              <a:r>
                <a:rPr sz="1500" spc="-49" dirty="0">
                  <a:latin typeface="Trebuchet MS"/>
                  <a:cs typeface="Trebuchet MS"/>
                </a:rPr>
                <a:t> </a:t>
              </a:r>
              <a:r>
                <a:rPr sz="1500" spc="-41" dirty="0">
                  <a:latin typeface="Trebuchet MS"/>
                  <a:cs typeface="Trebuchet MS"/>
                </a:rPr>
                <a:t>first</a:t>
              </a:r>
              <a:r>
                <a:rPr sz="1500" spc="-56" dirty="0">
                  <a:latin typeface="Trebuchet MS"/>
                  <a:cs typeface="Trebuchet MS"/>
                </a:rPr>
                <a:t> </a:t>
              </a:r>
              <a:r>
                <a:rPr sz="1500" spc="-45" dirty="0">
                  <a:latin typeface="Trebuchet MS"/>
                  <a:cs typeface="Trebuchet MS"/>
                </a:rPr>
                <a:t>half</a:t>
              </a:r>
              <a:r>
                <a:rPr sz="1500" spc="-53" dirty="0">
                  <a:latin typeface="Trebuchet MS"/>
                  <a:cs typeface="Trebuchet MS"/>
                </a:rPr>
                <a:t> </a:t>
              </a:r>
              <a:r>
                <a:rPr sz="1500" spc="-19" dirty="0">
                  <a:latin typeface="Trebuchet MS"/>
                  <a:cs typeface="Trebuchet MS"/>
                </a:rPr>
                <a:t>of </a:t>
              </a:r>
              <a:r>
                <a:rPr sz="1500" spc="-8" dirty="0">
                  <a:latin typeface="Trebuchet MS"/>
                  <a:cs typeface="Trebuchet MS"/>
                </a:rPr>
                <a:t>the</a:t>
              </a:r>
              <a:r>
                <a:rPr sz="1500" spc="-90" dirty="0">
                  <a:latin typeface="Trebuchet MS"/>
                  <a:cs typeface="Trebuchet MS"/>
                </a:rPr>
                <a:t> </a:t>
              </a:r>
              <a:r>
                <a:rPr sz="1500" spc="-8" dirty="0">
                  <a:latin typeface="Trebuchet MS"/>
                  <a:cs typeface="Trebuchet MS"/>
                </a:rPr>
                <a:t>channel</a:t>
              </a:r>
              <a:r>
                <a:rPr sz="1500" spc="-90" dirty="0">
                  <a:latin typeface="Trebuchet MS"/>
                  <a:cs typeface="Trebuchet MS"/>
                </a:rPr>
                <a:t> </a:t>
              </a:r>
              <a:r>
                <a:rPr sz="1500" spc="-8" dirty="0">
                  <a:latin typeface="Trebuchet MS"/>
                  <a:cs typeface="Trebuchet MS"/>
                </a:rPr>
                <a:t>dimensions </a:t>
              </a:r>
              <a:r>
                <a:rPr sz="1500" dirty="0">
                  <a:latin typeface="Trebuchet MS"/>
                  <a:cs typeface="Trebuchet MS"/>
                </a:rPr>
                <a:t>and</a:t>
              </a:r>
              <a:r>
                <a:rPr sz="1500" spc="-26" dirty="0">
                  <a:latin typeface="Trebuchet MS"/>
                  <a:cs typeface="Trebuchet MS"/>
                </a:rPr>
                <a:t> </a:t>
              </a:r>
              <a:r>
                <a:rPr sz="1500" spc="38" dirty="0">
                  <a:latin typeface="Trebuchet MS"/>
                  <a:cs typeface="Trebuchet MS"/>
                </a:rPr>
                <a:t>0</a:t>
              </a:r>
              <a:r>
                <a:rPr sz="1500" spc="-26" dirty="0">
                  <a:latin typeface="Trebuchet MS"/>
                  <a:cs typeface="Trebuchet MS"/>
                </a:rPr>
                <a:t> </a:t>
              </a:r>
              <a:r>
                <a:rPr sz="1500" spc="-30" dirty="0">
                  <a:latin typeface="Trebuchet MS"/>
                  <a:cs typeface="Trebuchet MS"/>
                </a:rPr>
                <a:t>for</a:t>
              </a:r>
              <a:r>
                <a:rPr sz="1500" spc="-26" dirty="0">
                  <a:latin typeface="Trebuchet MS"/>
                  <a:cs typeface="Trebuchet MS"/>
                </a:rPr>
                <a:t> </a:t>
              </a:r>
              <a:r>
                <a:rPr sz="1500" spc="-8" dirty="0">
                  <a:latin typeface="Trebuchet MS"/>
                  <a:cs typeface="Trebuchet MS"/>
                </a:rPr>
                <a:t>the</a:t>
              </a:r>
              <a:r>
                <a:rPr sz="1500" spc="-23" dirty="0">
                  <a:latin typeface="Trebuchet MS"/>
                  <a:cs typeface="Trebuchet MS"/>
                </a:rPr>
                <a:t> </a:t>
              </a:r>
              <a:r>
                <a:rPr sz="1500" dirty="0">
                  <a:latin typeface="Trebuchet MS"/>
                  <a:cs typeface="Trebuchet MS"/>
                </a:rPr>
                <a:t>second</a:t>
              </a:r>
              <a:r>
                <a:rPr sz="1500" spc="-26" dirty="0">
                  <a:latin typeface="Trebuchet MS"/>
                  <a:cs typeface="Trebuchet MS"/>
                </a:rPr>
                <a:t> </a:t>
              </a:r>
              <a:r>
                <a:rPr sz="1500" spc="-56" dirty="0">
                  <a:latin typeface="Trebuchet MS"/>
                  <a:cs typeface="Trebuchet MS"/>
                </a:rPr>
                <a:t>half.</a:t>
              </a:r>
              <a:endParaRPr sz="1500">
                <a:latin typeface="Trebuchet MS"/>
                <a:cs typeface="Trebuchet MS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894138" y="4651750"/>
              <a:ext cx="578644" cy="265938"/>
            </a:xfrm>
            <a:prstGeom prst="rect">
              <a:avLst/>
            </a:prstGeom>
          </p:spPr>
          <p:txBody>
            <a:bodyPr vert="horz" wrap="square" lIns="0" tIns="11906" rIns="0" bIns="0" rtlCol="0">
              <a:spAutoFit/>
            </a:bodyPr>
            <a:lstStyle/>
            <a:p>
              <a:pPr marL="28575">
                <a:spcBef>
                  <a:spcPts val="94"/>
                </a:spcBef>
              </a:pPr>
              <a:r>
                <a:rPr sz="2475" b="1" spc="-11" baseline="10101" dirty="0">
                  <a:latin typeface="Courier New"/>
                  <a:cs typeface="Courier New"/>
                </a:rPr>
                <a:t>x</a:t>
              </a:r>
              <a:r>
                <a:rPr sz="1163" spc="-8" dirty="0">
                  <a:latin typeface="LM Roman 7"/>
                  <a:cs typeface="LM Roman 7"/>
                </a:rPr>
                <a:t>1:</a:t>
              </a:r>
              <a:r>
                <a:rPr sz="1163" i="1" spc="-8" dirty="0">
                  <a:latin typeface="Alfios"/>
                  <a:cs typeface="Alfios"/>
                </a:rPr>
                <a:t>d/</a:t>
              </a:r>
              <a:r>
                <a:rPr sz="1163" spc="-8" dirty="0">
                  <a:latin typeface="LM Roman 7"/>
                  <a:cs typeface="LM Roman 7"/>
                </a:rPr>
                <a:t>2</a:t>
              </a:r>
              <a:endParaRPr sz="1163">
                <a:latin typeface="LM Roman 7"/>
                <a:cs typeface="LM Roman 7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427968" y="4124827"/>
              <a:ext cx="581978" cy="265938"/>
            </a:xfrm>
            <a:prstGeom prst="rect">
              <a:avLst/>
            </a:prstGeom>
          </p:spPr>
          <p:txBody>
            <a:bodyPr vert="horz" wrap="square" lIns="0" tIns="11906" rIns="0" bIns="0" rtlCol="0">
              <a:spAutoFit/>
            </a:bodyPr>
            <a:lstStyle/>
            <a:p>
              <a:pPr marL="28575">
                <a:spcBef>
                  <a:spcPts val="94"/>
                </a:spcBef>
              </a:pPr>
              <a:r>
                <a:rPr sz="2475" b="1" spc="56" baseline="10101" dirty="0">
                  <a:latin typeface="Courier New"/>
                  <a:cs typeface="Courier New"/>
                </a:rPr>
                <a:t>x</a:t>
              </a:r>
              <a:r>
                <a:rPr sz="1163" i="1" spc="38" dirty="0">
                  <a:latin typeface="Alfios"/>
                  <a:cs typeface="Alfios"/>
                </a:rPr>
                <a:t>d/</a:t>
              </a:r>
              <a:r>
                <a:rPr sz="1163" spc="38" dirty="0">
                  <a:latin typeface="BM EULJIRO TTF"/>
                  <a:cs typeface="BM EULJIRO TTF"/>
                </a:rPr>
                <a:t>2:</a:t>
              </a:r>
              <a:r>
                <a:rPr sz="1163" i="1" spc="38" dirty="0">
                  <a:latin typeface="Alfios"/>
                  <a:cs typeface="Alfios"/>
                </a:rPr>
                <a:t>d</a:t>
              </a:r>
              <a:endParaRPr sz="1163">
                <a:latin typeface="Alfios"/>
                <a:cs typeface="Alfios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6727155" y="3046858"/>
              <a:ext cx="2335530" cy="668773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64294">
                <a:spcBef>
                  <a:spcPts val="75"/>
                </a:spcBef>
              </a:pPr>
              <a:r>
                <a:rPr sz="1350" spc="-15" dirty="0">
                  <a:solidFill>
                    <a:srgbClr val="FF9900"/>
                  </a:solidFill>
                  <a:latin typeface="Trebuchet MS"/>
                  <a:cs typeface="Trebuchet MS"/>
                </a:rPr>
                <a:t>After</a:t>
              </a:r>
              <a:r>
                <a:rPr sz="1350" spc="-60" dirty="0">
                  <a:solidFill>
                    <a:srgbClr val="FF9900"/>
                  </a:solidFill>
                  <a:latin typeface="Trebuchet MS"/>
                  <a:cs typeface="Trebuchet MS"/>
                </a:rPr>
                <a:t> </a:t>
              </a:r>
              <a:r>
                <a:rPr sz="1350" dirty="0">
                  <a:solidFill>
                    <a:srgbClr val="FF9900"/>
                  </a:solidFill>
                  <a:latin typeface="Trebuchet MS"/>
                  <a:cs typeface="Trebuchet MS"/>
                </a:rPr>
                <a:t>a</a:t>
              </a:r>
              <a:r>
                <a:rPr sz="1350" spc="-56" dirty="0">
                  <a:solidFill>
                    <a:srgbClr val="FF9900"/>
                  </a:solidFill>
                  <a:latin typeface="Trebuchet MS"/>
                  <a:cs typeface="Trebuchet MS"/>
                </a:rPr>
                <a:t> </a:t>
              </a:r>
              <a:r>
                <a:rPr sz="1350" spc="34" dirty="0">
                  <a:solidFill>
                    <a:srgbClr val="FF9900"/>
                  </a:solidFill>
                  <a:latin typeface="Trebuchet MS"/>
                  <a:cs typeface="Trebuchet MS"/>
                </a:rPr>
                <a:t>“</a:t>
              </a:r>
              <a:r>
                <a:rPr sz="1313" spc="34" dirty="0">
                  <a:solidFill>
                    <a:srgbClr val="FF9900"/>
                  </a:solidFill>
                  <a:latin typeface="Trebuchet MS"/>
                  <a:cs typeface="Trebuchet MS"/>
                </a:rPr>
                <a:t>squeeze</a:t>
              </a:r>
              <a:r>
                <a:rPr sz="1350" spc="34" dirty="0">
                  <a:solidFill>
                    <a:srgbClr val="FF9900"/>
                  </a:solidFill>
                  <a:latin typeface="Trebuchet MS"/>
                  <a:cs typeface="Trebuchet MS"/>
                </a:rPr>
                <a:t>”</a:t>
              </a:r>
              <a:r>
                <a:rPr sz="1350" spc="-60" dirty="0">
                  <a:solidFill>
                    <a:srgbClr val="FF9900"/>
                  </a:solidFill>
                  <a:latin typeface="Trebuchet MS"/>
                  <a:cs typeface="Trebuchet MS"/>
                </a:rPr>
                <a:t> </a:t>
              </a:r>
              <a:r>
                <a:rPr sz="1350" spc="-8" dirty="0">
                  <a:solidFill>
                    <a:srgbClr val="FF9900"/>
                  </a:solidFill>
                  <a:latin typeface="Trebuchet MS"/>
                  <a:cs typeface="Trebuchet MS"/>
                </a:rPr>
                <a:t>operation</a:t>
              </a:r>
              <a:endParaRPr sz="1350">
                <a:latin typeface="Trebuchet MS"/>
                <a:cs typeface="Trebuchet MS"/>
              </a:endParaRPr>
            </a:p>
            <a:p>
              <a:pPr marL="9525">
                <a:spcBef>
                  <a:spcPts val="1020"/>
                </a:spcBef>
              </a:pP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The squeezing </a:t>
              </a:r>
              <a:r>
                <a:rPr sz="1050" spc="-23" dirty="0">
                  <a:solidFill>
                    <a:srgbClr val="0432FF"/>
                  </a:solidFill>
                  <a:latin typeface="Trebuchet MS"/>
                  <a:cs typeface="Trebuchet MS"/>
                </a:rPr>
                <a:t>operation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 reduces</a:t>
              </a:r>
              <a:r>
                <a:rPr sz="1050" spc="4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the</a:t>
              </a:r>
              <a:endParaRPr sz="1050">
                <a:latin typeface="Trebuchet MS"/>
                <a:cs typeface="Trebuchet MS"/>
              </a:endParaRPr>
            </a:p>
            <a:p>
              <a:pPr marL="9525">
                <a:spcBef>
                  <a:spcPts val="15"/>
                </a:spcBef>
              </a:pP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4</a:t>
              </a:r>
              <a:r>
                <a:rPr sz="1050" spc="-23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135" dirty="0">
                  <a:solidFill>
                    <a:srgbClr val="0432FF"/>
                  </a:solidFill>
                  <a:latin typeface="Trebuchet MS"/>
                  <a:cs typeface="Trebuchet MS"/>
                </a:rPr>
                <a:t>×</a:t>
              </a:r>
              <a:r>
                <a:rPr sz="1050" spc="-15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4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135" dirty="0">
                  <a:solidFill>
                    <a:srgbClr val="0432FF"/>
                  </a:solidFill>
                  <a:latin typeface="Trebuchet MS"/>
                  <a:cs typeface="Trebuchet MS"/>
                </a:rPr>
                <a:t>×</a:t>
              </a:r>
              <a:r>
                <a:rPr sz="1050" spc="-15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1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tensor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-30" dirty="0">
                  <a:solidFill>
                    <a:srgbClr val="0432FF"/>
                  </a:solidFill>
                  <a:latin typeface="Trebuchet MS"/>
                  <a:cs typeface="Trebuchet MS"/>
                </a:rPr>
                <a:t>into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a</a:t>
              </a:r>
              <a:r>
                <a:rPr sz="1050" spc="-15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2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135" dirty="0">
                  <a:solidFill>
                    <a:srgbClr val="0432FF"/>
                  </a:solidFill>
                  <a:latin typeface="Trebuchet MS"/>
                  <a:cs typeface="Trebuchet MS"/>
                </a:rPr>
                <a:t>×</a:t>
              </a:r>
              <a:r>
                <a:rPr sz="1050" spc="-15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2</a:t>
              </a:r>
              <a:r>
                <a:rPr sz="1050" spc="-19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135" dirty="0">
                  <a:solidFill>
                    <a:srgbClr val="0432FF"/>
                  </a:solidFill>
                  <a:latin typeface="Trebuchet MS"/>
                  <a:cs typeface="Trebuchet MS"/>
                </a:rPr>
                <a:t>×</a:t>
              </a:r>
              <a:r>
                <a:rPr sz="1050" spc="-15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dirty="0">
                  <a:solidFill>
                    <a:srgbClr val="0432FF"/>
                  </a:solidFill>
                  <a:latin typeface="Trebuchet MS"/>
                  <a:cs typeface="Trebuchet MS"/>
                </a:rPr>
                <a:t>4</a:t>
              </a:r>
              <a:r>
                <a:rPr sz="1050" spc="-23" dirty="0">
                  <a:solidFill>
                    <a:srgbClr val="0432FF"/>
                  </a:solidFill>
                  <a:latin typeface="Trebuchet MS"/>
                  <a:cs typeface="Trebuchet MS"/>
                </a:rPr>
                <a:t> </a:t>
              </a:r>
              <a:r>
                <a:rPr sz="1050" spc="-8" dirty="0">
                  <a:solidFill>
                    <a:srgbClr val="0432FF"/>
                  </a:solidFill>
                  <a:latin typeface="Trebuchet MS"/>
                  <a:cs typeface="Trebuchet MS"/>
                </a:rPr>
                <a:t>tensor</a:t>
              </a:r>
              <a:endParaRPr sz="1050">
                <a:latin typeface="Trebuchet MS"/>
                <a:cs typeface="Trebuchet M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92C9061-4F39-4926-93D6-4A2D3B6AF438}"/>
              </a:ext>
            </a:extLst>
          </p:cNvPr>
          <p:cNvSpPr txBox="1"/>
          <p:nvPr/>
        </p:nvSpPr>
        <p:spPr>
          <a:xfrm>
            <a:off x="2326590" y="3434612"/>
            <a:ext cx="1723549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C000"/>
                </a:solidFill>
              </a:rPr>
              <a:t> 9   10   13   14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C000"/>
                </a:solidFill>
              </a:rPr>
              <a:t>11  12   15   16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0E7475-C8B9-4FDC-84F5-79E32E0D5174}"/>
              </a:ext>
            </a:extLst>
          </p:cNvPr>
          <p:cNvSpPr txBox="1"/>
          <p:nvPr/>
        </p:nvSpPr>
        <p:spPr>
          <a:xfrm>
            <a:off x="5766783" y="4003427"/>
            <a:ext cx="825867" cy="456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C000"/>
                </a:solidFill>
              </a:rPr>
              <a:t> 9   13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22D21C-7468-4916-89E0-3E314D18AB32}"/>
              </a:ext>
            </a:extLst>
          </p:cNvPr>
          <p:cNvSpPr txBox="1"/>
          <p:nvPr/>
        </p:nvSpPr>
        <p:spPr>
          <a:xfrm>
            <a:off x="5427887" y="37919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10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6390E9-1787-483D-82E0-F1E26A0ED806}"/>
              </a:ext>
            </a:extLst>
          </p:cNvPr>
          <p:cNvSpPr txBox="1"/>
          <p:nvPr/>
        </p:nvSpPr>
        <p:spPr>
          <a:xfrm>
            <a:off x="5050895" y="339141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11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F8C6C6-47A6-4DF3-BD0D-68C3F1B14D82}"/>
              </a:ext>
            </a:extLst>
          </p:cNvPr>
          <p:cNvSpPr txBox="1"/>
          <p:nvPr/>
        </p:nvSpPr>
        <p:spPr>
          <a:xfrm>
            <a:off x="4695639" y="30168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12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742C93-2B88-4BD3-A3EC-0EFAE9E41E5F}"/>
              </a:ext>
            </a:extLst>
          </p:cNvPr>
          <p:cNvSpPr/>
          <p:nvPr/>
        </p:nvSpPr>
        <p:spPr>
          <a:xfrm>
            <a:off x="152400" y="4450080"/>
            <a:ext cx="4495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hlinkClick r:id="rId4"/>
              </a:rPr>
              <a:t>https://bjlkeng.io/posts/normalizing-flows-with-real-nvp/</a:t>
            </a:r>
            <a:endParaRPr lang="en-IN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90" dirty="0" err="1"/>
              <a:t>RealNVP</a:t>
            </a:r>
            <a:r>
              <a:rPr lang="en-IN" spc="-113" dirty="0"/>
              <a:t> </a:t>
            </a:r>
            <a:r>
              <a:rPr lang="en-IN" spc="56" dirty="0"/>
              <a:t>Architecture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07962" rIns="0" bIns="0" rtlCol="0" anchor="ctr" anchorCtr="0">
            <a:spAutoFit/>
          </a:bodyPr>
          <a:lstStyle/>
          <a:p>
            <a:pPr marL="2095976">
              <a:spcBef>
                <a:spcPts val="38"/>
              </a:spcBef>
            </a:pPr>
            <a:r>
              <a:rPr spc="-19" dirty="0"/>
              <a:t>51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123950"/>
            <a:ext cx="7733824" cy="2519440"/>
          </a:xfrm>
          <a:prstGeom prst="rect">
            <a:avLst/>
          </a:prstGeom>
        </p:spPr>
        <p:txBody>
          <a:bodyPr vert="horz" wrap="square" lIns="0" tIns="110014" rIns="0" bIns="0" rtlCol="0">
            <a:spAutoFit/>
          </a:bodyPr>
          <a:lstStyle/>
          <a:p>
            <a:pPr marL="19050">
              <a:spcBef>
                <a:spcPts val="866"/>
              </a:spcBef>
            </a:pPr>
            <a:r>
              <a:rPr sz="2100" spc="-15" dirty="0">
                <a:latin typeface="Trebuchet MS"/>
                <a:cs typeface="Trebuchet MS"/>
              </a:rPr>
              <a:t>Input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x: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spc="113" dirty="0">
                <a:latin typeface="Trebuchet MS"/>
                <a:cs typeface="Trebuchet MS"/>
              </a:rPr>
              <a:t>32×32×c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image</a:t>
            </a:r>
            <a:endParaRPr sz="2100" dirty="0">
              <a:latin typeface="Trebuchet MS"/>
              <a:cs typeface="Trebuchet MS"/>
            </a:endParaRPr>
          </a:p>
          <a:p>
            <a:pPr marL="190024" indent="-170974">
              <a:spcBef>
                <a:spcPts val="791"/>
              </a:spcBef>
              <a:buFont typeface="Arial"/>
              <a:buChar char="•"/>
              <a:tabLst>
                <a:tab pos="190024" algn="l"/>
              </a:tabLst>
            </a:pPr>
            <a:r>
              <a:rPr sz="2100" dirty="0">
                <a:latin typeface="Trebuchet MS"/>
                <a:cs typeface="Trebuchet MS"/>
              </a:rPr>
              <a:t>Layer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1: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26" dirty="0">
                <a:latin typeface="Trebuchet MS"/>
                <a:cs typeface="Trebuchet MS"/>
              </a:rPr>
              <a:t>(Checkerboard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spc="49" dirty="0">
                <a:latin typeface="Trebuchet MS"/>
                <a:cs typeface="Trebuchet MS"/>
              </a:rPr>
              <a:t>×3,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channel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squeeze,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channel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26" dirty="0">
                <a:latin typeface="Trebuchet MS"/>
                <a:cs typeface="Trebuchet MS"/>
              </a:rPr>
              <a:t>×3)</a:t>
            </a:r>
            <a:endParaRPr sz="2100" dirty="0">
              <a:latin typeface="Trebuchet MS"/>
              <a:cs typeface="Trebuchet MS"/>
            </a:endParaRPr>
          </a:p>
          <a:p>
            <a:pPr marL="361950">
              <a:spcBef>
                <a:spcPts val="30"/>
              </a:spcBef>
            </a:pPr>
            <a:r>
              <a:rPr dirty="0">
                <a:latin typeface="Carlito"/>
                <a:cs typeface="Carlito"/>
              </a:rPr>
              <a:t>–</a:t>
            </a:r>
            <a:r>
              <a:rPr spc="15" dirty="0">
                <a:latin typeface="Carlito"/>
                <a:cs typeface="Carlito"/>
              </a:rPr>
              <a:t> </a:t>
            </a:r>
            <a:r>
              <a:rPr spc="-15" dirty="0">
                <a:latin typeface="Trebuchet MS"/>
                <a:cs typeface="Trebuchet MS"/>
              </a:rPr>
              <a:t>Split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result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get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30" dirty="0">
                <a:latin typeface="Trebuchet MS"/>
                <a:cs typeface="Trebuchet MS"/>
              </a:rPr>
              <a:t>x</a:t>
            </a:r>
            <a:r>
              <a:rPr spc="-45" baseline="-17361" dirty="0">
                <a:latin typeface="Trebuchet MS"/>
                <a:cs typeface="Trebuchet MS"/>
              </a:rPr>
              <a:t>1</a:t>
            </a:r>
            <a:r>
              <a:rPr spc="-30" dirty="0">
                <a:latin typeface="Trebuchet MS"/>
                <a:cs typeface="Trebuchet MS"/>
              </a:rPr>
              <a:t>: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86" dirty="0">
                <a:latin typeface="Trebuchet MS"/>
                <a:cs typeface="Trebuchet MS"/>
              </a:rPr>
              <a:t>16×16×2c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z</a:t>
            </a:r>
            <a:r>
              <a:rPr spc="-90" baseline="-17361" dirty="0">
                <a:latin typeface="Trebuchet MS"/>
                <a:cs typeface="Trebuchet MS"/>
              </a:rPr>
              <a:t>1</a:t>
            </a:r>
            <a:r>
              <a:rPr spc="-60" dirty="0">
                <a:latin typeface="Trebuchet MS"/>
                <a:cs typeface="Trebuchet MS"/>
              </a:rPr>
              <a:t>: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86" dirty="0">
                <a:latin typeface="Trebuchet MS"/>
                <a:cs typeface="Trebuchet MS"/>
              </a:rPr>
              <a:t>16×16×2c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90" dirty="0">
                <a:latin typeface="Trebuchet MS"/>
                <a:cs typeface="Trebuchet MS"/>
              </a:rPr>
              <a:t>(fine-</a:t>
            </a:r>
            <a:r>
              <a:rPr spc="-15" dirty="0">
                <a:latin typeface="Trebuchet MS"/>
                <a:cs typeface="Trebuchet MS"/>
              </a:rPr>
              <a:t>grained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latents)</a:t>
            </a:r>
            <a:endParaRPr dirty="0">
              <a:latin typeface="Trebuchet MS"/>
              <a:cs typeface="Trebuchet MS"/>
            </a:endParaRPr>
          </a:p>
          <a:p>
            <a:pPr marL="190024" indent="-170974">
              <a:spcBef>
                <a:spcPts val="689"/>
              </a:spcBef>
              <a:buFont typeface="Arial"/>
              <a:buChar char="•"/>
              <a:tabLst>
                <a:tab pos="190024" algn="l"/>
              </a:tabLst>
            </a:pPr>
            <a:r>
              <a:rPr sz="2100" dirty="0">
                <a:latin typeface="Trebuchet MS"/>
                <a:cs typeface="Trebuchet MS"/>
              </a:rPr>
              <a:t>Layer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2: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26" dirty="0">
                <a:latin typeface="Trebuchet MS"/>
                <a:cs typeface="Trebuchet MS"/>
              </a:rPr>
              <a:t>(Checkerboard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spc="49" dirty="0">
                <a:latin typeface="Trebuchet MS"/>
                <a:cs typeface="Trebuchet MS"/>
              </a:rPr>
              <a:t>×3,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channel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squeeze,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channel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26" dirty="0">
                <a:latin typeface="Trebuchet MS"/>
                <a:cs typeface="Trebuchet MS"/>
              </a:rPr>
              <a:t>×3)</a:t>
            </a:r>
            <a:endParaRPr sz="2100" dirty="0">
              <a:latin typeface="Trebuchet MS"/>
              <a:cs typeface="Trebuchet MS"/>
            </a:endParaRPr>
          </a:p>
          <a:p>
            <a:pPr marL="361950">
              <a:spcBef>
                <a:spcPts val="30"/>
              </a:spcBef>
            </a:pPr>
            <a:r>
              <a:rPr dirty="0">
                <a:latin typeface="Carlito"/>
                <a:cs typeface="Carlito"/>
              </a:rPr>
              <a:t>–</a:t>
            </a:r>
            <a:r>
              <a:rPr spc="8" dirty="0">
                <a:latin typeface="Carlito"/>
                <a:cs typeface="Carlito"/>
              </a:rPr>
              <a:t> </a:t>
            </a:r>
            <a:r>
              <a:rPr spc="-15" dirty="0">
                <a:latin typeface="Trebuchet MS"/>
                <a:cs typeface="Trebuchet MS"/>
              </a:rPr>
              <a:t>Split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result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get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30" dirty="0">
                <a:latin typeface="Trebuchet MS"/>
                <a:cs typeface="Trebuchet MS"/>
              </a:rPr>
              <a:t>x</a:t>
            </a:r>
            <a:r>
              <a:rPr spc="-45" baseline="-17361" dirty="0">
                <a:latin typeface="Trebuchet MS"/>
                <a:cs typeface="Trebuchet MS"/>
              </a:rPr>
              <a:t>2</a:t>
            </a:r>
            <a:r>
              <a:rPr spc="-30" dirty="0">
                <a:latin typeface="Trebuchet MS"/>
                <a:cs typeface="Trebuchet MS"/>
              </a:rPr>
              <a:t>: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101" dirty="0">
                <a:latin typeface="Trebuchet MS"/>
                <a:cs typeface="Trebuchet MS"/>
              </a:rPr>
              <a:t>8×8×4c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z</a:t>
            </a:r>
            <a:r>
              <a:rPr spc="-90" baseline="-17361" dirty="0">
                <a:latin typeface="Trebuchet MS"/>
                <a:cs typeface="Trebuchet MS"/>
              </a:rPr>
              <a:t>2</a:t>
            </a:r>
            <a:r>
              <a:rPr spc="-60" dirty="0">
                <a:latin typeface="Trebuchet MS"/>
                <a:cs typeface="Trebuchet MS"/>
              </a:rPr>
              <a:t>: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101" dirty="0">
                <a:latin typeface="Trebuchet MS"/>
                <a:cs typeface="Trebuchet MS"/>
              </a:rPr>
              <a:t>8×8×4c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23" dirty="0">
                <a:latin typeface="Trebuchet MS"/>
                <a:cs typeface="Trebuchet MS"/>
              </a:rPr>
              <a:t>(coarser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latents)</a:t>
            </a:r>
            <a:endParaRPr dirty="0">
              <a:latin typeface="Trebuchet MS"/>
              <a:cs typeface="Trebuchet MS"/>
            </a:endParaRPr>
          </a:p>
          <a:p>
            <a:pPr marL="190024" indent="-170974">
              <a:lnSpc>
                <a:spcPts val="2497"/>
              </a:lnSpc>
              <a:spcBef>
                <a:spcPts val="761"/>
              </a:spcBef>
              <a:buFont typeface="Arial"/>
              <a:buChar char="•"/>
              <a:tabLst>
                <a:tab pos="190024" algn="l"/>
              </a:tabLst>
            </a:pPr>
            <a:r>
              <a:rPr sz="2100" dirty="0">
                <a:latin typeface="Trebuchet MS"/>
                <a:cs typeface="Trebuchet MS"/>
              </a:rPr>
              <a:t>Layer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3: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26" dirty="0">
                <a:latin typeface="Trebuchet MS"/>
                <a:cs typeface="Trebuchet MS"/>
              </a:rPr>
              <a:t>(Checkerboard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spc="49" dirty="0">
                <a:latin typeface="Trebuchet MS"/>
                <a:cs typeface="Trebuchet MS"/>
              </a:rPr>
              <a:t>×3,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channel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squeeze,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channel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spc="26" dirty="0">
                <a:latin typeface="Trebuchet MS"/>
                <a:cs typeface="Trebuchet MS"/>
              </a:rPr>
              <a:t>×3)</a:t>
            </a:r>
            <a:endParaRPr sz="2100" dirty="0">
              <a:latin typeface="Trebuchet MS"/>
              <a:cs typeface="Trebuchet MS"/>
            </a:endParaRPr>
          </a:p>
          <a:p>
            <a:pPr marL="361950">
              <a:lnSpc>
                <a:spcPts val="2138"/>
              </a:lnSpc>
            </a:pPr>
            <a:r>
              <a:rPr dirty="0">
                <a:latin typeface="Carlito"/>
                <a:cs typeface="Carlito"/>
              </a:rPr>
              <a:t>–</a:t>
            </a:r>
            <a:r>
              <a:rPr spc="23" dirty="0">
                <a:latin typeface="Carlito"/>
                <a:cs typeface="Carlito"/>
              </a:rPr>
              <a:t> </a:t>
            </a:r>
            <a:r>
              <a:rPr dirty="0">
                <a:latin typeface="Trebuchet MS"/>
                <a:cs typeface="Trebuchet MS"/>
              </a:rPr>
              <a:t>Get</a:t>
            </a:r>
            <a:r>
              <a:rPr spc="-60" dirty="0">
                <a:latin typeface="Trebuchet MS"/>
                <a:cs typeface="Trebuchet MS"/>
              </a:rPr>
              <a:t> z</a:t>
            </a:r>
            <a:r>
              <a:rPr spc="-90" baseline="-17361" dirty="0">
                <a:latin typeface="Trebuchet MS"/>
                <a:cs typeface="Trebuchet MS"/>
              </a:rPr>
              <a:t>3</a:t>
            </a:r>
            <a:r>
              <a:rPr spc="-60" dirty="0">
                <a:latin typeface="Trebuchet MS"/>
                <a:cs typeface="Trebuchet MS"/>
              </a:rPr>
              <a:t>: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94" dirty="0">
                <a:latin typeface="Trebuchet MS"/>
                <a:cs typeface="Trebuchet MS"/>
              </a:rPr>
              <a:t>4×4×16c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(latents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for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highest-</a:t>
            </a:r>
            <a:r>
              <a:rPr spc="-45" dirty="0">
                <a:latin typeface="Trebuchet MS"/>
                <a:cs typeface="Trebuchet MS"/>
              </a:rPr>
              <a:t>level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details)</a:t>
            </a:r>
            <a:endParaRPr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127" dirty="0"/>
              <a:t>Good</a:t>
            </a:r>
            <a:r>
              <a:rPr lang="en-IN" spc="-113" dirty="0"/>
              <a:t> vs</a:t>
            </a:r>
            <a:r>
              <a:rPr lang="en-IN" spc="-105" dirty="0"/>
              <a:t> </a:t>
            </a:r>
            <a:r>
              <a:rPr lang="en-IN" dirty="0"/>
              <a:t>Bad</a:t>
            </a:r>
            <a:r>
              <a:rPr lang="en-IN" spc="-113" dirty="0"/>
              <a:t> </a:t>
            </a:r>
            <a:r>
              <a:rPr lang="en-IN" spc="86" dirty="0"/>
              <a:t>Partitioning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54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337" y="992670"/>
            <a:ext cx="3935949" cy="74924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 marR="3810">
              <a:lnSpc>
                <a:spcPct val="99600"/>
              </a:lnSpc>
              <a:spcBef>
                <a:spcPts val="83"/>
              </a:spcBef>
            </a:pPr>
            <a:r>
              <a:rPr sz="1600" spc="-8" dirty="0">
                <a:latin typeface="Trebuchet MS"/>
                <a:cs typeface="Trebuchet MS"/>
              </a:rPr>
              <a:t>Checkerboard</a:t>
            </a:r>
            <a:r>
              <a:rPr sz="1600" spc="-109" dirty="0">
                <a:latin typeface="Trebuchet MS"/>
                <a:cs typeface="Trebuchet MS"/>
              </a:rPr>
              <a:t> </a:t>
            </a:r>
            <a:r>
              <a:rPr sz="1600" spc="49" dirty="0">
                <a:latin typeface="Trebuchet MS"/>
                <a:cs typeface="Trebuchet MS"/>
              </a:rPr>
              <a:t>×4;</a:t>
            </a:r>
            <a:r>
              <a:rPr sz="1600" spc="-101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channel</a:t>
            </a:r>
            <a:r>
              <a:rPr sz="1600" spc="-94" dirty="0">
                <a:latin typeface="Trebuchet MS"/>
                <a:cs typeface="Trebuchet MS"/>
              </a:rPr>
              <a:t> </a:t>
            </a:r>
            <a:r>
              <a:rPr sz="1600" spc="-8" dirty="0">
                <a:latin typeface="Trebuchet MS"/>
                <a:cs typeface="Trebuchet MS"/>
              </a:rPr>
              <a:t>squeeze; </a:t>
            </a:r>
            <a:r>
              <a:rPr sz="1600" spc="-15" dirty="0">
                <a:latin typeface="Trebuchet MS"/>
                <a:cs typeface="Trebuchet MS"/>
              </a:rPr>
              <a:t>channel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49" dirty="0">
                <a:latin typeface="Trebuchet MS"/>
                <a:cs typeface="Trebuchet MS"/>
              </a:rPr>
              <a:t>×3;</a:t>
            </a:r>
            <a:r>
              <a:rPr sz="1600" spc="-94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channel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8" dirty="0">
                <a:latin typeface="Trebuchet MS"/>
                <a:cs typeface="Trebuchet MS"/>
              </a:rPr>
              <a:t>unsqueeze; </a:t>
            </a:r>
            <a:r>
              <a:rPr sz="1600" spc="-23" dirty="0">
                <a:latin typeface="Trebuchet MS"/>
                <a:cs typeface="Trebuchet MS"/>
              </a:rPr>
              <a:t>checkerboard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153" dirty="0">
                <a:latin typeface="Trebuchet MS"/>
                <a:cs typeface="Trebuchet MS"/>
              </a:rPr>
              <a:t>×3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9200" y="1022366"/>
            <a:ext cx="3582353" cy="564578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 marR="3810">
              <a:lnSpc>
                <a:spcPct val="99600"/>
              </a:lnSpc>
              <a:spcBef>
                <a:spcPts val="83"/>
              </a:spcBef>
            </a:pPr>
            <a:r>
              <a:rPr spc="79" dirty="0">
                <a:latin typeface="Trebuchet MS"/>
                <a:cs typeface="Trebuchet MS"/>
              </a:rPr>
              <a:t>(Mask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top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half;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mask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bottom </a:t>
            </a:r>
            <a:r>
              <a:rPr spc="-105" dirty="0">
                <a:latin typeface="Trebuchet MS"/>
                <a:cs typeface="Trebuchet MS"/>
              </a:rPr>
              <a:t>half;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mask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98" dirty="0">
                <a:latin typeface="Trebuchet MS"/>
                <a:cs typeface="Trebuchet MS"/>
              </a:rPr>
              <a:t>left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half;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mask</a:t>
            </a:r>
            <a:r>
              <a:rPr spc="-30" dirty="0">
                <a:latin typeface="Trebuchet MS"/>
                <a:cs typeface="Trebuchet MS"/>
              </a:rPr>
              <a:t> right </a:t>
            </a:r>
            <a:r>
              <a:rPr spc="-105" dirty="0">
                <a:latin typeface="Trebuchet MS"/>
                <a:cs typeface="Trebuchet MS"/>
              </a:rPr>
              <a:t>half)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spc="153" dirty="0">
                <a:latin typeface="Trebuchet MS"/>
                <a:cs typeface="Trebuchet MS"/>
              </a:rPr>
              <a:t>×2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1768576"/>
            <a:ext cx="3044952" cy="30449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2341" y="1771297"/>
            <a:ext cx="3044951" cy="3044952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Choice</a:t>
            </a:r>
            <a:r>
              <a:rPr lang="en-IN" spc="-49" dirty="0"/>
              <a:t> </a:t>
            </a:r>
            <a:r>
              <a:rPr lang="en-IN" spc="146" dirty="0"/>
              <a:t>of</a:t>
            </a:r>
            <a:r>
              <a:rPr lang="en-IN" spc="-45" dirty="0"/>
              <a:t> </a:t>
            </a:r>
            <a:r>
              <a:rPr lang="en-IN" spc="116" dirty="0"/>
              <a:t>coupling</a:t>
            </a:r>
            <a:r>
              <a:rPr lang="en-IN" spc="-53" dirty="0"/>
              <a:t> </a:t>
            </a:r>
            <a:r>
              <a:rPr lang="en-IN" spc="94" dirty="0"/>
              <a:t>transformation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56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4" y="1010792"/>
            <a:ext cx="8601551" cy="3710952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180975" marR="1100138" indent="-171450">
              <a:lnSpc>
                <a:spcPct val="101400"/>
              </a:lnSpc>
              <a:spcBef>
                <a:spcPts val="38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158" dirty="0">
                <a:latin typeface="Trebuchet MS"/>
                <a:cs typeface="Trebuchet MS"/>
              </a:rPr>
              <a:t>A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68" dirty="0">
                <a:latin typeface="Trebuchet MS"/>
                <a:cs typeface="Trebuchet MS"/>
              </a:rPr>
              <a:t>Bayes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net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defines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coupling</a:t>
            </a:r>
            <a:r>
              <a:rPr sz="2100" spc="-98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dependency,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spc="-23" dirty="0">
                <a:latin typeface="Trebuchet MS"/>
                <a:cs typeface="Trebuchet MS"/>
              </a:rPr>
              <a:t>but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what</a:t>
            </a:r>
            <a:r>
              <a:rPr sz="2100" spc="-94" dirty="0">
                <a:latin typeface="Trebuchet MS"/>
                <a:cs typeface="Trebuchet MS"/>
              </a:rPr>
              <a:t> </a:t>
            </a:r>
            <a:r>
              <a:rPr sz="2100" spc="-41" dirty="0">
                <a:latin typeface="Trebuchet MS"/>
                <a:cs typeface="Trebuchet MS"/>
              </a:rPr>
              <a:t>invertible </a:t>
            </a:r>
            <a:r>
              <a:rPr sz="2100" spc="-34" dirty="0">
                <a:latin typeface="Trebuchet MS"/>
                <a:cs typeface="Trebuchet MS"/>
              </a:rPr>
              <a:t>transformation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75" dirty="0">
                <a:latin typeface="Trebuchet MS"/>
                <a:cs typeface="Trebuchet MS"/>
              </a:rPr>
              <a:t>use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56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5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design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question</a:t>
            </a: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100" dirty="0">
              <a:latin typeface="Trebuchet MS"/>
              <a:cs typeface="Trebuchet MS"/>
            </a:endParaRPr>
          </a:p>
          <a:p>
            <a:pPr>
              <a:spcBef>
                <a:spcPts val="165"/>
              </a:spcBef>
              <a:buFont typeface="Arial"/>
              <a:buChar char="•"/>
            </a:pPr>
            <a:endParaRPr sz="2100" dirty="0">
              <a:latin typeface="Trebuchet MS"/>
              <a:cs typeface="Trebuchet MS"/>
            </a:endParaRPr>
          </a:p>
          <a:p>
            <a:pPr marL="180975" marR="3810" indent="-171450">
              <a:lnSpc>
                <a:spcPct val="100699"/>
              </a:lnSpc>
              <a:buFont typeface="Arial"/>
              <a:buChar char="•"/>
              <a:tabLst>
                <a:tab pos="180975" algn="l"/>
              </a:tabLst>
            </a:pPr>
            <a:r>
              <a:rPr sz="2100" spc="-8" dirty="0">
                <a:latin typeface="Trebuchet MS"/>
                <a:cs typeface="Trebuchet MS"/>
              </a:rPr>
              <a:t>Affine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spc="-34" dirty="0">
                <a:latin typeface="Trebuchet MS"/>
                <a:cs typeface="Trebuchet MS"/>
              </a:rPr>
              <a:t>transformation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the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spc="49" dirty="0">
                <a:latin typeface="Trebuchet MS"/>
                <a:cs typeface="Trebuchet MS"/>
              </a:rPr>
              <a:t>most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commonly</a:t>
            </a:r>
            <a:r>
              <a:rPr sz="2100" spc="-34" dirty="0">
                <a:latin typeface="Trebuchet MS"/>
                <a:cs typeface="Trebuchet MS"/>
              </a:rPr>
              <a:t> </a:t>
            </a:r>
            <a:r>
              <a:rPr sz="2100" spc="53" dirty="0">
                <a:latin typeface="Trebuchet MS"/>
                <a:cs typeface="Trebuchet MS"/>
              </a:rPr>
              <a:t>used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one</a:t>
            </a:r>
            <a:r>
              <a:rPr sz="2100" spc="-3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(NICE,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RealNVP, </a:t>
            </a:r>
            <a:r>
              <a:rPr sz="2100" dirty="0">
                <a:latin typeface="Trebuchet MS"/>
                <a:cs typeface="Trebuchet MS"/>
              </a:rPr>
              <a:t>IAF-</a:t>
            </a:r>
            <a:r>
              <a:rPr sz="2100" spc="38" dirty="0">
                <a:latin typeface="Trebuchet MS"/>
                <a:cs typeface="Trebuchet MS"/>
              </a:rPr>
              <a:t>VAE,</a:t>
            </a:r>
            <a:r>
              <a:rPr sz="2100" spc="-41" dirty="0">
                <a:latin typeface="Trebuchet MS"/>
                <a:cs typeface="Trebuchet MS"/>
              </a:rPr>
              <a:t> </a:t>
            </a:r>
            <a:r>
              <a:rPr sz="2100" spc="153" dirty="0">
                <a:latin typeface="Trebuchet MS"/>
                <a:cs typeface="Trebuchet MS"/>
              </a:rPr>
              <a:t>…)</a:t>
            </a: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100" dirty="0">
              <a:latin typeface="Trebuchet MS"/>
              <a:cs typeface="Trebuchet MS"/>
            </a:endParaRPr>
          </a:p>
          <a:p>
            <a:pPr>
              <a:spcBef>
                <a:spcPts val="559"/>
              </a:spcBef>
              <a:buFont typeface="Arial"/>
              <a:buChar char="•"/>
            </a:pPr>
            <a:endParaRPr sz="2100" dirty="0">
              <a:latin typeface="Trebuchet MS"/>
              <a:cs typeface="Trebuchet MS"/>
            </a:endParaRPr>
          </a:p>
          <a:p>
            <a:pPr marL="180499" indent="-170974">
              <a:buFont typeface="Arial"/>
              <a:buChar char="•"/>
              <a:tabLst>
                <a:tab pos="180499" algn="l"/>
                <a:tab pos="352425" algn="l"/>
              </a:tabLst>
            </a:pPr>
            <a:r>
              <a:rPr sz="2100" spc="94" dirty="0">
                <a:latin typeface="Trebuchet MS"/>
                <a:cs typeface="Trebuchet MS"/>
              </a:rPr>
              <a:t>More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complex,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nonlinear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transformations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199" dirty="0">
                <a:latin typeface="Trebuchet MS"/>
                <a:cs typeface="Trebuchet MS"/>
              </a:rPr>
              <a:t>-</a:t>
            </a:r>
            <a:r>
              <a:rPr sz="2100" spc="285" dirty="0">
                <a:latin typeface="Trebuchet MS"/>
                <a:cs typeface="Trebuchet MS"/>
              </a:rPr>
              <a:t>&gt;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64" dirty="0">
                <a:latin typeface="Trebuchet MS"/>
                <a:cs typeface="Trebuchet MS"/>
              </a:rPr>
              <a:t>better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performance</a:t>
            </a:r>
            <a:endParaRPr sz="2100" dirty="0">
              <a:latin typeface="Trebuchet MS"/>
              <a:cs typeface="Trebuchet MS"/>
            </a:endParaRPr>
          </a:p>
          <a:p>
            <a:pPr marL="522923" lvl="1" indent="-170497">
              <a:spcBef>
                <a:spcPts val="480"/>
              </a:spcBef>
              <a:buFont typeface="Carlito"/>
              <a:buChar char="–"/>
              <a:tabLst>
                <a:tab pos="522923" algn="l"/>
              </a:tabLst>
            </a:pPr>
            <a:r>
              <a:rPr spc="127" dirty="0">
                <a:latin typeface="Trebuchet MS"/>
                <a:cs typeface="Trebuchet MS"/>
              </a:rPr>
              <a:t>CDFs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inverse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127" dirty="0">
                <a:latin typeface="Trebuchet MS"/>
                <a:cs typeface="Trebuchet MS"/>
              </a:rPr>
              <a:t>CDFs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for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Mixture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Gaussians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or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Logistics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(Flow++)</a:t>
            </a:r>
            <a:endParaRPr dirty="0">
              <a:latin typeface="Trebuchet MS"/>
              <a:cs typeface="Trebuchet MS"/>
            </a:endParaRPr>
          </a:p>
          <a:p>
            <a:pPr marL="522923" lvl="1" indent="-170497">
              <a:spcBef>
                <a:spcPts val="469"/>
              </a:spcBef>
              <a:buFont typeface="Carlito"/>
              <a:buChar char="–"/>
              <a:tabLst>
                <a:tab pos="522923" algn="l"/>
              </a:tabLst>
            </a:pPr>
            <a:r>
              <a:rPr dirty="0">
                <a:latin typeface="Trebuchet MS"/>
                <a:cs typeface="Trebuchet MS"/>
              </a:rPr>
              <a:t>Piecewise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83" dirty="0">
                <a:latin typeface="Trebuchet MS"/>
                <a:cs typeface="Trebuchet MS"/>
              </a:rPr>
              <a:t>linear/quadratic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functions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(Neural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Importance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Sampling)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7641" y="3008375"/>
            <a:ext cx="5728716" cy="342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8024" y="1696212"/>
            <a:ext cx="3698748" cy="4023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5D56D0-637E-4FA6-BFFC-D54C822B1065}"/>
                  </a:ext>
                </a:extLst>
              </p14:cNvPr>
              <p14:cNvContentPartPr/>
              <p14:nvPr/>
            </p14:nvContentPartPr>
            <p14:xfrm>
              <a:off x="1085760" y="4348080"/>
              <a:ext cx="1691280" cy="8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5D56D0-637E-4FA6-BFFC-D54C822B10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6400" y="4338720"/>
                <a:ext cx="1710000" cy="10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3" dirty="0"/>
              <a:t>Flow++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58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1054158"/>
            <a:ext cx="3733191" cy="38399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57386" y="4232005"/>
            <a:ext cx="2472214" cy="487121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9525" marR="3810">
              <a:lnSpc>
                <a:spcPct val="101400"/>
              </a:lnSpc>
              <a:spcBef>
                <a:spcPts val="38"/>
              </a:spcBef>
            </a:pPr>
            <a:r>
              <a:rPr sz="1600" b="1" spc="49" dirty="0">
                <a:latin typeface="Trebuchet MS"/>
                <a:cs typeface="Trebuchet MS"/>
              </a:rPr>
              <a:t>Samples</a:t>
            </a:r>
            <a:r>
              <a:rPr sz="1600" b="1" spc="-86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from</a:t>
            </a:r>
            <a:r>
              <a:rPr sz="1600" b="1" spc="-83" dirty="0">
                <a:latin typeface="Trebuchet MS"/>
                <a:cs typeface="Trebuchet MS"/>
              </a:rPr>
              <a:t> </a:t>
            </a:r>
            <a:r>
              <a:rPr sz="1600" b="1" spc="101" dirty="0">
                <a:latin typeface="Trebuchet MS"/>
                <a:cs typeface="Trebuchet MS"/>
              </a:rPr>
              <a:t>Flow++ </a:t>
            </a:r>
            <a:r>
              <a:rPr sz="1600" b="1" spc="-64" dirty="0">
                <a:latin typeface="Trebuchet MS"/>
                <a:cs typeface="Trebuchet MS"/>
              </a:rPr>
              <a:t>trained</a:t>
            </a:r>
            <a:r>
              <a:rPr sz="1600" b="1" spc="-41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on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spc="45" dirty="0">
                <a:latin typeface="Trebuchet MS"/>
                <a:cs typeface="Trebuchet MS"/>
              </a:rPr>
              <a:t>64x64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spc="-8" dirty="0">
                <a:latin typeface="Trebuchet MS"/>
                <a:cs typeface="Trebuchet MS"/>
              </a:rPr>
              <a:t>CelebA</a:t>
            </a:r>
            <a:endParaRPr sz="1600" b="1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94" dirty="0"/>
              <a:t>NN</a:t>
            </a:r>
            <a:r>
              <a:rPr lang="en-IN" spc="-79" dirty="0"/>
              <a:t> </a:t>
            </a:r>
            <a:r>
              <a:rPr lang="en-IN" spc="64" dirty="0"/>
              <a:t>architecture</a:t>
            </a:r>
            <a:r>
              <a:rPr lang="en-IN" spc="-86" dirty="0"/>
              <a:t> </a:t>
            </a:r>
            <a:r>
              <a:rPr lang="en-IN" dirty="0"/>
              <a:t>also</a:t>
            </a:r>
            <a:r>
              <a:rPr lang="en-IN" spc="-83" dirty="0"/>
              <a:t> </a:t>
            </a:r>
            <a:r>
              <a:rPr lang="en-IN" spc="71" dirty="0"/>
              <a:t>matters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57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4" y="1010791"/>
            <a:ext cx="7045166" cy="89229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spcBef>
                <a:spcPts val="75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109" dirty="0">
                <a:latin typeface="Trebuchet MS"/>
                <a:cs typeface="Trebuchet MS"/>
              </a:rPr>
              <a:t>Flow++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285" dirty="0">
                <a:latin typeface="Trebuchet MS"/>
                <a:cs typeface="Trebuchet MS"/>
              </a:rPr>
              <a:t>=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spc="203" dirty="0">
                <a:latin typeface="Trebuchet MS"/>
                <a:cs typeface="Trebuchet MS"/>
              </a:rPr>
              <a:t>MoL</a:t>
            </a:r>
            <a:r>
              <a:rPr sz="2100" spc="-68" dirty="0">
                <a:latin typeface="Trebuchet MS"/>
                <a:cs typeface="Trebuchet MS"/>
              </a:rPr>
              <a:t> </a:t>
            </a:r>
            <a:r>
              <a:rPr sz="2100" spc="-34" dirty="0">
                <a:latin typeface="Trebuchet MS"/>
                <a:cs typeface="Trebuchet MS"/>
              </a:rPr>
              <a:t>transformation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285" dirty="0">
                <a:latin typeface="Trebuchet MS"/>
                <a:cs typeface="Trebuchet MS"/>
              </a:rPr>
              <a:t>+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-53" dirty="0">
                <a:latin typeface="Trebuchet MS"/>
                <a:cs typeface="Trebuchet MS"/>
              </a:rPr>
              <a:t>self-</a:t>
            </a:r>
            <a:r>
              <a:rPr sz="2100" spc="-64" dirty="0">
                <a:latin typeface="Trebuchet MS"/>
                <a:cs typeface="Trebuchet MS"/>
              </a:rPr>
              <a:t>attention </a:t>
            </a:r>
            <a:r>
              <a:rPr sz="2100" spc="-15" dirty="0">
                <a:latin typeface="Trebuchet MS"/>
                <a:cs typeface="Trebuchet MS"/>
              </a:rPr>
              <a:t>in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153" dirty="0">
                <a:latin typeface="Trebuchet MS"/>
                <a:cs typeface="Trebuchet MS"/>
              </a:rPr>
              <a:t>NN</a:t>
            </a:r>
            <a:endParaRPr sz="2100">
              <a:latin typeface="Trebuchet MS"/>
              <a:cs typeface="Trebuchet MS"/>
            </a:endParaRPr>
          </a:p>
          <a:p>
            <a:pPr marL="523875" marR="3810" indent="-171450">
              <a:lnSpc>
                <a:spcPct val="100800"/>
              </a:lnSpc>
              <a:spcBef>
                <a:spcPts val="11"/>
              </a:spcBef>
            </a:pPr>
            <a:r>
              <a:rPr dirty="0">
                <a:latin typeface="Carlito"/>
                <a:cs typeface="Carlito"/>
              </a:rPr>
              <a:t>–</a:t>
            </a:r>
            <a:r>
              <a:rPr spc="19" dirty="0">
                <a:latin typeface="Carlito"/>
                <a:cs typeface="Carlito"/>
              </a:rPr>
              <a:t> </a:t>
            </a:r>
            <a:r>
              <a:rPr spc="60" dirty="0">
                <a:latin typeface="Trebuchet MS"/>
                <a:cs typeface="Trebuchet MS"/>
              </a:rPr>
              <a:t>Bayes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net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(coupling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23" dirty="0">
                <a:latin typeface="Trebuchet MS"/>
                <a:cs typeface="Trebuchet MS"/>
              </a:rPr>
              <a:t>dependency),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transformation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function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class, </a:t>
            </a:r>
            <a:r>
              <a:rPr spc="139" dirty="0">
                <a:latin typeface="Trebuchet MS"/>
                <a:cs typeface="Trebuchet MS"/>
              </a:rPr>
              <a:t>NN</a:t>
            </a:r>
            <a:r>
              <a:rPr spc="-113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architecture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13" dirty="0">
                <a:latin typeface="Trebuchet MS"/>
                <a:cs typeface="Trebuchet MS"/>
              </a:rPr>
              <a:t>all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play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role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in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flow’s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performance.</a:t>
            </a:r>
            <a:endParaRPr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1590" y="2105405"/>
            <a:ext cx="6560820" cy="2587752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44314" y="1055461"/>
            <a:ext cx="4075286" cy="34676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Glow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</a:t>
            </a:r>
            <a:r>
              <a:rPr lang="en-IN" sz="1600" spc="-10" dirty="0">
                <a:latin typeface="Calibri"/>
                <a:cs typeface="Calibri"/>
                <a:hlinkClick r:id="rId3"/>
              </a:rPr>
              <a:t>https://openai.com/index/glow/</a:t>
            </a:r>
            <a:r>
              <a:rPr sz="1600" spc="-10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 marL="808355" lvl="1" indent="-3124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spc="-10" dirty="0">
                <a:latin typeface="Calibri"/>
                <a:cs typeface="Calibri"/>
              </a:rPr>
              <a:t>Invertible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1x1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convolutions</a:t>
            </a:r>
            <a:endParaRPr sz="2000" dirty="0">
              <a:latin typeface="Calibri"/>
              <a:cs typeface="Calibri"/>
            </a:endParaRPr>
          </a:p>
          <a:p>
            <a:pPr marL="808355" lvl="1" indent="-312420">
              <a:lnSpc>
                <a:spcPct val="100000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spc="-25" dirty="0">
                <a:latin typeface="Calibri"/>
                <a:cs typeface="Calibri"/>
              </a:rPr>
              <a:t>Large-</a:t>
            </a:r>
            <a:r>
              <a:rPr sz="2000" dirty="0">
                <a:latin typeface="Calibri"/>
                <a:cs typeface="Calibri"/>
              </a:rPr>
              <a:t>scale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training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80"/>
              </a:spcBef>
              <a:buClr>
                <a:srgbClr val="FF0000"/>
              </a:buClr>
              <a:buFont typeface="Arial"/>
              <a:buChar char="■"/>
            </a:pPr>
            <a:endParaRPr sz="2000" dirty="0">
              <a:latin typeface="Calibri"/>
              <a:cs typeface="Calibri"/>
            </a:endParaRPr>
          </a:p>
          <a:p>
            <a:pPr marL="351155" marR="775335" indent="-339090">
              <a:lnSpc>
                <a:spcPct val="100499"/>
              </a:lnSpc>
              <a:spcBef>
                <a:spcPts val="5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Continuous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flows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(FFJORD)</a:t>
            </a:r>
            <a:endParaRPr sz="2400" dirty="0">
              <a:latin typeface="Calibri"/>
              <a:cs typeface="Calibri"/>
            </a:endParaRPr>
          </a:p>
          <a:p>
            <a:pPr marL="808355" marR="5080" lvl="1" indent="-313055">
              <a:lnSpc>
                <a:spcPts val="2400"/>
              </a:lnSpc>
              <a:spcBef>
                <a:spcPts val="65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unrestricted </a:t>
            </a:r>
            <a:r>
              <a:rPr sz="2000" spc="-20" dirty="0">
                <a:latin typeface="Calibri"/>
                <a:cs typeface="Calibri"/>
              </a:rPr>
              <a:t>architectures.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Invertibility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fast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 </a:t>
            </a:r>
            <a:r>
              <a:rPr sz="2000" spc="-20" dirty="0">
                <a:latin typeface="Calibri"/>
                <a:cs typeface="Calibri"/>
              </a:rPr>
              <a:t>computation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guaranteed.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2B213B-D7A6-45AD-A7AC-D3E7C8F6BDB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Other</a:t>
            </a:r>
            <a:r>
              <a:rPr lang="en-IN" spc="-80" dirty="0"/>
              <a:t> </a:t>
            </a:r>
            <a:r>
              <a:rPr lang="en-IN" dirty="0"/>
              <a:t>classes</a:t>
            </a:r>
            <a:r>
              <a:rPr lang="en-IN" spc="-65" dirty="0"/>
              <a:t> </a:t>
            </a:r>
            <a:r>
              <a:rPr lang="en-IN" dirty="0"/>
              <a:t>of</a:t>
            </a:r>
            <a:r>
              <a:rPr lang="en-IN" spc="-65" dirty="0"/>
              <a:t> </a:t>
            </a:r>
            <a:r>
              <a:rPr lang="en-IN" spc="-10" dirty="0"/>
              <a:t>flows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7690" y="1069222"/>
            <a:ext cx="4507765" cy="30078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55656E-0F42-42DC-9EA6-1C460AC2D046}"/>
              </a:ext>
            </a:extLst>
          </p:cNvPr>
          <p:cNvSpPr/>
          <p:nvPr/>
        </p:nvSpPr>
        <p:spPr>
          <a:xfrm>
            <a:off x="838200" y="2038350"/>
            <a:ext cx="18287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>
                <a:hlinkClick r:id="rId5"/>
              </a:rPr>
              <a:t>1x1 Convolution in GLOW</a:t>
            </a:r>
            <a:endParaRPr lang="en-IN" sz="1100" dirty="0"/>
          </a:p>
        </p:txBody>
      </p:sp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86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C42503-5E39-4067-9962-EBA94A86DCE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Glow:</a:t>
            </a:r>
            <a:r>
              <a:rPr lang="en-IN" spc="-75" dirty="0"/>
              <a:t> </a:t>
            </a:r>
            <a:r>
              <a:rPr lang="en-IN" spc="-10" dirty="0"/>
              <a:t>Interpolation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1200150"/>
            <a:ext cx="8630065" cy="3353899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856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B10202-EE85-438A-84CE-36925C274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101E49-C7EB-42AB-A25E-E123F73610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Glow:</a:t>
            </a:r>
            <a:r>
              <a:rPr lang="en-IN" spc="-114" dirty="0"/>
              <a:t> </a:t>
            </a:r>
            <a:r>
              <a:rPr lang="en-IN" spc="-10" dirty="0"/>
              <a:t>Attribute</a:t>
            </a:r>
            <a:r>
              <a:rPr lang="en-IN" spc="-110" dirty="0"/>
              <a:t> </a:t>
            </a:r>
            <a:r>
              <a:rPr lang="en-IN" spc="-10" dirty="0"/>
              <a:t>Control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996095"/>
            <a:ext cx="8381046" cy="3643037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55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3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4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5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5" name="prafulla_people_loop">
            <a:hlinkClick r:id="" action="ppaction://media"/>
            <a:extLst>
              <a:ext uri="{FF2B5EF4-FFF2-40B4-BE49-F238E27FC236}">
                <a16:creationId xmlns:a16="http://schemas.microsoft.com/office/drawing/2014/main" id="{B04F5F3D-4EF8-45EE-818A-E3E4FDEC0C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09800" y="1047750"/>
            <a:ext cx="3886200" cy="3886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CF2FD6-DAE7-4DBB-A0AF-C1DB42E0C1EA}"/>
              </a:ext>
            </a:extLst>
          </p:cNvPr>
          <p:cNvSpPr txBox="1"/>
          <p:nvPr/>
        </p:nvSpPr>
        <p:spPr>
          <a:xfrm>
            <a:off x="381000" y="361950"/>
            <a:ext cx="2295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GLOW Animation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4703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7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8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5" name="Text Placeholder 2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64" dirty="0"/>
              <a:t>Architectural</a:t>
            </a:r>
            <a:r>
              <a:rPr lang="en-IN" spc="-98" dirty="0"/>
              <a:t> </a:t>
            </a:r>
            <a:r>
              <a:rPr lang="en-IN" spc="-8" dirty="0"/>
              <a:t>Taxonomy</a:t>
            </a:r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2905" y="3312414"/>
            <a:ext cx="1090422" cy="10927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6337" y="3305556"/>
            <a:ext cx="1090422" cy="10904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245" y="3374280"/>
            <a:ext cx="269304" cy="99726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>
              <a:lnSpc>
                <a:spcPts val="2123"/>
              </a:lnSpc>
            </a:pPr>
            <a:r>
              <a:rPr spc="56" dirty="0">
                <a:latin typeface="Trebuchet MS"/>
                <a:cs typeface="Trebuchet MS"/>
              </a:rPr>
              <a:t>Jacobian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2763" y="4545711"/>
            <a:ext cx="90678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>
                <a:latin typeface="Trebuchet MS"/>
                <a:cs typeface="Trebuchet MS"/>
              </a:rPr>
              <a:t>(Low</a:t>
            </a:r>
            <a:r>
              <a:rPr sz="1500" spc="23" dirty="0">
                <a:latin typeface="Trebuchet MS"/>
                <a:cs typeface="Trebuchet MS"/>
              </a:rPr>
              <a:t> </a:t>
            </a:r>
            <a:r>
              <a:rPr sz="1500" spc="-41" dirty="0">
                <a:latin typeface="Trebuchet MS"/>
                <a:cs typeface="Trebuchet MS"/>
              </a:rPr>
              <a:t>rank)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5660" y="4526679"/>
            <a:ext cx="1691164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spc="-8" dirty="0">
                <a:latin typeface="Trebuchet MS"/>
                <a:cs typeface="Trebuchet MS"/>
              </a:rPr>
              <a:t>(Arbitrary)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996" y="1064874"/>
            <a:ext cx="1862138" cy="25830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613" b="1" spc="75" dirty="0">
                <a:latin typeface="Trebuchet MS"/>
                <a:cs typeface="Trebuchet MS"/>
              </a:rPr>
              <a:t>Sparse</a:t>
            </a:r>
            <a:r>
              <a:rPr sz="1613" b="1" spc="-26" dirty="0">
                <a:latin typeface="Trebuchet MS"/>
                <a:cs typeface="Trebuchet MS"/>
              </a:rPr>
              <a:t> </a:t>
            </a:r>
            <a:r>
              <a:rPr sz="1613" b="1" spc="-8" dirty="0">
                <a:latin typeface="Trebuchet MS"/>
                <a:cs typeface="Trebuchet MS"/>
              </a:rPr>
              <a:t>connection</a:t>
            </a:r>
            <a:endParaRPr sz="1613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2156" y="1058016"/>
            <a:ext cx="2060734" cy="25830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613" b="1" spc="41" dirty="0">
                <a:latin typeface="Trebuchet MS"/>
                <a:cs typeface="Trebuchet MS"/>
              </a:rPr>
              <a:t>Residual</a:t>
            </a:r>
            <a:r>
              <a:rPr sz="1613" b="1" spc="-19" dirty="0">
                <a:latin typeface="Trebuchet MS"/>
                <a:cs typeface="Trebuchet MS"/>
              </a:rPr>
              <a:t> </a:t>
            </a:r>
            <a:r>
              <a:rPr sz="1613" b="1" spc="-8" dirty="0">
                <a:latin typeface="Trebuchet MS"/>
                <a:cs typeface="Trebuchet MS"/>
              </a:rPr>
              <a:t>Connection</a:t>
            </a:r>
            <a:endParaRPr sz="1613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7073" y="1420607"/>
            <a:ext cx="1602265" cy="3057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5262" y="1344168"/>
            <a:ext cx="1830827" cy="4251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860007" y="1778677"/>
            <a:ext cx="1271588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b="1" spc="-45" dirty="0">
                <a:latin typeface="Trebuchet MS"/>
                <a:cs typeface="Trebuchet MS"/>
              </a:rPr>
              <a:t>3.</a:t>
            </a:r>
            <a:r>
              <a:rPr sz="1463" b="1" spc="-19" dirty="0">
                <a:latin typeface="Trebuchet MS"/>
                <a:cs typeface="Trebuchet MS"/>
              </a:rPr>
              <a:t> </a:t>
            </a:r>
            <a:r>
              <a:rPr sz="1463" b="1" dirty="0">
                <a:latin typeface="Trebuchet MS"/>
                <a:cs typeface="Trebuchet MS"/>
              </a:rPr>
              <a:t>Det</a:t>
            </a:r>
            <a:r>
              <a:rPr sz="1463" b="1" spc="-26" dirty="0">
                <a:latin typeface="Trebuchet MS"/>
                <a:cs typeface="Trebuchet MS"/>
              </a:rPr>
              <a:t> </a:t>
            </a:r>
            <a:r>
              <a:rPr sz="1463" b="1" spc="-8" dirty="0">
                <a:latin typeface="Trebuchet MS"/>
                <a:cs typeface="Trebuchet MS"/>
              </a:rPr>
              <a:t>identity</a:t>
            </a:r>
            <a:endParaRPr sz="1463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41652" y="1778677"/>
            <a:ext cx="2171700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b="1" spc="-60" dirty="0">
                <a:latin typeface="Trebuchet MS"/>
                <a:cs typeface="Trebuchet MS"/>
              </a:rPr>
              <a:t>4.</a:t>
            </a:r>
            <a:r>
              <a:rPr sz="1463" b="1" spc="-19" dirty="0">
                <a:latin typeface="Trebuchet MS"/>
                <a:cs typeface="Trebuchet MS"/>
              </a:rPr>
              <a:t> </a:t>
            </a:r>
            <a:r>
              <a:rPr sz="1463" b="1" spc="34" dirty="0">
                <a:latin typeface="Trebuchet MS"/>
                <a:cs typeface="Trebuchet MS"/>
              </a:rPr>
              <a:t>Stochastic</a:t>
            </a:r>
            <a:r>
              <a:rPr sz="1463" b="1" spc="-23" dirty="0">
                <a:latin typeface="Trebuchet MS"/>
                <a:cs typeface="Trebuchet MS"/>
              </a:rPr>
              <a:t> </a:t>
            </a:r>
            <a:r>
              <a:rPr sz="1463" b="1" spc="-8" dirty="0">
                <a:latin typeface="Trebuchet MS"/>
                <a:cs typeface="Trebuchet MS"/>
              </a:rPr>
              <a:t>estimation</a:t>
            </a:r>
            <a:endParaRPr sz="1463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356" y="3305556"/>
            <a:ext cx="1092708" cy="109042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82392" y="4538853"/>
            <a:ext cx="149732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>
                <a:latin typeface="Trebuchet MS"/>
                <a:cs typeface="Trebuchet MS"/>
              </a:rPr>
              <a:t>(Lower</a:t>
            </a:r>
            <a:r>
              <a:rPr sz="1500" spc="-53" dirty="0">
                <a:latin typeface="Trebuchet MS"/>
                <a:cs typeface="Trebuchet MS"/>
              </a:rPr>
              <a:t> </a:t>
            </a:r>
            <a:r>
              <a:rPr sz="1500" spc="-49" dirty="0">
                <a:latin typeface="Trebuchet MS"/>
                <a:cs typeface="Trebuchet MS"/>
              </a:rPr>
              <a:t>triangular)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194" y="1778677"/>
            <a:ext cx="1599248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b="1" spc="-60" dirty="0">
                <a:latin typeface="Trebuchet MS"/>
                <a:cs typeface="Trebuchet MS"/>
              </a:rPr>
              <a:t>1.</a:t>
            </a:r>
            <a:r>
              <a:rPr sz="1463" b="1" spc="-45" dirty="0">
                <a:latin typeface="Trebuchet MS"/>
                <a:cs typeface="Trebuchet MS"/>
              </a:rPr>
              <a:t> </a:t>
            </a:r>
            <a:r>
              <a:rPr sz="1463" b="1" spc="26" dirty="0">
                <a:latin typeface="Trebuchet MS"/>
                <a:cs typeface="Trebuchet MS"/>
              </a:rPr>
              <a:t>Autoregressive</a:t>
            </a:r>
            <a:endParaRPr sz="1463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0257" y="2319147"/>
            <a:ext cx="1362075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sz="1500" spc="-8" dirty="0">
                <a:latin typeface="Trebuchet MS"/>
                <a:cs typeface="Trebuchet MS"/>
              </a:rPr>
              <a:t>IAF/MAF/NAF</a:t>
            </a:r>
            <a:endParaRPr sz="1500">
              <a:latin typeface="Trebuchet MS"/>
              <a:cs typeface="Trebuchet MS"/>
            </a:endParaRPr>
          </a:p>
          <a:p>
            <a:pPr marL="9049" marR="3810" algn="ctr"/>
            <a:r>
              <a:rPr sz="1500" spc="172" dirty="0">
                <a:latin typeface="Trebuchet MS"/>
                <a:cs typeface="Trebuchet MS"/>
              </a:rPr>
              <a:t>SOS</a:t>
            </a:r>
            <a:r>
              <a:rPr sz="1500" spc="-38" dirty="0">
                <a:latin typeface="Trebuchet MS"/>
                <a:cs typeface="Trebuchet MS"/>
              </a:rPr>
              <a:t> </a:t>
            </a:r>
            <a:r>
              <a:rPr sz="1500" spc="-26" dirty="0">
                <a:latin typeface="Trebuchet MS"/>
                <a:cs typeface="Trebuchet MS"/>
              </a:rPr>
              <a:t>polynomial </a:t>
            </a:r>
            <a:r>
              <a:rPr sz="1500" spc="150" dirty="0">
                <a:latin typeface="Trebuchet MS"/>
                <a:cs typeface="Trebuchet MS"/>
              </a:rPr>
              <a:t>UMNN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22802" y="2321433"/>
            <a:ext cx="1372553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ctr">
              <a:spcBef>
                <a:spcPts val="75"/>
              </a:spcBef>
            </a:pPr>
            <a:r>
              <a:rPr sz="1500" spc="-34" dirty="0">
                <a:latin typeface="Trebuchet MS"/>
                <a:cs typeface="Trebuchet MS"/>
              </a:rPr>
              <a:t>Planar/Sylvester </a:t>
            </a:r>
            <a:r>
              <a:rPr sz="1500" spc="-8" dirty="0">
                <a:latin typeface="Trebuchet MS"/>
                <a:cs typeface="Trebuchet MS"/>
              </a:rPr>
              <a:t>flows</a:t>
            </a:r>
            <a:endParaRPr sz="1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500" spc="-26" dirty="0">
                <a:latin typeface="Trebuchet MS"/>
                <a:cs typeface="Trebuchet MS"/>
              </a:rPr>
              <a:t>Radial</a:t>
            </a:r>
            <a:r>
              <a:rPr sz="1500" spc="-71" dirty="0">
                <a:latin typeface="Trebuchet MS"/>
                <a:cs typeface="Trebuchet MS"/>
              </a:rPr>
              <a:t> </a:t>
            </a:r>
            <a:r>
              <a:rPr sz="1500" spc="-15" dirty="0">
                <a:latin typeface="Trebuchet MS"/>
                <a:cs typeface="Trebuchet MS"/>
              </a:rPr>
              <a:t>flow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52103" y="2319147"/>
            <a:ext cx="739139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ctr">
              <a:spcBef>
                <a:spcPts val="75"/>
              </a:spcBef>
            </a:pPr>
            <a:r>
              <a:rPr sz="1500" spc="-8" dirty="0">
                <a:latin typeface="Trebuchet MS"/>
                <a:cs typeface="Trebuchet MS"/>
              </a:rPr>
              <a:t>Residual </a:t>
            </a:r>
            <a:r>
              <a:rPr sz="1500" spc="-15" dirty="0">
                <a:latin typeface="Trebuchet MS"/>
                <a:cs typeface="Trebuchet MS"/>
              </a:rPr>
              <a:t>Flow </a:t>
            </a:r>
            <a:r>
              <a:rPr sz="1500" spc="79" dirty="0">
                <a:latin typeface="Trebuchet MS"/>
                <a:cs typeface="Trebuchet MS"/>
              </a:rPr>
              <a:t>FFJORD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61488" y="3312414"/>
            <a:ext cx="1090422" cy="109270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510952" y="4545711"/>
            <a:ext cx="1622584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473" marR="3810" indent="-342424">
              <a:spcBef>
                <a:spcPts val="75"/>
              </a:spcBef>
            </a:pPr>
            <a:r>
              <a:rPr sz="1500" dirty="0">
                <a:latin typeface="Trebuchet MS"/>
                <a:cs typeface="Trebuchet MS"/>
              </a:rPr>
              <a:t>(Lower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triangular</a:t>
            </a:r>
            <a:r>
              <a:rPr sz="1500" spc="-53" dirty="0">
                <a:latin typeface="Trebuchet MS"/>
                <a:cs typeface="Trebuchet MS"/>
              </a:rPr>
              <a:t> </a:t>
            </a:r>
            <a:r>
              <a:rPr sz="1500" spc="158" dirty="0">
                <a:latin typeface="Trebuchet MS"/>
                <a:cs typeface="Trebuchet MS"/>
              </a:rPr>
              <a:t>+ </a:t>
            </a:r>
            <a:r>
              <a:rPr sz="1500" spc="-8" dirty="0">
                <a:latin typeface="Trebuchet MS"/>
                <a:cs typeface="Trebuchet MS"/>
              </a:rPr>
              <a:t>structured)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2508" y="1778677"/>
            <a:ext cx="1559719" cy="23570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463" b="1" spc="-60" dirty="0">
                <a:latin typeface="Trebuchet MS"/>
                <a:cs typeface="Trebuchet MS"/>
              </a:rPr>
              <a:t>2.</a:t>
            </a:r>
            <a:r>
              <a:rPr sz="1463" b="1" spc="38" dirty="0">
                <a:latin typeface="Trebuchet MS"/>
                <a:cs typeface="Trebuchet MS"/>
              </a:rPr>
              <a:t> </a:t>
            </a:r>
            <a:r>
              <a:rPr sz="1463" b="1" dirty="0">
                <a:latin typeface="Trebuchet MS"/>
                <a:cs typeface="Trebuchet MS"/>
              </a:rPr>
              <a:t>Block</a:t>
            </a:r>
            <a:r>
              <a:rPr sz="1463" b="1" spc="38" dirty="0">
                <a:latin typeface="Trebuchet MS"/>
                <a:cs typeface="Trebuchet MS"/>
              </a:rPr>
              <a:t> coupling</a:t>
            </a:r>
            <a:endParaRPr sz="1463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4095" y="2321433"/>
            <a:ext cx="1741170" cy="7021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ctr">
              <a:spcBef>
                <a:spcPts val="75"/>
              </a:spcBef>
            </a:pPr>
            <a:r>
              <a:rPr sz="1500" spc="-8" dirty="0">
                <a:latin typeface="Trebuchet MS"/>
                <a:cs typeface="Trebuchet MS"/>
              </a:rPr>
              <a:t>NICE/RealNVP/Glow </a:t>
            </a:r>
            <a:r>
              <a:rPr sz="1500" dirty="0">
                <a:latin typeface="Trebuchet MS"/>
                <a:cs typeface="Trebuchet MS"/>
              </a:rPr>
              <a:t>Cubic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Spline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5" dirty="0">
                <a:latin typeface="Trebuchet MS"/>
                <a:cs typeface="Trebuchet MS"/>
              </a:rPr>
              <a:t>Flow </a:t>
            </a:r>
            <a:r>
              <a:rPr sz="1500" spc="-8" dirty="0">
                <a:latin typeface="Trebuchet MS"/>
                <a:cs typeface="Trebuchet MS"/>
              </a:rPr>
              <a:t>Neural</a:t>
            </a:r>
            <a:r>
              <a:rPr sz="1500" spc="-7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Spline</a:t>
            </a:r>
            <a:r>
              <a:rPr sz="1500" spc="-68" dirty="0">
                <a:latin typeface="Trebuchet MS"/>
                <a:cs typeface="Trebuchet MS"/>
              </a:rPr>
              <a:t> </a:t>
            </a:r>
            <a:r>
              <a:rPr sz="1500" spc="-15" dirty="0">
                <a:latin typeface="Trebuchet MS"/>
                <a:cs typeface="Trebuchet MS"/>
              </a:rPr>
              <a:t>Flow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126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76200" y="261398"/>
            <a:ext cx="8153400" cy="857250"/>
          </a:xfrm>
        </p:spPr>
        <p:txBody>
          <a:bodyPr>
            <a:normAutofit fontScale="92500"/>
          </a:bodyPr>
          <a:lstStyle/>
          <a:p>
            <a:r>
              <a:rPr lang="en-US" sz="2800" spc="-8" dirty="0"/>
              <a:t>Flow</a:t>
            </a:r>
            <a:r>
              <a:rPr lang="en-US" sz="2800" spc="-60" dirty="0"/>
              <a:t> </a:t>
            </a:r>
            <a:r>
              <a:rPr lang="en-US" sz="2800" spc="113" dirty="0"/>
              <a:t>on</a:t>
            </a:r>
            <a:r>
              <a:rPr lang="en-US" sz="2800" spc="-60" dirty="0"/>
              <a:t> </a:t>
            </a:r>
            <a:r>
              <a:rPr lang="en-US" sz="2800" dirty="0"/>
              <a:t>Discrete</a:t>
            </a:r>
            <a:r>
              <a:rPr lang="en-US" sz="2800" spc="-60" dirty="0"/>
              <a:t> </a:t>
            </a:r>
            <a:r>
              <a:rPr lang="en-US" sz="2800" dirty="0"/>
              <a:t>Data</a:t>
            </a:r>
            <a:r>
              <a:rPr lang="en-US" sz="2800" spc="-56" dirty="0"/>
              <a:t> </a:t>
            </a:r>
            <a:r>
              <a:rPr lang="en-US" sz="2800" spc="94" dirty="0"/>
              <a:t>Without </a:t>
            </a:r>
            <a:r>
              <a:rPr lang="en-US" sz="2800" spc="38" dirty="0"/>
              <a:t>Dequantization...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534" rIns="0" bIns="0" rtlCol="0" anchor="ctr" anchorCtr="0">
            <a:spAutoFit/>
          </a:bodyPr>
          <a:lstStyle/>
          <a:p>
            <a:pPr marL="2118836">
              <a:spcBef>
                <a:spcPts val="38"/>
              </a:spcBef>
            </a:pPr>
            <a:r>
              <a:rPr spc="-19" dirty="0"/>
              <a:t>62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172" y="1865375"/>
            <a:ext cx="8785384" cy="2160270"/>
            <a:chOff x="310895" y="2487167"/>
            <a:chExt cx="11713845" cy="28803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5" y="2487167"/>
              <a:ext cx="7748015" cy="27401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6719" y="2487167"/>
              <a:ext cx="3977639" cy="2880360"/>
            </a:xfrm>
            <a:prstGeom prst="rect">
              <a:avLst/>
            </a:prstGeom>
          </p:spPr>
        </p:pic>
      </p:grpSp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75" dirty="0"/>
              <a:t>Continuous</a:t>
            </a:r>
            <a:r>
              <a:rPr lang="en-IN" spc="-79" dirty="0"/>
              <a:t> </a:t>
            </a:r>
            <a:r>
              <a:rPr lang="en-IN" spc="49" dirty="0"/>
              <a:t>flows</a:t>
            </a:r>
            <a:r>
              <a:rPr lang="en-IN" spc="-75" dirty="0"/>
              <a:t> </a:t>
            </a:r>
            <a:r>
              <a:rPr lang="en-IN" spc="124" dirty="0"/>
              <a:t>for</a:t>
            </a:r>
            <a:r>
              <a:rPr lang="en-IN" spc="-75" dirty="0"/>
              <a:t> </a:t>
            </a:r>
            <a:r>
              <a:rPr lang="en-IN" spc="45" dirty="0"/>
              <a:t>discrete</a:t>
            </a:r>
            <a:r>
              <a:rPr lang="en-IN" spc="-79" dirty="0"/>
              <a:t> </a:t>
            </a:r>
            <a:r>
              <a:rPr lang="en-IN" spc="75" dirty="0"/>
              <a:t>data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534" rIns="0" bIns="0" rtlCol="0" anchor="ctr" anchorCtr="0">
            <a:spAutoFit/>
          </a:bodyPr>
          <a:lstStyle/>
          <a:p>
            <a:pPr marL="2118836">
              <a:spcBef>
                <a:spcPts val="38"/>
              </a:spcBef>
            </a:pPr>
            <a:r>
              <a:rPr spc="-19" dirty="0"/>
              <a:t>63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5" y="1010792"/>
            <a:ext cx="7701386" cy="2717219"/>
          </a:xfrm>
          <a:prstGeom prst="rect">
            <a:avLst/>
          </a:prstGeom>
        </p:spPr>
        <p:txBody>
          <a:bodyPr vert="horz" wrap="square" lIns="0" tIns="4763" rIns="0" bIns="0" rtlCol="0">
            <a:spAutoFit/>
          </a:bodyPr>
          <a:lstStyle/>
          <a:p>
            <a:pPr marL="180975" marR="209074" indent="-171450">
              <a:lnSpc>
                <a:spcPct val="101400"/>
              </a:lnSpc>
              <a:spcBef>
                <a:spcPts val="38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158" dirty="0">
                <a:latin typeface="Trebuchet MS"/>
                <a:cs typeface="Trebuchet MS"/>
              </a:rPr>
              <a:t>A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problem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arises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53" dirty="0">
                <a:latin typeface="Trebuchet MS"/>
                <a:cs typeface="Trebuchet MS"/>
              </a:rPr>
              <a:t>when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fitting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continuous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density</a:t>
            </a:r>
            <a:r>
              <a:rPr sz="2100" spc="-4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models</a:t>
            </a:r>
            <a:r>
              <a:rPr sz="2100" spc="-41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49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discrete </a:t>
            </a:r>
            <a:r>
              <a:rPr sz="2100" spc="-94" dirty="0">
                <a:latin typeface="Trebuchet MS"/>
                <a:cs typeface="Trebuchet MS"/>
              </a:rPr>
              <a:t>data:</a:t>
            </a:r>
            <a:r>
              <a:rPr sz="2100" spc="-53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degeneracy</a:t>
            </a:r>
            <a:endParaRPr sz="2100" dirty="0">
              <a:latin typeface="Trebuchet MS"/>
              <a:cs typeface="Trebuchet MS"/>
            </a:endParaRPr>
          </a:p>
          <a:p>
            <a:pPr marL="522923" lvl="1" indent="-170497">
              <a:spcBef>
                <a:spcPts val="480"/>
              </a:spcBef>
              <a:buFont typeface="Carlito"/>
              <a:buChar char="–"/>
              <a:tabLst>
                <a:tab pos="522923" algn="l"/>
              </a:tabLst>
            </a:pPr>
            <a:r>
              <a:rPr spc="71" dirty="0">
                <a:latin typeface="Trebuchet MS"/>
                <a:cs typeface="Trebuchet MS"/>
              </a:rPr>
              <a:t>When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data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are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68" dirty="0">
                <a:latin typeface="Trebuchet MS"/>
                <a:cs typeface="Trebuchet MS"/>
              </a:rPr>
              <a:t>3-</a:t>
            </a:r>
            <a:r>
              <a:rPr spc="-79" dirty="0">
                <a:latin typeface="Trebuchet MS"/>
                <a:cs typeface="Trebuchet MS"/>
              </a:rPr>
              <a:t>bit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pixel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values,</a:t>
            </a:r>
            <a:endParaRPr dirty="0">
              <a:latin typeface="Trebuchet MS"/>
              <a:cs typeface="Trebuchet MS"/>
            </a:endParaRPr>
          </a:p>
          <a:p>
            <a:pPr marL="522923" lvl="1" indent="-170497">
              <a:spcBef>
                <a:spcPts val="398"/>
              </a:spcBef>
              <a:buFont typeface="Carlito"/>
              <a:buChar char="–"/>
              <a:tabLst>
                <a:tab pos="522923" algn="l"/>
              </a:tabLst>
            </a:pPr>
            <a:r>
              <a:rPr dirty="0">
                <a:latin typeface="Trebuchet MS"/>
                <a:cs typeface="Trebuchet MS"/>
              </a:rPr>
              <a:t>What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density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49" dirty="0">
                <a:latin typeface="Trebuchet MS"/>
                <a:cs typeface="Trebuchet MS"/>
              </a:rPr>
              <a:t>does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4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model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assign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values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between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bins</a:t>
            </a:r>
            <a:r>
              <a:rPr spc="-49" dirty="0">
                <a:latin typeface="Trebuchet MS"/>
                <a:cs typeface="Trebuchet MS"/>
              </a:rPr>
              <a:t> </a:t>
            </a:r>
            <a:r>
              <a:rPr spc="-56" dirty="0">
                <a:latin typeface="Trebuchet MS"/>
                <a:cs typeface="Trebuchet MS"/>
              </a:rPr>
              <a:t>like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-53" dirty="0">
                <a:latin typeface="Trebuchet MS"/>
                <a:cs typeface="Trebuchet MS"/>
              </a:rPr>
              <a:t>0.4,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101" dirty="0">
                <a:latin typeface="Trebuchet MS"/>
                <a:cs typeface="Trebuchet MS"/>
              </a:rPr>
              <a:t>0.42…?</a:t>
            </a:r>
            <a:endParaRPr dirty="0">
              <a:latin typeface="Trebuchet MS"/>
              <a:cs typeface="Trebuchet MS"/>
            </a:endParaRPr>
          </a:p>
          <a:p>
            <a:pPr marL="180975" marR="3810" indent="-171450">
              <a:lnSpc>
                <a:spcPct val="100699"/>
              </a:lnSpc>
              <a:spcBef>
                <a:spcPts val="1193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23" dirty="0">
                <a:latin typeface="Trebuchet MS"/>
                <a:cs typeface="Trebuchet MS"/>
              </a:rPr>
              <a:t>Correct</a:t>
            </a:r>
            <a:r>
              <a:rPr sz="2100" spc="-10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semantics: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94" dirty="0">
                <a:latin typeface="Trebuchet MS"/>
                <a:cs typeface="Trebuchet MS"/>
              </a:rPr>
              <a:t>we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want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the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64" dirty="0">
                <a:latin typeface="Trebuchet MS"/>
                <a:cs typeface="Trebuchet MS"/>
              </a:rPr>
              <a:t>integral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probability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density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26" dirty="0">
                <a:latin typeface="Trebuchet MS"/>
                <a:cs typeface="Trebuchet MS"/>
              </a:rPr>
              <a:t>within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a </a:t>
            </a:r>
            <a:r>
              <a:rPr sz="2100" spc="-19" dirty="0">
                <a:latin typeface="Trebuchet MS"/>
                <a:cs typeface="Trebuchet MS"/>
              </a:rPr>
              <a:t>discrete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spc="-71" dirty="0">
                <a:latin typeface="Trebuchet MS"/>
                <a:cs typeface="Trebuchet MS"/>
              </a:rPr>
              <a:t>interval</a:t>
            </a:r>
            <a:r>
              <a:rPr sz="2100" spc="-79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34" dirty="0">
                <a:latin typeface="Trebuchet MS"/>
                <a:cs typeface="Trebuchet MS"/>
              </a:rPr>
              <a:t>approximate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discrete</a:t>
            </a:r>
            <a:r>
              <a:rPr sz="2100" spc="-86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probability</a:t>
            </a:r>
            <a:r>
              <a:rPr sz="2100" spc="-83" dirty="0">
                <a:latin typeface="Trebuchet MS"/>
                <a:cs typeface="Trebuchet MS"/>
              </a:rPr>
              <a:t> </a:t>
            </a:r>
            <a:r>
              <a:rPr sz="2100" spc="98" dirty="0">
                <a:latin typeface="Trebuchet MS"/>
                <a:cs typeface="Trebuchet MS"/>
              </a:rPr>
              <a:t>mass</a:t>
            </a:r>
            <a:endParaRPr sz="21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8303" y="1714501"/>
            <a:ext cx="2375154" cy="283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7400" y="3723514"/>
            <a:ext cx="5166360" cy="81838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75" dirty="0"/>
              <a:t>Continuous</a:t>
            </a:r>
            <a:r>
              <a:rPr lang="en-IN" spc="-79" dirty="0"/>
              <a:t> </a:t>
            </a:r>
            <a:r>
              <a:rPr lang="en-IN" spc="49" dirty="0"/>
              <a:t>flows</a:t>
            </a:r>
            <a:r>
              <a:rPr lang="en-IN" spc="-75" dirty="0"/>
              <a:t> </a:t>
            </a:r>
            <a:r>
              <a:rPr lang="en-IN" spc="124" dirty="0"/>
              <a:t>for</a:t>
            </a:r>
            <a:r>
              <a:rPr lang="en-IN" spc="-75" dirty="0"/>
              <a:t> </a:t>
            </a:r>
            <a:r>
              <a:rPr lang="en-IN" spc="45" dirty="0"/>
              <a:t>discrete</a:t>
            </a:r>
            <a:r>
              <a:rPr lang="en-IN" spc="-79" dirty="0"/>
              <a:t> </a:t>
            </a:r>
            <a:r>
              <a:rPr lang="en-IN" spc="75" dirty="0"/>
              <a:t>data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375813" y="1106805"/>
            <a:ext cx="548259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spcBef>
                <a:spcPts val="75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-26" dirty="0">
                <a:latin typeface="Trebuchet MS"/>
                <a:cs typeface="Trebuchet MS"/>
              </a:rPr>
              <a:t>Solution:</a:t>
            </a:r>
            <a:r>
              <a:rPr sz="2100" spc="19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Dequantization.</a:t>
            </a:r>
            <a:r>
              <a:rPr sz="2100" spc="23" dirty="0">
                <a:latin typeface="Trebuchet MS"/>
                <a:cs typeface="Trebuchet MS"/>
              </a:rPr>
              <a:t> </a:t>
            </a:r>
            <a:r>
              <a:rPr sz="2100" spc="41" dirty="0">
                <a:latin typeface="Trebuchet MS"/>
                <a:cs typeface="Trebuchet MS"/>
              </a:rPr>
              <a:t>Add</a:t>
            </a:r>
            <a:r>
              <a:rPr sz="2100" spc="23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noise</a:t>
            </a:r>
            <a:r>
              <a:rPr sz="2100" spc="26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23" dirty="0">
                <a:latin typeface="Trebuchet MS"/>
                <a:cs typeface="Trebuchet MS"/>
              </a:rPr>
              <a:t> </a:t>
            </a:r>
            <a:r>
              <a:rPr sz="2100" spc="-38" dirty="0">
                <a:latin typeface="Trebuchet MS"/>
                <a:cs typeface="Trebuchet MS"/>
              </a:rPr>
              <a:t>data.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713" y="2182750"/>
            <a:ext cx="348376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latin typeface="Carlito"/>
                <a:cs typeface="Carlito"/>
              </a:rPr>
              <a:t>–</a:t>
            </a:r>
            <a:r>
              <a:rPr spc="53" dirty="0">
                <a:latin typeface="Carlito"/>
                <a:cs typeface="Carlito"/>
              </a:rPr>
              <a:t> </a:t>
            </a:r>
            <a:r>
              <a:rPr spc="135" dirty="0">
                <a:latin typeface="Trebuchet MS"/>
                <a:cs typeface="Trebuchet MS"/>
              </a:rPr>
              <a:t>We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draw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noise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u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uniformly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from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5357" y="4974335"/>
            <a:ext cx="130969" cy="1365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825" spc="-19" dirty="0">
                <a:latin typeface="Trebuchet MS"/>
                <a:cs typeface="Trebuchet MS"/>
              </a:rPr>
              <a:t>64</a:t>
            </a:r>
            <a:endParaRPr sz="825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970" y="2571750"/>
            <a:ext cx="7376922" cy="18745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8254" y="2144267"/>
            <a:ext cx="701801" cy="3200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971" y="1540763"/>
            <a:ext cx="2377439" cy="2857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9600" y="4548653"/>
            <a:ext cx="212455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4" dirty="0">
                <a:latin typeface="Trebuchet MS"/>
                <a:cs typeface="Trebuchet MS"/>
              </a:rPr>
              <a:t>[Theis,</a:t>
            </a:r>
            <a:r>
              <a:rPr sz="1350" spc="-53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Oord,</a:t>
            </a:r>
            <a:r>
              <a:rPr sz="1350" spc="-53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Bethge,</a:t>
            </a:r>
            <a:r>
              <a:rPr sz="1350" spc="-53" dirty="0">
                <a:latin typeface="Trebuchet MS"/>
                <a:cs typeface="Trebuchet MS"/>
              </a:rPr>
              <a:t> </a:t>
            </a:r>
            <a:r>
              <a:rPr sz="1350" spc="-8" dirty="0">
                <a:latin typeface="Trebuchet MS"/>
                <a:cs typeface="Trebuchet MS"/>
              </a:rPr>
              <a:t>2016]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76200" y="227480"/>
            <a:ext cx="7543800" cy="857250"/>
          </a:xfrm>
        </p:spPr>
        <p:txBody>
          <a:bodyPr>
            <a:normAutofit/>
          </a:bodyPr>
          <a:lstStyle/>
          <a:p>
            <a:r>
              <a:rPr lang="en-US" spc="-8" dirty="0"/>
              <a:t>Flow</a:t>
            </a:r>
            <a:r>
              <a:rPr lang="en-US" spc="-68" dirty="0"/>
              <a:t> </a:t>
            </a:r>
            <a:r>
              <a:rPr lang="en-US" spc="124" dirty="0"/>
              <a:t>on</a:t>
            </a:r>
            <a:r>
              <a:rPr lang="en-US" spc="-71" dirty="0"/>
              <a:t> </a:t>
            </a:r>
            <a:r>
              <a:rPr lang="en-US" dirty="0"/>
              <a:t>Discrete</a:t>
            </a:r>
            <a:r>
              <a:rPr lang="en-US" spc="-68" dirty="0"/>
              <a:t> </a:t>
            </a:r>
            <a:r>
              <a:rPr lang="en-US" dirty="0"/>
              <a:t>Data</a:t>
            </a:r>
            <a:r>
              <a:rPr lang="en-US" spc="-64" dirty="0"/>
              <a:t> </a:t>
            </a:r>
            <a:r>
              <a:rPr lang="en-US" spc="64" dirty="0"/>
              <a:t>With</a:t>
            </a:r>
            <a:r>
              <a:rPr lang="en-US" spc="-71" dirty="0"/>
              <a:t> </a:t>
            </a:r>
            <a:r>
              <a:rPr lang="en-US" spc="71" dirty="0"/>
              <a:t>Dequantization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65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50108" y="1737359"/>
            <a:ext cx="5811203" cy="2158365"/>
            <a:chOff x="4200144" y="2316479"/>
            <a:chExt cx="7748270" cy="28778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5864" y="2316479"/>
              <a:ext cx="3892296" cy="28773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0144" y="2319527"/>
              <a:ext cx="3858767" cy="269748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171" y="1739645"/>
            <a:ext cx="2818638" cy="202311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2578945"/>
            <a:ext cx="6934200" cy="2329194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60" dirty="0"/>
              <a:t>Applications:</a:t>
            </a:r>
            <a:r>
              <a:rPr lang="en-IN" spc="-75" dirty="0"/>
              <a:t> </a:t>
            </a:r>
            <a:r>
              <a:rPr lang="en-IN" spc="105" dirty="0"/>
              <a:t>Super-</a:t>
            </a:r>
            <a:r>
              <a:rPr lang="en-IN" spc="30" dirty="0"/>
              <a:t>Resolution</a:t>
            </a:r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66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3029" y="971550"/>
            <a:ext cx="4794409" cy="1607395"/>
          </a:xfrm>
          <a:prstGeom prst="rect">
            <a:avLst/>
          </a:prstGeom>
        </p:spPr>
        <p:txBody>
          <a:bodyPr vert="horz" wrap="square" lIns="0" tIns="70009" rIns="0" bIns="0" rtlCol="0">
            <a:spAutoFit/>
          </a:bodyPr>
          <a:lstStyle/>
          <a:p>
            <a:pPr marL="180499" indent="-170974">
              <a:spcBef>
                <a:spcPts val="551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79" dirty="0">
                <a:latin typeface="Trebuchet MS"/>
                <a:cs typeface="Trebuchet MS"/>
              </a:rPr>
              <a:t>SRFlow</a:t>
            </a:r>
            <a:endParaRPr sz="2100" dirty="0">
              <a:latin typeface="Trebuchet MS"/>
              <a:cs typeface="Trebuchet MS"/>
            </a:endParaRPr>
          </a:p>
          <a:p>
            <a:pPr marL="522923" marR="3810" lvl="1" indent="-170497">
              <a:lnSpc>
                <a:spcPct val="100800"/>
              </a:lnSpc>
              <a:spcBef>
                <a:spcPts val="390"/>
              </a:spcBef>
              <a:buFont typeface="Carlito"/>
              <a:buChar char="–"/>
              <a:tabLst>
                <a:tab pos="523875" algn="l"/>
              </a:tabLst>
            </a:pPr>
            <a:r>
              <a:rPr spc="135" dirty="0">
                <a:latin typeface="Trebuchet MS"/>
                <a:cs typeface="Trebuchet MS"/>
              </a:rPr>
              <a:t>A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normalizing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flow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based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spc="-23" dirty="0">
                <a:latin typeface="Trebuchet MS"/>
                <a:cs typeface="Trebuchet MS"/>
              </a:rPr>
              <a:t>super-</a:t>
            </a:r>
            <a:r>
              <a:rPr spc="-8" dirty="0">
                <a:latin typeface="Trebuchet MS"/>
                <a:cs typeface="Trebuchet MS"/>
              </a:rPr>
              <a:t>resolution 	</a:t>
            </a:r>
            <a:r>
              <a:rPr spc="-15" dirty="0">
                <a:latin typeface="Trebuchet MS"/>
                <a:cs typeface="Trebuchet MS"/>
              </a:rPr>
              <a:t>method,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allowing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diversity</a:t>
            </a:r>
            <a:endParaRPr dirty="0">
              <a:latin typeface="Trebuchet MS"/>
              <a:cs typeface="Trebuchet MS"/>
            </a:endParaRPr>
          </a:p>
          <a:p>
            <a:pPr marL="522923" marR="172403" lvl="1" indent="-170497">
              <a:lnSpc>
                <a:spcPts val="2108"/>
              </a:lnSpc>
              <a:spcBef>
                <a:spcPts val="491"/>
              </a:spcBef>
              <a:buFont typeface="Carlito"/>
              <a:buChar char="–"/>
              <a:tabLst>
                <a:tab pos="523875" algn="l"/>
              </a:tabLst>
            </a:pPr>
            <a:r>
              <a:rPr dirty="0">
                <a:latin typeface="Trebuchet MS"/>
                <a:cs typeface="Trebuchet MS"/>
              </a:rPr>
              <a:t>Outperforms</a:t>
            </a:r>
            <a:r>
              <a:rPr spc="45" dirty="0">
                <a:latin typeface="Trebuchet MS"/>
                <a:cs typeface="Trebuchet MS"/>
              </a:rPr>
              <a:t> </a:t>
            </a:r>
            <a:r>
              <a:rPr spc="-53" dirty="0">
                <a:latin typeface="Trebuchet MS"/>
                <a:cs typeface="Trebuchet MS"/>
              </a:rPr>
              <a:t>state-</a:t>
            </a:r>
            <a:r>
              <a:rPr spc="-75" dirty="0">
                <a:latin typeface="Trebuchet MS"/>
                <a:cs typeface="Trebuchet MS"/>
              </a:rPr>
              <a:t>of-</a:t>
            </a:r>
            <a:r>
              <a:rPr spc="-71" dirty="0">
                <a:latin typeface="Trebuchet MS"/>
                <a:cs typeface="Trebuchet MS"/>
              </a:rPr>
              <a:t>the-</a:t>
            </a:r>
            <a:r>
              <a:rPr spc="-98" dirty="0">
                <a:latin typeface="Trebuchet MS"/>
                <a:cs typeface="Trebuchet MS"/>
              </a:rPr>
              <a:t>art</a:t>
            </a:r>
            <a:r>
              <a:rPr spc="56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GAN-</a:t>
            </a:r>
            <a:r>
              <a:rPr spc="-8" dirty="0">
                <a:latin typeface="Trebuchet MS"/>
                <a:cs typeface="Trebuchet MS"/>
              </a:rPr>
              <a:t>based 	approaches</a:t>
            </a:r>
            <a:endParaRPr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400" y="1047750"/>
            <a:ext cx="3480911" cy="1604963"/>
            <a:chOff x="7287945" y="1220266"/>
            <a:chExt cx="4641215" cy="21399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5001" y="1220266"/>
              <a:ext cx="4173842" cy="21393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7945" y="1232260"/>
              <a:ext cx="467055" cy="593084"/>
            </a:xfrm>
            <a:prstGeom prst="rect">
              <a:avLst/>
            </a:prstGeom>
          </p:spPr>
        </p:pic>
      </p:grpSp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79" dirty="0"/>
              <a:t>Application:</a:t>
            </a:r>
            <a:r>
              <a:rPr lang="en-IN" spc="-135" dirty="0"/>
              <a:t> </a:t>
            </a:r>
            <a:r>
              <a:rPr lang="en-IN" spc="-41" dirty="0"/>
              <a:t>Text</a:t>
            </a:r>
            <a:r>
              <a:rPr lang="en-IN" spc="-127" dirty="0"/>
              <a:t> </a:t>
            </a:r>
            <a:r>
              <a:rPr lang="en-IN" spc="-8" dirty="0"/>
              <a:t>Synthesis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67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387" y="2842833"/>
            <a:ext cx="8611202" cy="20733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9379" y="1201904"/>
            <a:ext cx="2440623" cy="14460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6497" y="1067682"/>
            <a:ext cx="2133600" cy="17144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5815" y="1046352"/>
            <a:ext cx="3217069" cy="1276151"/>
          </a:xfrm>
          <a:prstGeom prst="rect">
            <a:avLst/>
          </a:prstGeom>
        </p:spPr>
        <p:txBody>
          <a:bodyPr vert="horz" wrap="square" lIns="0" tIns="70009" rIns="0" bIns="0" rtlCol="0">
            <a:spAutoFit/>
          </a:bodyPr>
          <a:lstStyle/>
          <a:p>
            <a:pPr marL="180499" indent="-170974">
              <a:spcBef>
                <a:spcPts val="551"/>
              </a:spcBef>
              <a:buFont typeface="Arial"/>
              <a:buChar char="•"/>
              <a:tabLst>
                <a:tab pos="180499" algn="l"/>
              </a:tabLst>
            </a:pPr>
            <a:r>
              <a:rPr sz="2100" dirty="0">
                <a:latin typeface="Trebuchet MS"/>
                <a:cs typeface="Trebuchet MS"/>
              </a:rPr>
              <a:t>Language</a:t>
            </a:r>
            <a:r>
              <a:rPr sz="2100" spc="169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Flow</a:t>
            </a:r>
            <a:endParaRPr sz="2100">
              <a:latin typeface="Trebuchet MS"/>
              <a:cs typeface="Trebuchet MS"/>
            </a:endParaRPr>
          </a:p>
          <a:p>
            <a:pPr marL="523875" marR="3810" indent="-171450">
              <a:lnSpc>
                <a:spcPct val="100400"/>
              </a:lnSpc>
              <a:spcBef>
                <a:spcPts val="398"/>
              </a:spcBef>
            </a:pPr>
            <a:r>
              <a:rPr dirty="0">
                <a:latin typeface="Carlito"/>
                <a:cs typeface="Carlito"/>
              </a:rPr>
              <a:t>–</a:t>
            </a:r>
            <a:r>
              <a:rPr spc="60" dirty="0">
                <a:latin typeface="Carlito"/>
                <a:cs typeface="Carlito"/>
              </a:rPr>
              <a:t> </a:t>
            </a:r>
            <a:r>
              <a:rPr spc="-34" dirty="0">
                <a:latin typeface="Trebuchet MS"/>
                <a:cs typeface="Trebuchet MS"/>
              </a:rPr>
              <a:t>non-</a:t>
            </a:r>
            <a:r>
              <a:rPr dirty="0">
                <a:latin typeface="Trebuchet MS"/>
                <a:cs typeface="Trebuchet MS"/>
              </a:rPr>
              <a:t>autoregressive</a:t>
            </a:r>
            <a:r>
              <a:rPr spc="-23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and </a:t>
            </a:r>
            <a:r>
              <a:rPr dirty="0">
                <a:latin typeface="Trebuchet MS"/>
                <a:cs typeface="Trebuchet MS"/>
              </a:rPr>
              <a:t>autoregressive</a:t>
            </a:r>
            <a:r>
              <a:rPr spc="-4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flow-</a:t>
            </a:r>
            <a:r>
              <a:rPr spc="-8" dirty="0">
                <a:latin typeface="Trebuchet MS"/>
                <a:cs typeface="Trebuchet MS"/>
              </a:rPr>
              <a:t>based models</a:t>
            </a:r>
            <a:endParaRPr>
              <a:latin typeface="Trebuchet MS"/>
              <a:cs typeface="Trebuchet MS"/>
            </a:endParaRPr>
          </a:p>
        </p:txBody>
      </p:sp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60" dirty="0"/>
              <a:t>Applications:</a:t>
            </a:r>
            <a:r>
              <a:rPr lang="en-IN" spc="-86" dirty="0"/>
              <a:t> </a:t>
            </a:r>
            <a:r>
              <a:rPr lang="en-IN" spc="101" dirty="0"/>
              <a:t>Audio</a:t>
            </a:r>
            <a:r>
              <a:rPr lang="en-IN" spc="-86" dirty="0"/>
              <a:t> </a:t>
            </a:r>
            <a:r>
              <a:rPr lang="en-IN" spc="-8" dirty="0"/>
              <a:t>Synthesis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68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5815" y="1010792"/>
            <a:ext cx="6128861" cy="88678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spcBef>
                <a:spcPts val="75"/>
              </a:spcBef>
              <a:buFont typeface="Arial"/>
              <a:buChar char="•"/>
              <a:tabLst>
                <a:tab pos="180499" algn="l"/>
              </a:tabLst>
            </a:pPr>
            <a:r>
              <a:rPr sz="2100" spc="-8" dirty="0">
                <a:latin typeface="Trebuchet MS"/>
                <a:cs typeface="Trebuchet MS"/>
              </a:rPr>
              <a:t>FloWaveNet</a:t>
            </a:r>
            <a:endParaRPr sz="2100">
              <a:latin typeface="Trebuchet MS"/>
              <a:cs typeface="Trebuchet MS"/>
            </a:endParaRPr>
          </a:p>
          <a:p>
            <a:pPr marL="522923" lvl="1" indent="-170497">
              <a:spcBef>
                <a:spcPts val="30"/>
              </a:spcBef>
              <a:buFont typeface="Carlito"/>
              <a:buChar char="–"/>
              <a:tabLst>
                <a:tab pos="522923" algn="l"/>
              </a:tabLst>
            </a:pPr>
            <a:r>
              <a:rPr spc="135" dirty="0">
                <a:latin typeface="Trebuchet MS"/>
                <a:cs typeface="Trebuchet MS"/>
              </a:rPr>
              <a:t>A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flow-</a:t>
            </a:r>
            <a:r>
              <a:rPr dirty="0">
                <a:latin typeface="Trebuchet MS"/>
                <a:cs typeface="Trebuchet MS"/>
              </a:rPr>
              <a:t>based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generative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model</a:t>
            </a:r>
            <a:r>
              <a:rPr spc="-49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for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raw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audio</a:t>
            </a:r>
            <a:r>
              <a:rPr spc="-49" dirty="0">
                <a:latin typeface="Trebuchet MS"/>
                <a:cs typeface="Trebuchet MS"/>
              </a:rPr>
              <a:t> </a:t>
            </a:r>
            <a:r>
              <a:rPr spc="26" dirty="0">
                <a:latin typeface="Trebuchet MS"/>
                <a:cs typeface="Trebuchet MS"/>
              </a:rPr>
              <a:t>synthesis</a:t>
            </a:r>
            <a:endParaRPr>
              <a:latin typeface="Trebuchet MS"/>
              <a:cs typeface="Trebuchet MS"/>
            </a:endParaRPr>
          </a:p>
          <a:p>
            <a:pPr marL="522923" lvl="1" indent="-170497">
              <a:spcBef>
                <a:spcPts val="19"/>
              </a:spcBef>
              <a:buFont typeface="Carlito"/>
              <a:buChar char="–"/>
              <a:tabLst>
                <a:tab pos="522923" algn="l"/>
              </a:tabLst>
            </a:pPr>
            <a:r>
              <a:rPr spc="-41" dirty="0">
                <a:latin typeface="Trebuchet MS"/>
                <a:cs typeface="Trebuchet MS"/>
              </a:rPr>
              <a:t>Efficiently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34" dirty="0">
                <a:latin typeface="Trebuchet MS"/>
                <a:cs typeface="Trebuchet MS"/>
              </a:rPr>
              <a:t>samples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raw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audio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in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98" dirty="0">
                <a:latin typeface="Trebuchet MS"/>
                <a:cs typeface="Trebuchet MS"/>
              </a:rPr>
              <a:t>real-</a:t>
            </a:r>
            <a:r>
              <a:rPr spc="-15" dirty="0">
                <a:latin typeface="Trebuchet MS"/>
                <a:cs typeface="Trebuchet MS"/>
              </a:rPr>
              <a:t>time</a:t>
            </a:r>
            <a:endParaRPr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9985" y="2082908"/>
            <a:ext cx="5599763" cy="25891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9323" y="2674230"/>
            <a:ext cx="609600" cy="609599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109015" y="220777"/>
            <a:ext cx="7010400" cy="857250"/>
          </a:xfrm>
        </p:spPr>
        <p:txBody>
          <a:bodyPr>
            <a:normAutofit/>
          </a:bodyPr>
          <a:lstStyle/>
          <a:p>
            <a:r>
              <a:rPr lang="en-IN" spc="60" dirty="0"/>
              <a:t>Applications:</a:t>
            </a:r>
            <a:r>
              <a:rPr lang="en-IN" spc="-94" dirty="0"/>
              <a:t> </a:t>
            </a:r>
            <a:r>
              <a:rPr lang="en-IN" spc="60" dirty="0"/>
              <a:t>Point</a:t>
            </a:r>
            <a:r>
              <a:rPr lang="en-IN" spc="-86" dirty="0"/>
              <a:t> </a:t>
            </a:r>
            <a:r>
              <a:rPr lang="en-IN" spc="83" dirty="0"/>
              <a:t>Cloud</a:t>
            </a:r>
            <a:r>
              <a:rPr lang="en-IN" spc="-98" dirty="0"/>
              <a:t> </a:t>
            </a:r>
            <a:r>
              <a:rPr lang="en-IN" spc="75" dirty="0"/>
              <a:t>Generation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212724" rIns="0" bIns="0" rtlCol="0" anchor="ctr" anchorCtr="0">
            <a:spAutoFit/>
          </a:bodyPr>
          <a:lstStyle/>
          <a:p>
            <a:pPr marL="2118360">
              <a:spcBef>
                <a:spcPts val="75"/>
              </a:spcBef>
            </a:pPr>
            <a:r>
              <a:rPr spc="-19" dirty="0"/>
              <a:t>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69" y="898779"/>
            <a:ext cx="8410575" cy="1190871"/>
          </a:xfrm>
          <a:prstGeom prst="rect">
            <a:avLst/>
          </a:prstGeom>
        </p:spPr>
        <p:txBody>
          <a:bodyPr vert="horz" wrap="square" lIns="0" tIns="110014" rIns="0" bIns="0" rtlCol="0">
            <a:spAutoFit/>
          </a:bodyPr>
          <a:lstStyle/>
          <a:p>
            <a:pPr marL="180499" indent="-170974">
              <a:spcBef>
                <a:spcPts val="866"/>
              </a:spcBef>
              <a:buFont typeface="Arial"/>
              <a:buChar char="•"/>
              <a:tabLst>
                <a:tab pos="180499" algn="l"/>
              </a:tabLst>
            </a:pPr>
            <a:r>
              <a:rPr sz="2100" dirty="0">
                <a:latin typeface="Trebuchet MS"/>
                <a:cs typeface="Trebuchet MS"/>
              </a:rPr>
              <a:t>Mixture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Normalizing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53" dirty="0">
                <a:latin typeface="Trebuchet MS"/>
                <a:cs typeface="Trebuchet MS"/>
              </a:rPr>
              <a:t>Flows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for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modeling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135" dirty="0">
                <a:latin typeface="Trebuchet MS"/>
                <a:cs typeface="Trebuchet MS"/>
              </a:rPr>
              <a:t>3D</a:t>
            </a:r>
            <a:r>
              <a:rPr sz="2100" spc="-64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point</a:t>
            </a:r>
            <a:r>
              <a:rPr sz="2100" spc="-68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clouds</a:t>
            </a:r>
            <a:endParaRPr sz="2100">
              <a:latin typeface="Trebuchet MS"/>
              <a:cs typeface="Trebuchet MS"/>
            </a:endParaRPr>
          </a:p>
          <a:p>
            <a:pPr marL="180975" marR="3810" indent="-171450">
              <a:lnSpc>
                <a:spcPts val="2468"/>
              </a:lnSpc>
              <a:spcBef>
                <a:spcPts val="919"/>
              </a:spcBef>
              <a:buFont typeface="Arial"/>
              <a:buChar char="•"/>
              <a:tabLst>
                <a:tab pos="180975" algn="l"/>
              </a:tabLst>
            </a:pPr>
            <a:r>
              <a:rPr sz="2100" dirty="0">
                <a:latin typeface="Trebuchet MS"/>
                <a:cs typeface="Trebuchet MS"/>
              </a:rPr>
              <a:t>Each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mixture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component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learns</a:t>
            </a:r>
            <a:r>
              <a:rPr sz="2100" spc="-68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to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specialize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in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68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distinct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subregion</a:t>
            </a:r>
            <a:r>
              <a:rPr sz="2100" spc="-71" dirty="0">
                <a:latin typeface="Trebuchet MS"/>
                <a:cs typeface="Trebuchet MS"/>
              </a:rPr>
              <a:t> </a:t>
            </a:r>
            <a:r>
              <a:rPr sz="2100" spc="-19" dirty="0">
                <a:latin typeface="Trebuchet MS"/>
                <a:cs typeface="Trebuchet MS"/>
              </a:rPr>
              <a:t>in </a:t>
            </a:r>
            <a:r>
              <a:rPr sz="2100" dirty="0">
                <a:latin typeface="Trebuchet MS"/>
                <a:cs typeface="Trebuchet MS"/>
              </a:rPr>
              <a:t>an</a:t>
            </a:r>
            <a:r>
              <a:rPr sz="2100" spc="8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unsupervised</a:t>
            </a:r>
            <a:r>
              <a:rPr sz="2100" spc="11" dirty="0">
                <a:latin typeface="Trebuchet MS"/>
                <a:cs typeface="Trebuchet MS"/>
              </a:rPr>
              <a:t> </a:t>
            </a:r>
            <a:r>
              <a:rPr sz="2100" spc="-8" dirty="0">
                <a:latin typeface="Trebuchet MS"/>
                <a:cs typeface="Trebuchet MS"/>
              </a:rPr>
              <a:t>fashion.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246" y="2392797"/>
            <a:ext cx="4695939" cy="17136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2600" y="1973017"/>
            <a:ext cx="3123154" cy="2811482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02BF4C4-51CD-4B5C-B984-407CB5B9D0D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9" dirty="0"/>
              <a:t>Desiderata</a:t>
            </a:r>
            <a:r>
              <a:rPr lang="en-IN" spc="-104" dirty="0"/>
              <a:t> </a:t>
            </a:r>
            <a:r>
              <a:rPr lang="en-IN" spc="-15" dirty="0"/>
              <a:t>for</a:t>
            </a:r>
            <a:r>
              <a:rPr lang="en-IN" spc="-97" dirty="0"/>
              <a:t> </a:t>
            </a:r>
            <a:r>
              <a:rPr lang="en-IN" spc="-45" dirty="0"/>
              <a:t>flow</a:t>
            </a:r>
            <a:r>
              <a:rPr lang="en-IN" spc="-97" dirty="0"/>
              <a:t> </a:t>
            </a:r>
            <a:r>
              <a:rPr lang="en-IN" spc="-59" dirty="0"/>
              <a:t>models</a:t>
            </a:r>
            <a:endParaRPr lang="en-IN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18875">
              <a:lnSpc>
                <a:spcPts val="1003"/>
              </a:lnSpc>
            </a:pPr>
            <a:fld id="{81D60167-4931-47E6-BA6A-407CBD079E47}" type="slidenum">
              <a:rPr spc="-15" dirty="0"/>
              <a:pPr marL="18875">
                <a:lnSpc>
                  <a:spcPts val="1003"/>
                </a:lnSpc>
              </a:pPr>
              <a:t>64</a:t>
            </a:fld>
            <a:r>
              <a:rPr spc="-126" dirty="0"/>
              <a:t> </a:t>
            </a:r>
            <a:r>
              <a:rPr spc="134" dirty="0"/>
              <a:t>/</a:t>
            </a:r>
            <a:r>
              <a:rPr spc="-126" dirty="0"/>
              <a:t> </a:t>
            </a:r>
            <a:r>
              <a:rPr spc="-74" dirty="0"/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9601" y="1097269"/>
            <a:ext cx="7772400" cy="3662764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342374" marR="406751" indent="-285750">
              <a:spcBef>
                <a:spcPts val="82"/>
              </a:spcBef>
              <a:buFont typeface="Arial" panose="020B0604020202020204" pitchFamily="34" charset="0"/>
              <a:buChar char="•"/>
            </a:pP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 </a:t>
            </a:r>
            <a:r>
              <a:rPr sz="1600" i="1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1600" i="1" spc="-45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i="1" spc="-178" baseline="-1388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efficient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tractable likelihood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evaluation.</a:t>
            </a:r>
            <a:endParaRPr lang="en-IN" sz="1600" spc="10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99574" marR="406751" lvl="1" indent="-285750">
              <a:spcBef>
                <a:spcPts val="82"/>
              </a:spcBef>
              <a:buFont typeface="Arial" panose="020B0604020202020204" pitchFamily="34" charset="0"/>
              <a:buChar char="•"/>
            </a:pPr>
            <a:r>
              <a:rPr lang="en-IN"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</a:t>
            </a:r>
            <a:r>
              <a:rPr lang="en-IN"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isotropic</a:t>
            </a:r>
            <a:r>
              <a:rPr lang="en-IN"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</a:t>
            </a:r>
          </a:p>
          <a:p>
            <a:pPr marL="799574" marR="406751" lvl="1" indent="-285750">
              <a:spcBef>
                <a:spcPts val="82"/>
              </a:spcBef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indent="-285750"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lang="en-IN"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Invertible</a:t>
            </a:r>
            <a:r>
              <a:rPr lang="en-IN" sz="1600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r>
              <a:rPr lang="en-IN"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tractable</a:t>
            </a:r>
            <a:r>
              <a:rPr lang="en-IN"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evaluation: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305771" indent="-285750"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evaluation</a:t>
            </a:r>
            <a:r>
              <a:rPr sz="1600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sz="1600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b="1"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 </a:t>
            </a:r>
            <a:endParaRPr lang="en-US" sz="1600" spc="-4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305771" indent="-285750"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sz="1600" spc="-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1600" b="1" spc="2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</a:t>
            </a:r>
            <a:endParaRPr lang="en-US" sz="1600" spc="-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305771" indent="-285750">
              <a:spcBef>
                <a:spcPts val="260"/>
              </a:spcBef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74" indent="-285750">
              <a:lnSpc>
                <a:spcPts val="1873"/>
              </a:lnSpc>
              <a:spcBef>
                <a:spcPts val="282"/>
              </a:spcBef>
              <a:buFont typeface="Arial" panose="020B0604020202020204" pitchFamily="34" charset="0"/>
              <a:buChar char="•"/>
            </a:pP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Computing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likelihoods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evaluation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determinants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i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600" spc="-156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i="1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Jacobian</a:t>
            </a:r>
            <a:r>
              <a:rPr lang="en-US"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matrices,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9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i="1" spc="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dimensionality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87768" indent="-285750"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Computing</a:t>
            </a:r>
            <a:r>
              <a:rPr sz="1600" spc="-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8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determinant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600" spc="-14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i="1" spc="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baseline="2777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prohibitively </a:t>
            </a:r>
            <a:r>
              <a:rPr sz="1600" spc="-7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expensive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loop!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53844" marR="45299" indent="-285750">
              <a:lnSpc>
                <a:spcPts val="1783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z="1600" b="1" spc="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sz="1600" spc="10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tranformations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resulting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Jacobian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 </a:t>
            </a:r>
            <a:r>
              <a:rPr sz="16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structure.</a:t>
            </a:r>
            <a:r>
              <a:rPr sz="1600" spc="8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example,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determinant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59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triangular matrix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diagonal entries, </a:t>
            </a:r>
            <a:r>
              <a:rPr sz="1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i.e.,</a:t>
            </a:r>
            <a:r>
              <a:rPr sz="1600" spc="-3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1600" spc="-5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1600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774812"/>
      </p:ext>
    </p:extLst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58F708-B78F-4204-B0EB-E776D8A3DC3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Future</a:t>
            </a:r>
            <a:r>
              <a:rPr lang="en-IN" spc="-80" dirty="0"/>
              <a:t> </a:t>
            </a:r>
            <a:r>
              <a:rPr lang="en-IN" spc="-10" dirty="0"/>
              <a:t>directions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4200" y="1089025"/>
            <a:ext cx="7493000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055" indent="-3003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47368"/>
              <a:buFont typeface="Arial"/>
              <a:buChar char="■"/>
              <a:tabLst>
                <a:tab pos="31305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ultimate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goal: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likelihood-</a:t>
            </a:r>
            <a:r>
              <a:rPr sz="1900" dirty="0">
                <a:latin typeface="Calibri"/>
                <a:cs typeface="Calibri"/>
              </a:rPr>
              <a:t>based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model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with</a:t>
            </a:r>
            <a:endParaRPr sz="1900">
              <a:latin typeface="Calibri"/>
              <a:cs typeface="Calibri"/>
            </a:endParaRPr>
          </a:p>
          <a:p>
            <a:pPr marL="770255" lvl="1" indent="-305435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66666"/>
              <a:buFont typeface="Arial"/>
              <a:buChar char="■"/>
              <a:tabLst>
                <a:tab pos="770255" algn="l"/>
              </a:tabLst>
            </a:pPr>
            <a:r>
              <a:rPr sz="1500" dirty="0">
                <a:latin typeface="Calibri"/>
                <a:cs typeface="Calibri"/>
              </a:rPr>
              <a:t>fast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sampling</a:t>
            </a:r>
            <a:endParaRPr sz="1500">
              <a:latin typeface="Calibri"/>
              <a:cs typeface="Calibri"/>
            </a:endParaRPr>
          </a:p>
          <a:p>
            <a:pPr marL="770255" lvl="1" indent="-305435">
              <a:lnSpc>
                <a:spcPct val="100000"/>
              </a:lnSpc>
              <a:buClr>
                <a:srgbClr val="FF0000"/>
              </a:buClr>
              <a:buSzPct val="66666"/>
              <a:buFont typeface="Arial"/>
              <a:buChar char="■"/>
              <a:tabLst>
                <a:tab pos="770255" algn="l"/>
              </a:tabLst>
            </a:pPr>
            <a:r>
              <a:rPr sz="1500" dirty="0">
                <a:latin typeface="Calibri"/>
                <a:cs typeface="Calibri"/>
              </a:rPr>
              <a:t>fast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inference</a:t>
            </a:r>
            <a:endParaRPr sz="1500">
              <a:latin typeface="Calibri"/>
              <a:cs typeface="Calibri"/>
            </a:endParaRPr>
          </a:p>
          <a:p>
            <a:pPr marL="770255" lvl="1" indent="-305435">
              <a:lnSpc>
                <a:spcPct val="100000"/>
              </a:lnSpc>
              <a:buClr>
                <a:srgbClr val="FF0000"/>
              </a:buClr>
              <a:buSzPct val="66666"/>
              <a:buFont typeface="Arial"/>
              <a:buChar char="■"/>
              <a:tabLst>
                <a:tab pos="770255" algn="l"/>
              </a:tabLst>
            </a:pPr>
            <a:r>
              <a:rPr sz="1500" dirty="0">
                <a:latin typeface="Calibri"/>
                <a:cs typeface="Calibri"/>
              </a:rPr>
              <a:t>fast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training</a:t>
            </a:r>
            <a:endParaRPr sz="1500">
              <a:latin typeface="Calibri"/>
              <a:cs typeface="Calibri"/>
            </a:endParaRPr>
          </a:p>
          <a:p>
            <a:pPr marL="770255" lvl="1" indent="-305435">
              <a:lnSpc>
                <a:spcPct val="100000"/>
              </a:lnSpc>
              <a:buClr>
                <a:srgbClr val="FF0000"/>
              </a:buClr>
              <a:buSzPct val="66666"/>
              <a:buFont typeface="Arial"/>
              <a:buChar char="■"/>
              <a:tabLst>
                <a:tab pos="770255" algn="l"/>
              </a:tabLst>
            </a:pPr>
            <a:r>
              <a:rPr sz="1500" dirty="0">
                <a:latin typeface="Calibri"/>
                <a:cs typeface="Calibri"/>
              </a:rPr>
              <a:t>good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samples</a:t>
            </a:r>
            <a:endParaRPr sz="1500">
              <a:latin typeface="Calibri"/>
              <a:cs typeface="Calibri"/>
            </a:endParaRPr>
          </a:p>
          <a:p>
            <a:pPr marL="770255" lvl="1" indent="-305435">
              <a:lnSpc>
                <a:spcPts val="1789"/>
              </a:lnSpc>
              <a:buClr>
                <a:srgbClr val="FF0000"/>
              </a:buClr>
              <a:buSzPct val="66666"/>
              <a:buFont typeface="Arial"/>
              <a:buChar char="■"/>
              <a:tabLst>
                <a:tab pos="770255" algn="l"/>
              </a:tabLst>
            </a:pPr>
            <a:r>
              <a:rPr sz="1500" dirty="0">
                <a:latin typeface="Calibri"/>
                <a:cs typeface="Calibri"/>
              </a:rPr>
              <a:t>good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compression</a:t>
            </a:r>
            <a:endParaRPr sz="1500">
              <a:latin typeface="Calibri"/>
              <a:cs typeface="Calibri"/>
            </a:endParaRPr>
          </a:p>
          <a:p>
            <a:pPr marL="313055" indent="-300355">
              <a:lnSpc>
                <a:spcPts val="2255"/>
              </a:lnSpc>
              <a:buClr>
                <a:srgbClr val="3333CC"/>
              </a:buClr>
              <a:buSzPct val="47368"/>
              <a:buFont typeface="Arial"/>
              <a:buChar char="■"/>
              <a:tabLst>
                <a:tab pos="313055" algn="l"/>
              </a:tabLst>
            </a:pPr>
            <a:r>
              <a:rPr sz="1900" dirty="0">
                <a:latin typeface="Calibri"/>
                <a:cs typeface="Calibri"/>
              </a:rPr>
              <a:t>Flows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seem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achieve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criteria.</a:t>
            </a:r>
            <a:endParaRPr sz="1900">
              <a:latin typeface="Calibri"/>
              <a:cs typeface="Calibri"/>
            </a:endParaRPr>
          </a:p>
          <a:p>
            <a:pPr marL="313055" marR="5080" indent="-300990">
              <a:lnSpc>
                <a:spcPts val="2250"/>
              </a:lnSpc>
              <a:spcBef>
                <a:spcPts val="85"/>
              </a:spcBef>
              <a:buClr>
                <a:srgbClr val="3333CC"/>
              </a:buClr>
              <a:buSzPct val="47368"/>
              <a:buFont typeface="Arial"/>
              <a:buChar char="■"/>
              <a:tabLst>
                <a:tab pos="313055" algn="l"/>
              </a:tabLst>
            </a:pPr>
            <a:r>
              <a:rPr sz="1900" dirty="0">
                <a:latin typeface="Calibri"/>
                <a:cs typeface="Calibri"/>
              </a:rPr>
              <a:t>But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exactly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design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compose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flows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great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performance? That’s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open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question.</a:t>
            </a:r>
            <a:endParaRPr sz="1900">
              <a:latin typeface="Calibri"/>
              <a:cs typeface="Calibri"/>
            </a:endParaRPr>
          </a:p>
          <a:p>
            <a:pPr marL="313055" indent="-300355">
              <a:lnSpc>
                <a:spcPts val="2165"/>
              </a:lnSpc>
              <a:buClr>
                <a:srgbClr val="3333CC"/>
              </a:buClr>
              <a:buSzPct val="47368"/>
              <a:buFont typeface="Arial"/>
              <a:buChar char="■"/>
              <a:tabLst>
                <a:tab pos="313055" algn="l"/>
              </a:tabLst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requirements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might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pose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permanent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challenges:</a:t>
            </a:r>
            <a:endParaRPr sz="1900">
              <a:latin typeface="Calibri"/>
              <a:cs typeface="Calibri"/>
            </a:endParaRPr>
          </a:p>
          <a:p>
            <a:pPr marL="770255" lvl="1" indent="-305435">
              <a:lnSpc>
                <a:spcPts val="2250"/>
              </a:lnSpc>
              <a:buClr>
                <a:srgbClr val="FF0000"/>
              </a:buClr>
              <a:buSzPct val="52631"/>
              <a:buFont typeface="Arial"/>
              <a:buChar char="■"/>
              <a:tabLst>
                <a:tab pos="770255" algn="l"/>
              </a:tabLst>
            </a:pPr>
            <a:r>
              <a:rPr sz="1900" spc="-10" dirty="0">
                <a:latin typeface="Calibri"/>
                <a:cs typeface="Calibri"/>
              </a:rPr>
              <a:t>Dimensionality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preserving</a:t>
            </a:r>
            <a:endParaRPr sz="1900">
              <a:latin typeface="Calibri"/>
              <a:cs typeface="Calibri"/>
            </a:endParaRPr>
          </a:p>
          <a:p>
            <a:pPr marL="770255" lvl="1" indent="-305435">
              <a:lnSpc>
                <a:spcPts val="2250"/>
              </a:lnSpc>
              <a:buClr>
                <a:srgbClr val="FF0000"/>
              </a:buClr>
              <a:buSzPct val="52631"/>
              <a:buFont typeface="Arial"/>
              <a:buChar char="■"/>
              <a:tabLst>
                <a:tab pos="770255" algn="l"/>
              </a:tabLst>
            </a:pPr>
            <a:r>
              <a:rPr sz="1900" spc="-10" dirty="0">
                <a:latin typeface="Calibri"/>
                <a:cs typeface="Calibri"/>
              </a:rPr>
              <a:t>Invertibility</a:t>
            </a:r>
            <a:endParaRPr sz="1900">
              <a:latin typeface="Calibri"/>
              <a:cs typeface="Calibri"/>
            </a:endParaRPr>
          </a:p>
          <a:p>
            <a:pPr marL="770255" lvl="1" indent="-305435">
              <a:lnSpc>
                <a:spcPts val="2265"/>
              </a:lnSpc>
              <a:buClr>
                <a:srgbClr val="FF0000"/>
              </a:buClr>
              <a:buSzPct val="52631"/>
              <a:buFont typeface="Arial"/>
              <a:buChar char="■"/>
              <a:tabLst>
                <a:tab pos="770255" algn="l"/>
              </a:tabLst>
            </a:pPr>
            <a:r>
              <a:rPr sz="1900" dirty="0">
                <a:latin typeface="Calibri"/>
                <a:cs typeface="Calibri"/>
              </a:rPr>
              <a:t>Cheap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determinant</a:t>
            </a:r>
            <a:endParaRPr sz="1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30763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E3FFDB-B019-4E6F-B4DF-D2407ACC94F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Bibliography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8100">
              <a:lnSpc>
                <a:spcPts val="1335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86657" y="1006929"/>
            <a:ext cx="8610600" cy="35687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000" b="1" dirty="0">
                <a:latin typeface="Calibri"/>
                <a:cs typeface="Calibri"/>
              </a:rPr>
              <a:t>NICE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Dinh,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Laurent,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David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Krueger,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Yoshua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Bengio.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"NICE: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Non-linear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independent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components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estimation."</a:t>
            </a:r>
            <a:r>
              <a:rPr sz="1000" spc="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000" i="1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000" i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arXiv:1410.8516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(2014).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spc="-10" dirty="0">
                <a:latin typeface="Calibri"/>
                <a:cs typeface="Calibri"/>
              </a:rPr>
              <a:t>RealNVP</a:t>
            </a:r>
            <a:r>
              <a:rPr sz="1000" spc="-10" dirty="0">
                <a:latin typeface="Calibri"/>
                <a:cs typeface="Calibri"/>
              </a:rPr>
              <a:t>: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Dinh,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Laurent,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Jascha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Sohl-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Dickstein,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Samy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Bengio.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"Density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estimation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using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Real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NVP."</a:t>
            </a:r>
            <a:r>
              <a:rPr sz="1000" spc="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000" i="1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000" i="1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arXiv:1605.08803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(2016).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latin typeface="Calibri"/>
                <a:cs typeface="Calibri"/>
              </a:rPr>
              <a:t>AF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Chen,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Xi,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et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al.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"Variational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lossy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autoencoder."</a:t>
            </a:r>
            <a:r>
              <a:rPr sz="1000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000" i="1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 arXiv:1611.02731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(2016).;</a:t>
            </a:r>
            <a:endParaRPr sz="1000" dirty="0">
              <a:latin typeface="Arial"/>
              <a:cs typeface="Arial"/>
            </a:endParaRPr>
          </a:p>
          <a:p>
            <a:pPr marL="12700" marR="466090">
              <a:lnSpc>
                <a:spcPts val="1170"/>
              </a:lnSpc>
              <a:spcBef>
                <a:spcPts val="509"/>
              </a:spcBef>
            </a:pP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Masked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Arial"/>
                <a:cs typeface="Arial"/>
              </a:rPr>
              <a:t>autoregressive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flow</a:t>
            </a:r>
            <a:r>
              <a:rPr sz="10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density</a:t>
            </a:r>
            <a:r>
              <a:rPr sz="10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estimation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Papamakarios,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George,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Theo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Pavlakou,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Iain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Murray.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Advances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sz="1000" i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Neural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Information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Processing</a:t>
            </a:r>
            <a:r>
              <a:rPr sz="1000" i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Systems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2017.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latin typeface="Calibri"/>
                <a:cs typeface="Calibri"/>
              </a:rPr>
              <a:t>IAF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Improved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variational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inference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inverse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autoregressive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flow.</a:t>
            </a:r>
            <a:r>
              <a:rPr sz="1000" spc="2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Kingma,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Durk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12121"/>
                </a:solidFill>
                <a:latin typeface="Arial"/>
                <a:cs typeface="Arial"/>
              </a:rPr>
              <a:t>P.,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et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al.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Advances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neural</a:t>
            </a:r>
            <a:r>
              <a:rPr sz="1000" i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information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processing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systems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2016.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latin typeface="Calibri"/>
                <a:cs typeface="Calibri"/>
              </a:rPr>
              <a:t>Neural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Importance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Sampling</a:t>
            </a:r>
            <a:r>
              <a:rPr sz="1000" spc="-10" dirty="0">
                <a:latin typeface="Calibri"/>
                <a:cs typeface="Calibri"/>
              </a:rPr>
              <a:t>: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Müller,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Thomas,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et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al.</a:t>
            </a:r>
            <a:r>
              <a:rPr sz="1000" spc="2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0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000" i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arXiv:1808.03</a:t>
            </a:r>
            <a:endParaRPr sz="1000" dirty="0">
              <a:latin typeface="Arial"/>
              <a:cs typeface="Arial"/>
            </a:endParaRPr>
          </a:p>
          <a:p>
            <a:pPr marL="12700" marR="374015">
              <a:lnSpc>
                <a:spcPts val="1170"/>
              </a:lnSpc>
              <a:spcBef>
                <a:spcPts val="509"/>
              </a:spcBef>
            </a:pPr>
            <a:r>
              <a:rPr sz="1000" b="1" dirty="0">
                <a:latin typeface="Calibri"/>
                <a:cs typeface="Calibri"/>
              </a:rPr>
              <a:t>Glow: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Kingma,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Durk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12121"/>
                </a:solidFill>
                <a:latin typeface="Arial"/>
                <a:cs typeface="Arial"/>
              </a:rPr>
              <a:t>P.,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Prafulla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Dhariwal.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"Glow: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Generative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flow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invertible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1x1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convolutions."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Advances</a:t>
            </a:r>
            <a:r>
              <a:rPr sz="1000" i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sz="1000" i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Neural</a:t>
            </a:r>
            <a:r>
              <a:rPr sz="1000" i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Information</a:t>
            </a:r>
            <a:r>
              <a:rPr sz="1000" i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Processing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Systems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.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 2018.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spc="-10" dirty="0">
                <a:latin typeface="Calibri"/>
                <a:cs typeface="Calibri"/>
              </a:rPr>
              <a:t>FFJORD</a:t>
            </a:r>
            <a:r>
              <a:rPr sz="1000" spc="-10" dirty="0">
                <a:latin typeface="Calibri"/>
                <a:cs typeface="Calibri"/>
              </a:rPr>
              <a:t>: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Grathwohl,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Will,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et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al.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"Ffjord: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Free-form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continuous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dynamics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scalable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reversible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generative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models."</a:t>
            </a:r>
            <a:r>
              <a:rPr sz="1000" spc="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000" i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000" i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arXiv:1810.01367</a:t>
            </a:r>
            <a:r>
              <a:rPr sz="1000" i="1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(2018).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Neural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Arial"/>
                <a:cs typeface="Arial"/>
              </a:rPr>
              <a:t>Autoregressive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 Flow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sz="1000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Huang,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Chin-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Wei,</a:t>
            </a:r>
            <a:r>
              <a:rPr sz="1000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et al.</a:t>
            </a:r>
            <a:r>
              <a:rPr sz="1000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arXiv:1804.00779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(2018)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Residual</a:t>
            </a:r>
            <a:r>
              <a:rPr sz="1000" b="1" spc="-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Flows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sz="1000" b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invertible</a:t>
            </a:r>
            <a:r>
              <a:rPr sz="1000" b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generative</a:t>
            </a:r>
            <a:r>
              <a:rPr sz="1000" b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modeling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Ricky</a:t>
            </a:r>
            <a:r>
              <a:rPr sz="1000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12121"/>
                </a:solidFill>
                <a:latin typeface="Arial"/>
                <a:cs typeface="Arial"/>
              </a:rPr>
              <a:t>T.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Q.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Chen,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Jens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Behrmann,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David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Duvenaud,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Jörn-Henrik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Jacobsen,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arXiv: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1906.02735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ts val="1185"/>
              </a:lnSpc>
              <a:spcBef>
                <a:spcPts val="450"/>
              </a:spcBef>
            </a:pPr>
            <a:r>
              <a:rPr sz="1000" b="1" dirty="0">
                <a:latin typeface="Calibri"/>
                <a:cs typeface="Calibri"/>
              </a:rPr>
              <a:t>Flow++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Improving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Flow-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Based</a:t>
            </a:r>
            <a:r>
              <a:rPr sz="10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Generative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Models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Variational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Dequantization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spc="-6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Architecture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Design.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Ho,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Jonathan,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Chen,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Srinivas,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Duan,</a:t>
            </a:r>
            <a:r>
              <a:rPr sz="1000" spc="-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Abbeel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ts val="1185"/>
              </a:lnSpc>
            </a:pPr>
            <a:r>
              <a:rPr sz="1000" i="1" dirty="0">
                <a:solidFill>
                  <a:srgbClr val="212121"/>
                </a:solidFill>
                <a:latin typeface="Arial"/>
                <a:cs typeface="Arial"/>
              </a:rPr>
              <a:t>ICML 2019,</a:t>
            </a:r>
            <a:r>
              <a:rPr sz="1000" i="1" spc="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12121"/>
                </a:solidFill>
                <a:latin typeface="Arial"/>
                <a:cs typeface="Arial"/>
              </a:rPr>
              <a:t>arXiv:1902.00275</a:t>
            </a:r>
            <a:r>
              <a:rPr sz="1000" i="1" spc="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(2019).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b="1" spc="-10" dirty="0">
                <a:latin typeface="Calibri"/>
                <a:cs typeface="Calibri"/>
              </a:rPr>
              <a:t>MintNet</a:t>
            </a:r>
            <a:r>
              <a:rPr sz="1000" spc="-10" dirty="0">
                <a:latin typeface="Calibri"/>
                <a:cs typeface="Calibri"/>
              </a:rPr>
              <a:t>: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Building</a:t>
            </a:r>
            <a:r>
              <a:rPr sz="1000" spc="-10" dirty="0">
                <a:latin typeface="Calibri"/>
                <a:cs typeface="Calibri"/>
              </a:rPr>
              <a:t> Invertible Neural Networks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with</a:t>
            </a:r>
            <a:r>
              <a:rPr sz="1000" spc="-10" dirty="0">
                <a:latin typeface="Calibri"/>
                <a:cs typeface="Calibri"/>
              </a:rPr>
              <a:t> Masked Convolutions, </a:t>
            </a:r>
            <a:r>
              <a:rPr sz="1000" dirty="0">
                <a:latin typeface="Calibri"/>
                <a:cs typeface="Calibri"/>
              </a:rPr>
              <a:t>Song,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Meng,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Ermon,</a:t>
            </a:r>
            <a:r>
              <a:rPr sz="1000" spc="-10" dirty="0">
                <a:latin typeface="Calibri"/>
                <a:cs typeface="Calibri"/>
              </a:rPr>
              <a:t> NeurIPS 2019, </a:t>
            </a:r>
            <a:r>
              <a:rPr sz="1000" dirty="0">
                <a:latin typeface="Calibri"/>
                <a:cs typeface="Calibri"/>
              </a:rPr>
              <a:t>arXiv: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1907.07945</a:t>
            </a:r>
            <a:endParaRPr sz="1000" dirty="0">
              <a:latin typeface="Calibri"/>
              <a:cs typeface="Calibri"/>
            </a:endParaRPr>
          </a:p>
          <a:p>
            <a:pPr marL="12700" marR="297180">
              <a:lnSpc>
                <a:spcPts val="1170"/>
              </a:lnSpc>
              <a:spcBef>
                <a:spcPts val="509"/>
              </a:spcBef>
            </a:pP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Normalizing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Flows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Probabilistic</a:t>
            </a:r>
            <a:r>
              <a:rPr sz="1000" b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Modeling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Inference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George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Papamakarios,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Eric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Nalisnick,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Danilo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Jimenez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Rezende,</a:t>
            </a:r>
            <a:r>
              <a:rPr sz="10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Shakir</a:t>
            </a:r>
            <a:r>
              <a:rPr sz="10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Mohamed,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Balaji</a:t>
            </a:r>
            <a:r>
              <a:rPr sz="1000" spc="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Lakshminarayanan</a:t>
            </a:r>
            <a:r>
              <a:rPr sz="1000" spc="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https://arxiv.org/abs/1912.02762,</a:t>
            </a:r>
            <a:r>
              <a:rPr sz="1000" spc="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JMLR</a:t>
            </a:r>
            <a:r>
              <a:rPr sz="1000" spc="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[survey/tutorial]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Normalizing</a:t>
            </a:r>
            <a:r>
              <a:rPr sz="1000" b="1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Flows:</a:t>
            </a:r>
            <a:r>
              <a:rPr sz="1000" b="1" spc="-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An</a:t>
            </a:r>
            <a:r>
              <a:rPr sz="10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Arial"/>
                <a:cs typeface="Arial"/>
              </a:rPr>
              <a:t>Introduction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000" b="1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Review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of</a:t>
            </a:r>
            <a:r>
              <a:rPr sz="100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12121"/>
                </a:solidFill>
                <a:latin typeface="Arial"/>
                <a:cs typeface="Arial"/>
              </a:rPr>
              <a:t>Methods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Ivan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Kobyzev,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Simon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JD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Prince,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Marcus</a:t>
            </a:r>
            <a:r>
              <a:rPr sz="1000" spc="-7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1000" spc="-7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Brubaker,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IEEE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PAMI</a:t>
            </a:r>
            <a:r>
              <a:rPr sz="10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12121"/>
                </a:solidFill>
                <a:latin typeface="Arial"/>
                <a:cs typeface="Arial"/>
              </a:rPr>
              <a:t>2021</a:t>
            </a:r>
            <a:r>
              <a:rPr sz="10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"/>
                <a:cs typeface="Arial"/>
              </a:rPr>
              <a:t>[survey/tutorial]</a:t>
            </a:r>
            <a:endParaRPr sz="1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51400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37363</TotalTime>
  <Words>3830</Words>
  <Application>Microsoft Office PowerPoint</Application>
  <PresentationFormat>On-screen Show (16:9)</PresentationFormat>
  <Paragraphs>462</Paragraphs>
  <Slides>66</Slides>
  <Notes>2</Notes>
  <HiddenSlides>5</HiddenSlides>
  <MMClips>1</MMClips>
  <ScaleCrop>false</ScaleCrop>
  <HeadingPairs>
    <vt:vector size="6" baseType="variant">
      <vt:variant>
        <vt:lpstr>Fonts Used</vt:lpstr>
      </vt:variant>
      <vt:variant>
        <vt:i4>26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94" baseType="lpstr">
      <vt:lpstr>Akkadian</vt:lpstr>
      <vt:lpstr>Alfios</vt:lpstr>
      <vt:lpstr>Arial</vt:lpstr>
      <vt:lpstr>Asea</vt:lpstr>
      <vt:lpstr>BM EULJIRO TTF</vt:lpstr>
      <vt:lpstr>Bookman Old Style</vt:lpstr>
      <vt:lpstr>BPG DejaVu Sans 2011 GNU-GPL</vt:lpstr>
      <vt:lpstr>Calibri</vt:lpstr>
      <vt:lpstr>Cambria Math</vt:lpstr>
      <vt:lpstr>Carlito</vt:lpstr>
      <vt:lpstr>Courier New</vt:lpstr>
      <vt:lpstr>DejaVu Sans</vt:lpstr>
      <vt:lpstr>FreeFarsi</vt:lpstr>
      <vt:lpstr>Freestyle Script</vt:lpstr>
      <vt:lpstr>Georgia</vt:lpstr>
      <vt:lpstr>Gill Sans MT</vt:lpstr>
      <vt:lpstr>Go Smallcaps</vt:lpstr>
      <vt:lpstr>Klaudia</vt:lpstr>
      <vt:lpstr>LM Roman 10</vt:lpstr>
      <vt:lpstr>LM Roman 7</vt:lpstr>
      <vt:lpstr>Lucida Sans Unicode</vt:lpstr>
      <vt:lpstr>Tahoma</vt:lpstr>
      <vt:lpstr>Times New Roman</vt:lpstr>
      <vt:lpstr>Trebuchet MS</vt:lpstr>
      <vt:lpstr>Verdana</vt:lpstr>
      <vt:lpstr>Wingdings</vt:lpstr>
      <vt:lpstr>1_Office Theme</vt:lpstr>
      <vt:lpstr>2_Office Theme</vt:lpstr>
      <vt:lpstr>Unsupervised Deep Learning ZG533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Hema Medi</cp:lastModifiedBy>
  <cp:revision>255</cp:revision>
  <dcterms:created xsi:type="dcterms:W3CDTF">2021-03-10T15:42:36Z</dcterms:created>
  <dcterms:modified xsi:type="dcterms:W3CDTF">2026-09-01T13:06:14Z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