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668" r:id="rId2"/>
  </p:sldMasterIdLst>
  <p:notesMasterIdLst>
    <p:notesMasterId r:id="rId11"/>
  </p:notesMasterIdLst>
  <p:sldIdLst>
    <p:sldId id="315" r:id="rId3"/>
    <p:sldId id="316" r:id="rId4"/>
    <p:sldId id="517" r:id="rId5"/>
    <p:sldId id="518" r:id="rId6"/>
    <p:sldId id="519" r:id="rId7"/>
    <p:sldId id="520" r:id="rId8"/>
    <p:sldId id="521" r:id="rId9"/>
    <p:sldId id="522" r:id="rId10"/>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80182" autoAdjust="0"/>
  </p:normalViewPr>
  <p:slideViewPr>
    <p:cSldViewPr>
      <p:cViewPr varScale="1">
        <p:scale>
          <a:sx n="117" d="100"/>
          <a:sy n="117" d="100"/>
        </p:scale>
        <p:origin x="355" y="82"/>
      </p:cViewPr>
      <p:guideLst>
        <p:guide orient="horz" pos="2880"/>
        <p:guide pos="216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51966F2-D852-4790-88BA-F937A7B6C53D}" type="datetimeFigureOut">
              <a:rPr lang="en-IN" smtClean="0"/>
              <a:t>01-09-2026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2477C2E1-0CBE-46AD-AE44-0D86F64F6CD7}" type="slidenum">
              <a:rPr lang="en-IN" smtClean="0"/>
              <a:t>‹#›</a:t>
            </a:fld>
            <a:endParaRPr lang="en-IN"/>
          </a:p>
        </p:txBody>
      </p:sp>
    </p:spTree>
    <p:extLst>
      <p:ext uri="{BB962C8B-B14F-4D97-AF65-F5344CB8AC3E}">
        <p14:creationId xmlns:p14="http://schemas.microsoft.com/office/powerpoint/2010/main" val="3743461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4" name="Google Shape;4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1452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40" name="Google Shape;440;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41" name="Google Shape;441;p2: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r>
              <a:rPr lang="en-US">
                <a:solidFill>
                  <a:srgbClr val="000000"/>
                </a:solidFill>
              </a:rPr>
              <a:t>Lecture-1</a:t>
            </a:r>
            <a:endParaRPr>
              <a:solidFill>
                <a:srgbClr val="000000"/>
              </a:solidFill>
            </a:endParaRPr>
          </a:p>
        </p:txBody>
      </p:sp>
      <p:sp>
        <p:nvSpPr>
          <p:cNvPr id="442" name="Google Shape;442;p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a:pPr algn="r"/>
              <a:t>2</a:t>
            </a:fld>
            <a:endParaRPr/>
          </a:p>
        </p:txBody>
      </p:sp>
    </p:spTree>
    <p:extLst>
      <p:ext uri="{BB962C8B-B14F-4D97-AF65-F5344CB8AC3E}">
        <p14:creationId xmlns:p14="http://schemas.microsoft.com/office/powerpoint/2010/main" val="10154379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17" name="Google Shape;17;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 name="Google Shape;18;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 name="Google Shape;19;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0" name="Google Shape;20;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1" name="Google Shape;21;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2" name="Google Shape;22;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23" name="Google Shape;23;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24" name="Google Shape;24;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5" name="Google Shape;25;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6" name="Google Shape;26;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7" name="Google Shape;27;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8" name="Google Shape;28;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9" name="Google Shape;29;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30" name="Google Shape;30;p76"/>
          <p:cNvSpPr txBox="1">
            <a:spLocks noGrp="1"/>
          </p:cNvSpPr>
          <p:nvPr>
            <p:ph type="body" idx="1"/>
          </p:nvPr>
        </p:nvSpPr>
        <p:spPr>
          <a:xfrm>
            <a:off x="2514600" y="4057650"/>
            <a:ext cx="6019800" cy="400050"/>
          </a:xfrm>
          <a:prstGeom prst="rect">
            <a:avLst/>
          </a:prstGeom>
          <a:noFill/>
          <a:ln>
            <a:noFill/>
          </a:ln>
        </p:spPr>
        <p:txBody>
          <a:bodyPr spcFirstLastPara="1" wrap="square" lIns="91425" tIns="45700" rIns="91425" bIns="45700" anchor="b" anchorCtr="0">
            <a:noAutofit/>
          </a:bodyPr>
          <a:lstStyle>
            <a:lvl1pPr marL="342900" lvl="0" indent="-171450" algn="r">
              <a:lnSpc>
                <a:spcPct val="100000"/>
              </a:lnSpc>
              <a:spcBef>
                <a:spcPts val="0"/>
              </a:spcBef>
              <a:spcAft>
                <a:spcPts val="0"/>
              </a:spcAft>
              <a:buClr>
                <a:schemeClr val="lt1"/>
              </a:buClr>
              <a:buSzPts val="1800"/>
              <a:buNone/>
              <a:defRPr sz="1350">
                <a:solidFill>
                  <a:schemeClr val="lt1"/>
                </a:solidFil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31" name="Google Shape;31;p76"/>
          <p:cNvSpPr txBox="1">
            <a:spLocks noGrp="1"/>
          </p:cNvSpPr>
          <p:nvPr>
            <p:ph type="title"/>
          </p:nvPr>
        </p:nvSpPr>
        <p:spPr>
          <a:xfrm>
            <a:off x="2514600" y="2857500"/>
            <a:ext cx="6019800" cy="1143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33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231242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32"/>
        <p:cNvGrpSpPr/>
        <p:nvPr/>
      </p:nvGrpSpPr>
      <p:grpSpPr>
        <a:xfrm>
          <a:off x="0" y="0"/>
          <a:ext cx="0" cy="0"/>
          <a:chOff x="0" y="0"/>
          <a:chExt cx="0" cy="0"/>
        </a:xfrm>
      </p:grpSpPr>
      <p:pic>
        <p:nvPicPr>
          <p:cNvPr id="33" name="Google Shape;33;p77" descr="\\Server\D\jyoti\FI023_BITS_v1\styleguide img\IMG_5627_b.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4" name="Google Shape;34;p77"/>
          <p:cNvSpPr/>
          <p:nvPr/>
        </p:nvSpPr>
        <p:spPr>
          <a:xfrm>
            <a:off x="0" y="3211116"/>
            <a:ext cx="9144000" cy="1932384"/>
          </a:xfrm>
          <a:prstGeom prst="rect">
            <a:avLst/>
          </a:prstGeom>
          <a:solidFill>
            <a:schemeClr val="lt1"/>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35" name="Google Shape;35;p77" descr="Picture 7.png"/>
          <p:cNvPicPr preferRelativeResize="0"/>
          <p:nvPr/>
        </p:nvPicPr>
        <p:blipFill rotWithShape="1">
          <a:blip r:embed="rId3">
            <a:alphaModFix/>
          </a:blip>
          <a:srcRect l="1923" b="5335"/>
          <a:stretch/>
        </p:blipFill>
        <p:spPr>
          <a:xfrm>
            <a:off x="6629401" y="0"/>
            <a:ext cx="2193925" cy="519113"/>
          </a:xfrm>
          <a:prstGeom prst="rect">
            <a:avLst/>
          </a:prstGeom>
          <a:noFill/>
          <a:ln>
            <a:noFill/>
          </a:ln>
        </p:spPr>
      </p:pic>
      <p:sp>
        <p:nvSpPr>
          <p:cNvPr id="36" name="Google Shape;36;p77"/>
          <p:cNvSpPr/>
          <p:nvPr/>
        </p:nvSpPr>
        <p:spPr>
          <a:xfrm>
            <a:off x="2882900" y="5081588"/>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7" name="Google Shape;37;p77"/>
          <p:cNvSpPr/>
          <p:nvPr/>
        </p:nvSpPr>
        <p:spPr>
          <a:xfrm>
            <a:off x="-12700" y="5081588"/>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8" name="Google Shape;38;p77"/>
          <p:cNvSpPr/>
          <p:nvPr/>
        </p:nvSpPr>
        <p:spPr>
          <a:xfrm>
            <a:off x="5778500" y="5081588"/>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9" name="Google Shape;39;p77"/>
          <p:cNvSpPr txBox="1"/>
          <p:nvPr/>
        </p:nvSpPr>
        <p:spPr>
          <a:xfrm>
            <a:off x="6858000" y="57150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40" name="Google Shape;40;p77"/>
          <p:cNvSpPr txBox="1"/>
          <p:nvPr/>
        </p:nvSpPr>
        <p:spPr>
          <a:xfrm>
            <a:off x="7086600" y="87868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41" name="Google Shape;41;p77"/>
          <p:cNvSpPr txBox="1">
            <a:spLocks noGrp="1"/>
          </p:cNvSpPr>
          <p:nvPr>
            <p:ph type="body" idx="1"/>
          </p:nvPr>
        </p:nvSpPr>
        <p:spPr>
          <a:xfrm>
            <a:off x="304800" y="3486150"/>
            <a:ext cx="8458200" cy="1200150"/>
          </a:xfrm>
          <a:prstGeom prst="rect">
            <a:avLst/>
          </a:prstGeom>
          <a:noFill/>
          <a:ln>
            <a:noFill/>
          </a:ln>
        </p:spPr>
        <p:txBody>
          <a:bodyPr spcFirstLastPara="1" wrap="square" lIns="91425" tIns="45700" rIns="91425" bIns="45700" anchor="t" anchorCtr="0">
            <a:noAutofit/>
          </a:bodyPr>
          <a:lstStyle>
            <a:lvl1pPr marL="342900" lvl="0" indent="-171450" algn="l">
              <a:lnSpc>
                <a:spcPct val="104999"/>
              </a:lnSpc>
              <a:spcBef>
                <a:spcPts val="0"/>
              </a:spcBef>
              <a:spcAft>
                <a:spcPts val="0"/>
              </a:spcAft>
              <a:buClr>
                <a:schemeClr val="dk1"/>
              </a:buClr>
              <a:buSzPts val="4000"/>
              <a:buNone/>
              <a:defRPr sz="3000" b="1">
                <a:latin typeface="Arial"/>
                <a:ea typeface="Arial"/>
                <a:cs typeface="Arial"/>
                <a:sym typeface="Aria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67849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0B010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1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9/1/2026</a:t>
            </a:fld>
            <a:endParaRPr lang="en-US"/>
          </a:p>
        </p:txBody>
      </p:sp>
      <p:sp>
        <p:nvSpPr>
          <p:cNvPr id="6" name="Holder 6"/>
          <p:cNvSpPr>
            <a:spLocks noGrp="1"/>
          </p:cNvSpPr>
          <p:nvPr>
            <p:ph type="sldNum" sz="quarter" idx="7"/>
          </p:nvPr>
        </p:nvSpPr>
        <p:spPr/>
        <p:txBody>
          <a:bodyPr lIns="0" tIns="0" rIns="0" bIns="0"/>
          <a:lstStyle>
            <a:lvl1pPr>
              <a:defRPr sz="825" b="0" i="0">
                <a:solidFill>
                  <a:schemeClr val="tx1"/>
                </a:solidFill>
                <a:latin typeface="Trebuchet MS"/>
                <a:cs typeface="Trebuchet MS"/>
              </a:defRPr>
            </a:lvl1pPr>
          </a:lstStyle>
          <a:p>
            <a:pPr marL="163353">
              <a:spcBef>
                <a:spcPts val="38"/>
              </a:spcBef>
            </a:pPr>
            <a:fld id="{81D60167-4931-47E6-BA6A-407CBD079E47}" type="slidenum">
              <a:rPr lang="en-IN" spc="-38" smtClean="0">
                <a:solidFill>
                  <a:srgbClr val="FFFFFF"/>
                </a:solidFill>
              </a:rPr>
              <a:pPr marL="163353">
                <a:spcBef>
                  <a:spcPts val="38"/>
                </a:spcBef>
              </a:pPr>
              <a:t>‹#›</a:t>
            </a:fld>
            <a:endParaRPr lang="en-IN" spc="-38" dirty="0">
              <a:solidFill>
                <a:srgbClr val="FFFFFF"/>
              </a:solidFill>
            </a:endParaRPr>
          </a:p>
        </p:txBody>
      </p:sp>
    </p:spTree>
    <p:extLst>
      <p:ext uri="{BB962C8B-B14F-4D97-AF65-F5344CB8AC3E}">
        <p14:creationId xmlns:p14="http://schemas.microsoft.com/office/powerpoint/2010/main" val="3158347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0B010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9/1/2026</a:t>
            </a:fld>
            <a:endParaRPr lang="en-US"/>
          </a:p>
        </p:txBody>
      </p:sp>
      <p:sp>
        <p:nvSpPr>
          <p:cNvPr id="5" name="Holder 5"/>
          <p:cNvSpPr>
            <a:spLocks noGrp="1"/>
          </p:cNvSpPr>
          <p:nvPr>
            <p:ph type="sldNum" sz="quarter" idx="7"/>
          </p:nvPr>
        </p:nvSpPr>
        <p:spPr/>
        <p:txBody>
          <a:bodyPr lIns="0" tIns="0" rIns="0" bIns="0"/>
          <a:lstStyle>
            <a:lvl1pPr>
              <a:defRPr sz="825" b="0" i="0">
                <a:solidFill>
                  <a:schemeClr val="tx1"/>
                </a:solidFill>
                <a:latin typeface="Trebuchet MS"/>
                <a:cs typeface="Trebuchet MS"/>
              </a:defRPr>
            </a:lvl1pPr>
          </a:lstStyle>
          <a:p>
            <a:pPr marL="163353">
              <a:spcBef>
                <a:spcPts val="38"/>
              </a:spcBef>
            </a:pPr>
            <a:fld id="{81D60167-4931-47E6-BA6A-407CBD079E47}" type="slidenum">
              <a:rPr lang="en-IN" spc="-38" smtClean="0">
                <a:solidFill>
                  <a:srgbClr val="FFFFFF"/>
                </a:solidFill>
              </a:rPr>
              <a:pPr marL="163353">
                <a:spcBef>
                  <a:spcPts val="38"/>
                </a:spcBef>
              </a:pPr>
              <a:t>‹#›</a:t>
            </a:fld>
            <a:endParaRPr lang="en-IN" spc="-38" dirty="0">
              <a:solidFill>
                <a:srgbClr val="FFFFFF"/>
              </a:solidFill>
            </a:endParaRPr>
          </a:p>
        </p:txBody>
      </p:sp>
    </p:spTree>
    <p:extLst>
      <p:ext uri="{BB962C8B-B14F-4D97-AF65-F5344CB8AC3E}">
        <p14:creationId xmlns:p14="http://schemas.microsoft.com/office/powerpoint/2010/main" val="3622145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0B0101"/>
                </a:solidFill>
                <a:latin typeface="Arial"/>
                <a:cs typeface="Arial"/>
              </a:defRPr>
            </a:lvl1pPr>
          </a:lstStyle>
          <a:p>
            <a:endParaRPr/>
          </a:p>
        </p:txBody>
      </p:sp>
      <p:sp>
        <p:nvSpPr>
          <p:cNvPr id="3" name="Holder 3"/>
          <p:cNvSpPr>
            <a:spLocks noGrp="1"/>
          </p:cNvSpPr>
          <p:nvPr>
            <p:ph sz="half" idx="2"/>
          </p:nvPr>
        </p:nvSpPr>
        <p:spPr>
          <a:xfrm>
            <a:off x="457200" y="1183005"/>
            <a:ext cx="3977640" cy="56938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5693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9/1/2026</a:t>
            </a:fld>
            <a:endParaRPr lang="en-US"/>
          </a:p>
        </p:txBody>
      </p:sp>
      <p:sp>
        <p:nvSpPr>
          <p:cNvPr id="7" name="Holder 7"/>
          <p:cNvSpPr>
            <a:spLocks noGrp="1"/>
          </p:cNvSpPr>
          <p:nvPr>
            <p:ph type="sldNum" sz="quarter" idx="7"/>
          </p:nvPr>
        </p:nvSpPr>
        <p:spPr/>
        <p:txBody>
          <a:bodyPr lIns="0" tIns="0" rIns="0" bIns="0"/>
          <a:lstStyle>
            <a:lvl1pPr>
              <a:defRPr sz="825" b="0" i="0">
                <a:solidFill>
                  <a:schemeClr val="tx1"/>
                </a:solidFill>
                <a:latin typeface="Trebuchet MS"/>
                <a:cs typeface="Trebuchet MS"/>
              </a:defRPr>
            </a:lvl1pPr>
          </a:lstStyle>
          <a:p>
            <a:pPr marL="163353">
              <a:spcBef>
                <a:spcPts val="38"/>
              </a:spcBef>
            </a:pPr>
            <a:fld id="{81D60167-4931-47E6-BA6A-407CBD079E47}" type="slidenum">
              <a:rPr lang="en-IN" spc="-38" smtClean="0">
                <a:solidFill>
                  <a:srgbClr val="FFFFFF"/>
                </a:solidFill>
              </a:rPr>
              <a:pPr marL="163353">
                <a:spcBef>
                  <a:spcPts val="38"/>
                </a:spcBef>
              </a:pPr>
              <a:t>‹#›</a:t>
            </a:fld>
            <a:endParaRPr lang="en-IN" spc="-38" dirty="0">
              <a:solidFill>
                <a:srgbClr val="FFFFFF"/>
              </a:solidFill>
            </a:endParaRPr>
          </a:p>
        </p:txBody>
      </p:sp>
    </p:spTree>
    <p:extLst>
      <p:ext uri="{BB962C8B-B14F-4D97-AF65-F5344CB8AC3E}">
        <p14:creationId xmlns:p14="http://schemas.microsoft.com/office/powerpoint/2010/main" val="2446186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9/1/2026</a:t>
            </a:fld>
            <a:endParaRPr lang="en-US"/>
          </a:p>
        </p:txBody>
      </p:sp>
      <p:sp>
        <p:nvSpPr>
          <p:cNvPr id="4" name="Holder 4"/>
          <p:cNvSpPr>
            <a:spLocks noGrp="1"/>
          </p:cNvSpPr>
          <p:nvPr>
            <p:ph type="sldNum" sz="quarter" idx="7"/>
          </p:nvPr>
        </p:nvSpPr>
        <p:spPr/>
        <p:txBody>
          <a:bodyPr lIns="0" tIns="0" rIns="0" bIns="0"/>
          <a:lstStyle>
            <a:lvl1pPr>
              <a:defRPr sz="825" b="0" i="0">
                <a:solidFill>
                  <a:schemeClr val="tx1"/>
                </a:solidFill>
                <a:latin typeface="Trebuchet MS"/>
                <a:cs typeface="Trebuchet MS"/>
              </a:defRPr>
            </a:lvl1pPr>
          </a:lstStyle>
          <a:p>
            <a:pPr marL="163353">
              <a:spcBef>
                <a:spcPts val="38"/>
              </a:spcBef>
            </a:pPr>
            <a:fld id="{81D60167-4931-47E6-BA6A-407CBD079E47}" type="slidenum">
              <a:rPr lang="en-IN" spc="-38" smtClean="0">
                <a:solidFill>
                  <a:srgbClr val="FFFFFF"/>
                </a:solidFill>
              </a:rPr>
              <a:pPr marL="163353">
                <a:spcBef>
                  <a:spcPts val="38"/>
                </a:spcBef>
              </a:pPr>
              <a:t>‹#›</a:t>
            </a:fld>
            <a:endParaRPr lang="en-IN" spc="-38" dirty="0">
              <a:solidFill>
                <a:srgbClr val="FFFFFF"/>
              </a:solidFill>
            </a:endParaRPr>
          </a:p>
        </p:txBody>
      </p:sp>
    </p:spTree>
    <p:extLst>
      <p:ext uri="{BB962C8B-B14F-4D97-AF65-F5344CB8AC3E}">
        <p14:creationId xmlns:p14="http://schemas.microsoft.com/office/powerpoint/2010/main" val="410655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2"/>
        <p:cNvGrpSpPr/>
        <p:nvPr/>
      </p:nvGrpSpPr>
      <p:grpSpPr>
        <a:xfrm>
          <a:off x="0" y="0"/>
          <a:ext cx="0" cy="0"/>
          <a:chOff x="0" y="0"/>
          <a:chExt cx="0" cy="0"/>
        </a:xfrm>
      </p:grpSpPr>
      <p:sp>
        <p:nvSpPr>
          <p:cNvPr id="43" name="Google Shape;43;p78"/>
          <p:cNvSpPr txBox="1"/>
          <p:nvPr/>
        </p:nvSpPr>
        <p:spPr>
          <a:xfrm>
            <a:off x="3276600" y="4947047"/>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1050" kern="0">
              <a:solidFill>
                <a:srgbClr val="000000"/>
              </a:solidFill>
              <a:cs typeface="Arial"/>
              <a:sym typeface="Arial"/>
            </a:endParaRPr>
          </a:p>
        </p:txBody>
      </p:sp>
      <p:grpSp>
        <p:nvGrpSpPr>
          <p:cNvPr id="44" name="Google Shape;44;p78"/>
          <p:cNvGrpSpPr/>
          <p:nvPr/>
        </p:nvGrpSpPr>
        <p:grpSpPr>
          <a:xfrm>
            <a:off x="2084388" y="4912519"/>
            <a:ext cx="7059612" cy="36910"/>
            <a:chOff x="2083888" y="6550671"/>
            <a:chExt cx="7060112" cy="48665"/>
          </a:xfrm>
        </p:grpSpPr>
        <p:sp>
          <p:nvSpPr>
            <p:cNvPr id="45" name="Google Shape;45;p7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6" name="Google Shape;46;p7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7" name="Google Shape;47;p7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pic>
        <p:nvPicPr>
          <p:cNvPr id="48" name="Google Shape;48;p78" descr="Picture 7.png"/>
          <p:cNvPicPr preferRelativeResize="0"/>
          <p:nvPr/>
        </p:nvPicPr>
        <p:blipFill rotWithShape="1">
          <a:blip r:embed="rId2">
            <a:alphaModFix/>
          </a:blip>
          <a:srcRect l="1923" b="5335"/>
          <a:stretch/>
        </p:blipFill>
        <p:spPr>
          <a:xfrm>
            <a:off x="6629401" y="0"/>
            <a:ext cx="2193925" cy="519113"/>
          </a:xfrm>
          <a:prstGeom prst="rect">
            <a:avLst/>
          </a:prstGeom>
          <a:noFill/>
          <a:ln>
            <a:noFill/>
          </a:ln>
        </p:spPr>
      </p:pic>
      <p:grpSp>
        <p:nvGrpSpPr>
          <p:cNvPr id="49" name="Google Shape;49;p78"/>
          <p:cNvGrpSpPr/>
          <p:nvPr/>
        </p:nvGrpSpPr>
        <p:grpSpPr>
          <a:xfrm>
            <a:off x="2133600" y="4914900"/>
            <a:ext cx="7010400" cy="34529"/>
            <a:chOff x="1905000" y="6553200"/>
            <a:chExt cx="7010400" cy="45719"/>
          </a:xfrm>
        </p:grpSpPr>
        <p:sp>
          <p:nvSpPr>
            <p:cNvPr id="50" name="Google Shape;50;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1" name="Google Shape;51;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2" name="Google Shape;52;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53" name="Google Shape;53;p78"/>
          <p:cNvGrpSpPr/>
          <p:nvPr/>
        </p:nvGrpSpPr>
        <p:grpSpPr>
          <a:xfrm>
            <a:off x="0" y="971550"/>
            <a:ext cx="7010400" cy="34529"/>
            <a:chOff x="1905000" y="6553200"/>
            <a:chExt cx="7010400" cy="45719"/>
          </a:xfrm>
        </p:grpSpPr>
        <p:sp>
          <p:nvSpPr>
            <p:cNvPr id="54" name="Google Shape;54;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5" name="Google Shape;55;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6" name="Google Shape;56;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
        <p:nvSpPr>
          <p:cNvPr id="57" name="Google Shape;57;p78"/>
          <p:cNvSpPr txBox="1">
            <a:spLocks noGrp="1"/>
          </p:cNvSpPr>
          <p:nvPr>
            <p:ph type="body" idx="1"/>
          </p:nvPr>
        </p:nvSpPr>
        <p:spPr>
          <a:xfrm>
            <a:off x="304800" y="1120378"/>
            <a:ext cx="8229600" cy="3394472"/>
          </a:xfrm>
          <a:prstGeom prst="rect">
            <a:avLst/>
          </a:prstGeom>
          <a:noFill/>
          <a:ln>
            <a:noFill/>
          </a:ln>
        </p:spPr>
        <p:txBody>
          <a:bodyPr spcFirstLastPara="1" wrap="square" lIns="91425" tIns="45700" rIns="91425" bIns="45700" anchor="t" anchorCtr="0">
            <a:noAutofit/>
          </a:bodyPr>
          <a:lstStyle>
            <a:lvl1pPr marL="342900" marR="0" lvl="0" indent="-171450" algn="l">
              <a:lnSpc>
                <a:spcPct val="100000"/>
              </a:lnSpc>
              <a:spcBef>
                <a:spcPts val="360"/>
              </a:spcBef>
              <a:spcAft>
                <a:spcPts val="0"/>
              </a:spcAft>
              <a:buClr>
                <a:srgbClr val="101141"/>
              </a:buClr>
              <a:buSzPts val="2400"/>
              <a:buFont typeface="Arial"/>
              <a:buNone/>
              <a:defRPr sz="1800">
                <a:latin typeface="Arial"/>
                <a:ea typeface="Arial"/>
                <a:cs typeface="Arial"/>
                <a:sym typeface="Arial"/>
              </a:defRPr>
            </a:lvl1pPr>
            <a:lvl2pPr marL="685800" marR="0" lvl="1" indent="-247650" algn="l">
              <a:lnSpc>
                <a:spcPct val="100000"/>
              </a:lnSpc>
              <a:spcBef>
                <a:spcPts val="240"/>
              </a:spcBef>
              <a:spcAft>
                <a:spcPts val="0"/>
              </a:spcAft>
              <a:buClr>
                <a:schemeClr val="dk1"/>
              </a:buClr>
              <a:buSzPts val="1600"/>
              <a:buFont typeface="Arial"/>
              <a:buChar char="–"/>
              <a:defRPr sz="1200">
                <a:latin typeface="Arial"/>
                <a:ea typeface="Arial"/>
                <a:cs typeface="Arial"/>
                <a:sym typeface="Arial"/>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58" name="Google Shape;58;p78"/>
          <p:cNvSpPr txBox="1">
            <a:spLocks noGrp="1"/>
          </p:cNvSpPr>
          <p:nvPr>
            <p:ph type="body" idx="2"/>
          </p:nvPr>
        </p:nvSpPr>
        <p:spPr>
          <a:xfrm>
            <a:off x="304800" y="114300"/>
            <a:ext cx="6324600" cy="857250"/>
          </a:xfrm>
          <a:prstGeom prst="rect">
            <a:avLst/>
          </a:prstGeom>
          <a:noFill/>
          <a:ln>
            <a:noFill/>
          </a:ln>
        </p:spPr>
        <p:txBody>
          <a:bodyPr spcFirstLastPara="1" wrap="square" lIns="91425" tIns="45700" rIns="91425" bIns="45700" anchor="ctr" anchorCtr="0">
            <a:normAutofit/>
          </a:bodyPr>
          <a:lstStyle>
            <a:lvl1pPr marL="342900" lvl="0" indent="-171450" algn="l">
              <a:lnSpc>
                <a:spcPct val="100000"/>
              </a:lnSpc>
              <a:spcBef>
                <a:spcPts val="0"/>
              </a:spcBef>
              <a:spcAft>
                <a:spcPts val="0"/>
              </a:spcAft>
              <a:buClr>
                <a:schemeClr val="dk1"/>
              </a:buClr>
              <a:buSzPts val="3600"/>
              <a:buNone/>
              <a:defRPr sz="2700" b="1">
                <a:latin typeface="Arial"/>
                <a:ea typeface="Arial"/>
                <a:cs typeface="Arial"/>
                <a:sym typeface="Aria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860054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0694" y="-43994"/>
            <a:ext cx="8876030" cy="670279"/>
          </a:xfrm>
          <a:prstGeom prst="rect">
            <a:avLst/>
          </a:prstGeom>
        </p:spPr>
        <p:txBody>
          <a:bodyPr wrap="square" lIns="0" tIns="0" rIns="0" bIns="0">
            <a:spAutoFit/>
          </a:bodyPr>
          <a:lstStyle>
            <a:lvl1pPr>
              <a:defRPr sz="4000" b="0" i="0">
                <a:solidFill>
                  <a:srgbClr val="333399"/>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400" b="0" i="0" u="heavy">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100" b="0" i="0">
                <a:solidFill>
                  <a:schemeClr val="bg1"/>
                </a:solidFill>
                <a:latin typeface="Calibri"/>
                <a:cs typeface="Calibri"/>
              </a:defRPr>
            </a:lvl1pPr>
          </a:lstStyle>
          <a:p>
            <a:pPr marL="12700">
              <a:lnSpc>
                <a:spcPts val="1145"/>
              </a:lnSpc>
            </a:pPr>
            <a:r>
              <a:rPr dirty="0"/>
              <a:t>UC</a:t>
            </a:r>
            <a:r>
              <a:rPr spc="-35" dirty="0"/>
              <a:t> </a:t>
            </a:r>
            <a:r>
              <a:rPr spc="-10" dirty="0"/>
              <a:t>Berkeley</a:t>
            </a:r>
            <a:r>
              <a:rPr spc="-30" dirty="0"/>
              <a:t> </a:t>
            </a:r>
            <a:r>
              <a:rPr spc="-10" dirty="0"/>
              <a:t>-</a:t>
            </a:r>
            <a:r>
              <a:rPr dirty="0"/>
              <a:t>-</a:t>
            </a:r>
            <a:r>
              <a:rPr spc="-30" dirty="0"/>
              <a:t> </a:t>
            </a:r>
            <a:r>
              <a:rPr dirty="0"/>
              <a:t>Spring</a:t>
            </a:r>
            <a:r>
              <a:rPr spc="-35" dirty="0"/>
              <a:t> </a:t>
            </a:r>
            <a:r>
              <a:rPr dirty="0"/>
              <a:t>2024</a:t>
            </a:r>
            <a:r>
              <a:rPr spc="-30" dirty="0"/>
              <a:t> </a:t>
            </a:r>
            <a:r>
              <a:rPr spc="-10" dirty="0"/>
              <a:t>-</a:t>
            </a:r>
            <a:r>
              <a:rPr dirty="0"/>
              <a:t>-</a:t>
            </a:r>
            <a:r>
              <a:rPr spc="-30" dirty="0"/>
              <a:t> </a:t>
            </a:r>
            <a:r>
              <a:rPr dirty="0"/>
              <a:t>Deep</a:t>
            </a:r>
            <a:r>
              <a:rPr spc="-35" dirty="0"/>
              <a:t> </a:t>
            </a:r>
            <a:r>
              <a:rPr dirty="0"/>
              <a:t>Unsupervised</a:t>
            </a:r>
            <a:r>
              <a:rPr spc="-30" dirty="0"/>
              <a:t> </a:t>
            </a:r>
            <a:r>
              <a:rPr dirty="0"/>
              <a:t>Learning</a:t>
            </a:r>
            <a:r>
              <a:rPr spc="-30" dirty="0"/>
              <a:t> </a:t>
            </a:r>
            <a:r>
              <a:rPr spc="-10" dirty="0"/>
              <a:t>-</a:t>
            </a:r>
            <a:r>
              <a:rPr dirty="0"/>
              <a:t>-</a:t>
            </a:r>
            <a:r>
              <a:rPr spc="-35" dirty="0"/>
              <a:t> </a:t>
            </a:r>
            <a:r>
              <a:rPr dirty="0"/>
              <a:t>Pieter</a:t>
            </a:r>
            <a:r>
              <a:rPr spc="-30" dirty="0"/>
              <a:t> </a:t>
            </a:r>
            <a:r>
              <a:rPr dirty="0"/>
              <a:t>Abbeel,</a:t>
            </a:r>
            <a:r>
              <a:rPr spc="-30" dirty="0"/>
              <a:t> </a:t>
            </a:r>
            <a:r>
              <a:rPr dirty="0"/>
              <a:t>Kevin</a:t>
            </a:r>
            <a:r>
              <a:rPr spc="-30" dirty="0"/>
              <a:t> </a:t>
            </a:r>
            <a:r>
              <a:rPr dirty="0"/>
              <a:t>Frans,</a:t>
            </a:r>
            <a:r>
              <a:rPr spc="-35" dirty="0"/>
              <a:t> </a:t>
            </a:r>
            <a:r>
              <a:rPr dirty="0"/>
              <a:t>Philipp</a:t>
            </a:r>
            <a:r>
              <a:rPr spc="-30" dirty="0"/>
              <a:t> </a:t>
            </a:r>
            <a:r>
              <a:rPr dirty="0"/>
              <a:t>Wu,</a:t>
            </a:r>
            <a:r>
              <a:rPr spc="-30" dirty="0"/>
              <a:t> </a:t>
            </a:r>
            <a:r>
              <a:rPr dirty="0"/>
              <a:t>Wilson</a:t>
            </a:r>
            <a:r>
              <a:rPr spc="-35" dirty="0"/>
              <a:t> </a:t>
            </a:r>
            <a:r>
              <a:rPr spc="-20" dirty="0"/>
              <a:t>Yan</a:t>
            </a:r>
            <a:r>
              <a:rPr spc="-30" dirty="0"/>
              <a:t> </a:t>
            </a:r>
            <a:r>
              <a:rPr spc="-10" dirty="0"/>
              <a:t>-</a:t>
            </a:r>
            <a:r>
              <a:rPr dirty="0"/>
              <a:t>-</a:t>
            </a:r>
            <a:r>
              <a:rPr spc="-30" dirty="0"/>
              <a:t> </a:t>
            </a:r>
            <a:r>
              <a:rPr dirty="0"/>
              <a:t>L3</a:t>
            </a:r>
            <a:r>
              <a:rPr spc="-35" dirty="0"/>
              <a:t> </a:t>
            </a:r>
            <a:r>
              <a:rPr dirty="0"/>
              <a:t>Flow</a:t>
            </a:r>
            <a:r>
              <a:rPr spc="-30" dirty="0"/>
              <a:t> </a:t>
            </a:r>
            <a:r>
              <a:rPr spc="-10" dirty="0"/>
              <a:t>Models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9/1/2026</a:t>
            </a:fld>
            <a:endParaRPr lang="en-US"/>
          </a:p>
        </p:txBody>
      </p:sp>
      <p:sp>
        <p:nvSpPr>
          <p:cNvPr id="6" name="Holder 6"/>
          <p:cNvSpPr>
            <a:spLocks noGrp="1"/>
          </p:cNvSpPr>
          <p:nvPr>
            <p:ph type="sldNum" sz="quarter" idx="7"/>
          </p:nvPr>
        </p:nvSpPr>
        <p:spPr/>
        <p:txBody>
          <a:bodyPr lIns="0" tIns="0" rIns="0" bIns="0"/>
          <a:lstStyle>
            <a:lvl1pPr>
              <a:defRPr sz="1300" b="0" i="0">
                <a:solidFill>
                  <a:schemeClr val="bg1"/>
                </a:solidFill>
                <a:latin typeface="Calibri"/>
                <a:cs typeface="Calibri"/>
              </a:defRPr>
            </a:lvl1pPr>
          </a:lstStyle>
          <a:p>
            <a:pPr marL="38100">
              <a:lnSpc>
                <a:spcPts val="1335"/>
              </a:lnSpc>
            </a:pPr>
            <a:fld id="{81D60167-4931-47E6-BA6A-407CBD079E47}" type="slidenum">
              <a:rPr spc="-25" dirty="0"/>
              <a:t>‹#›</a:t>
            </a:fld>
            <a:endParaRPr spc="-25" dirty="0"/>
          </a:p>
        </p:txBody>
      </p:sp>
    </p:spTree>
    <p:extLst>
      <p:ext uri="{BB962C8B-B14F-4D97-AF65-F5344CB8AC3E}">
        <p14:creationId xmlns:p14="http://schemas.microsoft.com/office/powerpoint/2010/main" val="104592379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464402994"/>
      </p:ext>
    </p:extLst>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813298213"/>
      </p:ext>
    </p:extLst>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pic>
        <p:nvPicPr>
          <p:cNvPr id="537" name="Watermark 1"/>
          <p:cNvPicPr>
            <a:picLocks noChangeAspect="1"/>
          </p:cNvPicPr>
          <p:nvPr/>
        </p:nvPicPr>
        <p:blipFill>
          <a:blip>
            <a:extLst>
              <a:ext uri="{96DAC541-7B7A-43D3-8B79-37D633B846F1}">
                <asvg:svgBlip xmlns:asvg="http://schemas.microsoft.com/office/drawing/2016/SVG/main" r:embed="rId3"/>
              </a:ext>
            </a:extLst>
          </a:blip>
          <a:stretch>
            <a:fillRect/>
          </a:stretch>
        </p:blipFill>
        <p:spPr>
          <a:xfrm rot="4121095">
            <a:off x="-211367" y="3057707"/>
            <a:ext cx="2497376" cy="2497376"/>
          </a:xfrm>
          <a:prstGeom prst="rect">
            <a:avLst/>
          </a:prstGeom>
        </p:spPr>
      </p:pic>
      <p:pic>
        <p:nvPicPr>
          <p:cNvPr id="538" name="Watermark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83072" y="3186243"/>
            <a:ext cx="2497376" cy="2497376"/>
          </a:xfrm>
          <a:prstGeom prst="rect">
            <a:avLst/>
          </a:prstGeom>
        </p:spPr>
      </p:pic>
      <p:pic>
        <p:nvPicPr>
          <p:cNvPr id="539" name="Watermark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490737"/>
            <a:ext cx="2497376" cy="2497376"/>
          </a:xfrm>
          <a:prstGeom prst="rect">
            <a:avLst/>
          </a:prstGeom>
        </p:spPr>
      </p:pic>
      <p:pic>
        <p:nvPicPr>
          <p:cNvPr id="540" name="Watermark 4"/>
          <p:cNvPicPr>
            <a:picLocks noChangeAspect="1"/>
          </p:cNvPicPr>
          <p:nvPr/>
        </p:nvPicPr>
        <p:blipFill>
          <a:blip>
            <a:extLst>
              <a:ext uri="{96DAC541-7B7A-43D3-8B79-37D633B846F1}">
                <asvg:svgBlip xmlns:asvg="http://schemas.microsoft.com/office/drawing/2016/SVG/main" r:embed="rId3"/>
              </a:ext>
            </a:extLst>
          </a:blip>
          <a:stretch>
            <a:fillRect/>
          </a:stretch>
        </p:blipFill>
        <p:spPr>
          <a:xfrm rot="4121095">
            <a:off x="5975941" y="-294104"/>
            <a:ext cx="2497376" cy="2497376"/>
          </a:xfrm>
          <a:prstGeom prst="rect">
            <a:avLst/>
          </a:prstGeom>
        </p:spPr>
      </p:pic>
      <p:sp>
        <p:nvSpPr>
          <p:cNvPr id="436" name="Google Shape;436;p1"/>
          <p:cNvSpPr txBox="1">
            <a:spLocks noGrp="1"/>
          </p:cNvSpPr>
          <p:nvPr>
            <p:ph type="title"/>
          </p:nvPr>
        </p:nvSpPr>
        <p:spPr>
          <a:xfrm>
            <a:off x="2075361" y="2552156"/>
            <a:ext cx="6629400" cy="1143000"/>
          </a:xfrm>
          <a:prstGeom prst="rect">
            <a:avLst/>
          </a:prstGeom>
          <a:noFill/>
          <a:ln>
            <a:noFill/>
          </a:ln>
        </p:spPr>
        <p:txBody>
          <a:bodyPr spcFirstLastPara="1" wrap="square" lIns="68569" tIns="34275" rIns="68569" bIns="34275" anchor="ctr" anchorCtr="0">
            <a:noAutofit/>
          </a:bodyPr>
          <a:lstStyle/>
          <a:p>
            <a:pPr algn="ctr"/>
            <a:r>
              <a:rPr lang="en-US" sz="2800" dirty="0">
                <a:solidFill>
                  <a:srgbClr val="FFFF66"/>
                </a:solidFill>
                <a:latin typeface="Calibri"/>
                <a:ea typeface="Calibri"/>
                <a:cs typeface="Calibri"/>
                <a:sym typeface="Calibri"/>
              </a:rPr>
              <a:t>Unsupervised Deep Learning</a:t>
            </a:r>
            <a:br>
              <a:rPr lang="en-US" sz="2800" dirty="0">
                <a:solidFill>
                  <a:srgbClr val="FFFF66"/>
                </a:solidFill>
                <a:latin typeface="Calibri"/>
                <a:ea typeface="Calibri"/>
                <a:cs typeface="Calibri"/>
                <a:sym typeface="Calibri"/>
              </a:rPr>
            </a:br>
            <a:r>
              <a:rPr lang="en-US" sz="2800" dirty="0">
                <a:solidFill>
                  <a:srgbClr val="FFFF66"/>
                </a:solidFill>
                <a:latin typeface="Calibri"/>
                <a:ea typeface="Calibri"/>
                <a:cs typeface="Calibri"/>
                <a:sym typeface="Calibri"/>
              </a:rPr>
              <a:t>ZG533 </a:t>
            </a:r>
            <a:endParaRPr sz="2800" dirty="0">
              <a:solidFill>
                <a:srgbClr val="FFFF66"/>
              </a:solidFill>
              <a:latin typeface="Calibri"/>
              <a:ea typeface="Calibri"/>
              <a:cs typeface="Calibri"/>
              <a:sym typeface="Calibri"/>
            </a:endParaRPr>
          </a:p>
        </p:txBody>
      </p:sp>
      <p:sp>
        <p:nvSpPr>
          <p:cNvPr id="437" name="Google Shape;437;p1"/>
          <p:cNvSpPr txBox="1">
            <a:spLocks noGrp="1"/>
          </p:cNvSpPr>
          <p:nvPr>
            <p:ph type="body" idx="4294967295"/>
          </p:nvPr>
        </p:nvSpPr>
        <p:spPr>
          <a:xfrm>
            <a:off x="3886200" y="3695156"/>
            <a:ext cx="4457700" cy="857250"/>
          </a:xfrm>
          <a:prstGeom prst="rect">
            <a:avLst/>
          </a:prstGeom>
          <a:noFill/>
          <a:ln>
            <a:noFill/>
          </a:ln>
        </p:spPr>
        <p:txBody>
          <a:bodyPr spcFirstLastPara="1" wrap="square" lIns="68569" tIns="34275" rIns="68569" bIns="34275" anchor="t" anchorCtr="0">
            <a:normAutofit/>
          </a:bodyPr>
          <a:lstStyle/>
          <a:p>
            <a:pPr marL="274320" indent="-192024" algn="r">
              <a:spcBef>
                <a:spcPts val="0"/>
              </a:spcBef>
              <a:buClr>
                <a:schemeClr val="accent1"/>
              </a:buClr>
              <a:buSzPct val="68000"/>
              <a:buNone/>
            </a:pPr>
            <a:r>
              <a:rPr lang="en-US" sz="2100" dirty="0">
                <a:solidFill>
                  <a:schemeClr val="lt1"/>
                </a:solidFill>
                <a:latin typeface="Calibri"/>
                <a:ea typeface="Calibri"/>
                <a:cs typeface="Calibri"/>
                <a:sym typeface="Calibri"/>
              </a:rPr>
              <a:t>Dr. </a:t>
            </a:r>
            <a:r>
              <a:rPr lang="en-IN" sz="2100" dirty="0" err="1">
                <a:solidFill>
                  <a:schemeClr val="lt1"/>
                </a:solidFill>
                <a:latin typeface="Calibri"/>
                <a:ea typeface="Calibri"/>
                <a:cs typeface="Calibri"/>
                <a:sym typeface="Calibri"/>
              </a:rPr>
              <a:t>Sugata</a:t>
            </a:r>
            <a:r>
              <a:rPr lang="en-IN" sz="2100" dirty="0">
                <a:solidFill>
                  <a:schemeClr val="lt1"/>
                </a:solidFill>
                <a:latin typeface="Calibri"/>
                <a:ea typeface="Calibri"/>
                <a:cs typeface="Calibri"/>
                <a:sym typeface="Calibri"/>
              </a:rPr>
              <a:t> </a:t>
            </a:r>
            <a:r>
              <a:rPr lang="en-IN" sz="2100" dirty="0" err="1">
                <a:solidFill>
                  <a:schemeClr val="lt1"/>
                </a:solidFill>
                <a:latin typeface="Calibri"/>
                <a:ea typeface="Calibri"/>
                <a:cs typeface="Calibri"/>
                <a:sym typeface="Calibri"/>
              </a:rPr>
              <a:t>Ghosal</a:t>
            </a:r>
            <a:endParaRPr dirty="0"/>
          </a:p>
          <a:p>
            <a:pPr marL="274320" indent="-192024" algn="r">
              <a:spcBef>
                <a:spcPts val="357"/>
              </a:spcBef>
              <a:buClr>
                <a:schemeClr val="accent1"/>
              </a:buClr>
              <a:buSzPct val="68000"/>
              <a:buNone/>
            </a:pPr>
            <a:r>
              <a:rPr lang="en-US" sz="2100" dirty="0">
                <a:solidFill>
                  <a:schemeClr val="lt1"/>
                </a:solidFill>
                <a:latin typeface="Calibri"/>
                <a:ea typeface="Calibri"/>
                <a:cs typeface="Calibri"/>
                <a:sym typeface="Calibri"/>
              </a:rPr>
              <a:t>sugata.ghosal@pilani.bits-pilani.ac.in</a:t>
            </a:r>
            <a:endParaRPr sz="2100" dirty="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pic>
        <p:nvPicPr>
          <p:cNvPr id="544" name="Watermark 1"/>
          <p:cNvPicPr>
            <a:picLocks noChangeAspect="1"/>
          </p:cNvPicPr>
          <p:nvPr/>
        </p:nvPicPr>
        <p:blipFill>
          <a:blip>
            <a:extLst>
              <a:ext uri="{96DAC541-7B7A-43D3-8B79-37D633B846F1}">
                <asvg:svgBlip xmlns:asvg="http://schemas.microsoft.com/office/drawing/2016/SVG/main" r:embed="rId3"/>
              </a:ext>
            </a:extLst>
          </a:blip>
          <a:stretch>
            <a:fillRect/>
          </a:stretch>
        </p:blipFill>
        <p:spPr>
          <a:xfrm rot="4121095">
            <a:off x="-211367" y="3057707"/>
            <a:ext cx="2497376" cy="2497376"/>
          </a:xfrm>
          <a:prstGeom prst="rect">
            <a:avLst/>
          </a:prstGeom>
        </p:spPr>
      </p:pic>
      <p:pic>
        <p:nvPicPr>
          <p:cNvPr id="545" name="Watermark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83072" y="3186243"/>
            <a:ext cx="2497376" cy="2497376"/>
          </a:xfrm>
          <a:prstGeom prst="rect">
            <a:avLst/>
          </a:prstGeom>
        </p:spPr>
      </p:pic>
      <p:pic>
        <p:nvPicPr>
          <p:cNvPr id="546" name="Watermark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490737"/>
            <a:ext cx="2497376" cy="2497376"/>
          </a:xfrm>
          <a:prstGeom prst="rect">
            <a:avLst/>
          </a:prstGeom>
        </p:spPr>
      </p:pic>
      <p:pic>
        <p:nvPicPr>
          <p:cNvPr id="547" name="Watermark 4"/>
          <p:cNvPicPr>
            <a:picLocks noChangeAspect="1"/>
          </p:cNvPicPr>
          <p:nvPr/>
        </p:nvPicPr>
        <p:blipFill>
          <a:blip>
            <a:extLst>
              <a:ext uri="{96DAC541-7B7A-43D3-8B79-37D633B846F1}">
                <asvg:svgBlip xmlns:asvg="http://schemas.microsoft.com/office/drawing/2016/SVG/main" r:embed="rId3"/>
              </a:ext>
            </a:extLst>
          </a:blip>
          <a:stretch>
            <a:fillRect/>
          </a:stretch>
        </p:blipFill>
        <p:spPr>
          <a:xfrm rot="4121095">
            <a:off x="5975941" y="-294104"/>
            <a:ext cx="2497376" cy="2497376"/>
          </a:xfrm>
          <a:prstGeom prst="rect">
            <a:avLst/>
          </a:prstGeom>
        </p:spPr>
      </p:pic>
      <p:sp>
        <p:nvSpPr>
          <p:cNvPr id="444" name="Google Shape;444;p2"/>
          <p:cNvSpPr txBox="1">
            <a:spLocks noGrp="1"/>
          </p:cNvSpPr>
          <p:nvPr>
            <p:ph type="body" idx="1"/>
          </p:nvPr>
        </p:nvSpPr>
        <p:spPr>
          <a:xfrm>
            <a:off x="1371600" y="3314700"/>
            <a:ext cx="6343650" cy="1657350"/>
          </a:xfrm>
          <a:prstGeom prst="rect">
            <a:avLst/>
          </a:prstGeom>
          <a:noFill/>
          <a:ln>
            <a:noFill/>
          </a:ln>
        </p:spPr>
        <p:txBody>
          <a:bodyPr spcFirstLastPara="1" wrap="square" lIns="68569" tIns="34275" rIns="68569" bIns="34275" anchor="t" anchorCtr="0">
            <a:normAutofit fontScale="85000" lnSpcReduction="20000"/>
          </a:bodyPr>
          <a:lstStyle/>
          <a:p>
            <a:pPr marL="274320" indent="-192024" algn="ctr">
              <a:lnSpc>
                <a:spcPct val="100000"/>
              </a:lnSpc>
              <a:buClr>
                <a:schemeClr val="accent1"/>
              </a:buClr>
              <a:buSzPct val="68000"/>
            </a:pPr>
            <a:r>
              <a:rPr lang="en-US" sz="2700" dirty="0">
                <a:latin typeface="Calibri"/>
                <a:ea typeface="Calibri"/>
                <a:cs typeface="Calibri"/>
                <a:sym typeface="Calibri"/>
              </a:rPr>
              <a:t>Session 8</a:t>
            </a:r>
            <a:endParaRPr dirty="0"/>
          </a:p>
          <a:p>
            <a:pPr marL="274320" indent="-192024" algn="ctr">
              <a:lnSpc>
                <a:spcPct val="100000"/>
              </a:lnSpc>
              <a:buClr>
                <a:schemeClr val="accent1"/>
              </a:buClr>
              <a:buSzPct val="68000"/>
            </a:pPr>
            <a:endParaRPr dirty="0"/>
          </a:p>
          <a:p>
            <a:pPr marL="0" marR="132398" indent="0">
              <a:lnSpc>
                <a:spcPct val="120000"/>
              </a:lnSpc>
              <a:spcBef>
                <a:spcPts val="878"/>
              </a:spcBef>
              <a:buSzPct val="100000"/>
            </a:pPr>
            <a:r>
              <a:rPr lang="en-US" sz="1950" b="0" dirty="0">
                <a:latin typeface="Calibri"/>
                <a:ea typeface="Calibri"/>
                <a:cs typeface="Calibri"/>
                <a:sym typeface="Calibri"/>
              </a:rPr>
              <a:t>These slides are prepared by the instructor, with grateful acknowledgement of many others who made  their course materials freely available online.</a:t>
            </a:r>
            <a:endParaRPr dirty="0"/>
          </a:p>
          <a:p>
            <a:pPr marL="0" indent="0">
              <a:lnSpc>
                <a:spcPct val="117083"/>
              </a:lnSpc>
              <a:buSzPct val="100000"/>
            </a:pPr>
            <a:endParaRPr sz="2400" dirty="0">
              <a:latin typeface="Trebuchet MS"/>
              <a:ea typeface="Trebuchet MS"/>
              <a:cs typeface="Trebuchet MS"/>
              <a:sym typeface="Trebuchet MS"/>
            </a:endParaRPr>
          </a:p>
          <a:p>
            <a:pPr marL="274320" indent="-192024" algn="ctr">
              <a:lnSpc>
                <a:spcPct val="100000"/>
              </a:lnSpc>
              <a:buClr>
                <a:schemeClr val="accent1"/>
              </a:buClr>
              <a:buSzPct val="68000"/>
            </a:pPr>
            <a:endParaRPr sz="2700"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a:xfrm>
            <a:off x="304800" y="1047750"/>
            <a:ext cx="8229600" cy="3733800"/>
          </a:xfrm>
        </p:spPr>
        <p:txBody>
          <a:bodyPr/>
          <a:lstStyle/>
          <a:p>
            <a:pPr marL="457200" indent="-285750">
              <a:buFont typeface="Arial" panose="020B0604020202020204" pitchFamily="34" charset="0"/>
              <a:buChar char="•"/>
            </a:pPr>
            <a:r>
              <a:rPr lang="en-US" sz="1600" dirty="0"/>
              <a:t>Do not forget to carry a scientific calculator in the exam room, </a:t>
            </a:r>
          </a:p>
          <a:p>
            <a:pPr marL="457200" indent="-285750">
              <a:buFont typeface="Arial" panose="020B0604020202020204" pitchFamily="34" charset="0"/>
              <a:buChar char="•"/>
            </a:pPr>
            <a:r>
              <a:rPr lang="en-US" sz="1600" dirty="0"/>
              <a:t>Refresh your skills on backpropagation, weight updates, CNN and convolution operation of various types, their parameter calculation.</a:t>
            </a:r>
          </a:p>
          <a:p>
            <a:pPr marL="457200" indent="-285750">
              <a:buFont typeface="Arial" panose="020B0604020202020204" pitchFamily="34" charset="0"/>
              <a:buChar char="•"/>
            </a:pPr>
            <a:r>
              <a:rPr lang="en-US" sz="1600" dirty="0"/>
              <a:t>Syllabus includes Introduction, PCA and variants, Autoencoders, Autoregressive Models (e.g., MADE, </a:t>
            </a:r>
            <a:r>
              <a:rPr lang="en-US" sz="1600" dirty="0" err="1"/>
              <a:t>Wavenet</a:t>
            </a:r>
            <a:r>
              <a:rPr lang="en-US" sz="1600" dirty="0"/>
              <a:t>, </a:t>
            </a:r>
            <a:r>
              <a:rPr lang="en-US" sz="1600" dirty="0" err="1"/>
              <a:t>PixelCNN</a:t>
            </a:r>
            <a:r>
              <a:rPr lang="en-US" sz="1600" dirty="0"/>
              <a:t> and variants), Flow Model and variants.</a:t>
            </a:r>
          </a:p>
          <a:p>
            <a:pPr marL="457200" indent="-285750">
              <a:buFont typeface="Arial" panose="020B0604020202020204" pitchFamily="34" charset="0"/>
              <a:buChar char="•"/>
            </a:pPr>
            <a:r>
              <a:rPr lang="en-US" sz="1600" dirty="0"/>
              <a:t>Make sure to review the past question papers posted in Taxila. And practice questions/solutions.</a:t>
            </a:r>
          </a:p>
          <a:p>
            <a:pPr marL="457200" indent="-285750">
              <a:buFont typeface="Arial" panose="020B0604020202020204" pitchFamily="34" charset="0"/>
              <a:buChar char="•"/>
            </a:pPr>
            <a:r>
              <a:rPr lang="en-US" sz="1600" dirty="0"/>
              <a:t>Questions may be asked on and around Assignment 1 - code writing and syntax won’t be asked but ability to read python code, and relevant libraries and their interpretation is expected. Also, conceptual understanding on the assignment tasks may come handy during the exam. </a:t>
            </a:r>
          </a:p>
          <a:p>
            <a:pPr marL="457200" indent="-285750">
              <a:buFont typeface="Arial" panose="020B0604020202020204" pitchFamily="34" charset="0"/>
              <a:buChar char="•"/>
            </a:pPr>
            <a:r>
              <a:rPr lang="en-US" sz="1600" dirty="0"/>
              <a:t>Most of the questions will be quantitative in nature. </a:t>
            </a:r>
          </a:p>
          <a:p>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lstStyle/>
          <a:p>
            <a:r>
              <a:rPr lang="en-US" dirty="0" err="1"/>
              <a:t>Midsem</a:t>
            </a:r>
            <a:r>
              <a:rPr lang="en-US" dirty="0"/>
              <a:t> Tips</a:t>
            </a:r>
            <a:endParaRPr lang="en-IN" dirty="0"/>
          </a:p>
        </p:txBody>
      </p:sp>
    </p:spTree>
    <p:extLst>
      <p:ext uri="{BB962C8B-B14F-4D97-AF65-F5344CB8AC3E}">
        <p14:creationId xmlns:p14="http://schemas.microsoft.com/office/powerpoint/2010/main" val="3348528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p:txBody>
          <a:bodyPr/>
          <a:lstStyle/>
          <a:p>
            <a:r>
              <a:rPr lang="en-US" sz="1400" dirty="0"/>
              <a:t>The following code is used to create the encoder of a convolutional autoencoder:</a:t>
            </a:r>
          </a:p>
          <a:p>
            <a:endParaRPr lang="en-IN" sz="1400" dirty="0"/>
          </a:p>
          <a:p>
            <a:r>
              <a:rPr lang="en-US" sz="1100" dirty="0">
                <a:latin typeface="Cascadia Code" panose="020B0609020000020004" pitchFamily="49" charset="0"/>
                <a:ea typeface="Cascadia Code" panose="020B0609020000020004" pitchFamily="49" charset="0"/>
                <a:cs typeface="Cascadia Code" panose="020B0609020000020004" pitchFamily="49" charset="0"/>
              </a:rPr>
              <a:t>encoder = Sequential([</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Conv2D(32,(3,3),activation='</a:t>
            </a:r>
            <a:r>
              <a:rPr lang="en-US" sz="1100" dirty="0" err="1">
                <a:latin typeface="Cascadia Code" panose="020B0609020000020004" pitchFamily="49" charset="0"/>
                <a:ea typeface="Cascadia Code" panose="020B0609020000020004" pitchFamily="49" charset="0"/>
                <a:cs typeface="Cascadia Code" panose="020B0609020000020004" pitchFamily="49" charset="0"/>
              </a:rPr>
              <a:t>relu</a:t>
            </a:r>
            <a:r>
              <a:rPr lang="en-US" sz="1100" dirty="0">
                <a:latin typeface="Cascadia Code" panose="020B0609020000020004" pitchFamily="49" charset="0"/>
                <a:ea typeface="Cascadia Code" panose="020B0609020000020004" pitchFamily="49" charset="0"/>
                <a:cs typeface="Cascadia Code" panose="020B0609020000020004" pitchFamily="49" charset="0"/>
              </a:rPr>
              <a:t>', padding='same', </a:t>
            </a:r>
            <a:r>
              <a:rPr lang="en-US" sz="1100" dirty="0" err="1">
                <a:latin typeface="Cascadia Code" panose="020B0609020000020004" pitchFamily="49" charset="0"/>
                <a:ea typeface="Cascadia Code" panose="020B0609020000020004" pitchFamily="49" charset="0"/>
                <a:cs typeface="Cascadia Code" panose="020B0609020000020004" pitchFamily="49" charset="0"/>
              </a:rPr>
              <a:t>input_shape</a:t>
            </a:r>
            <a:r>
              <a:rPr lang="en-US" sz="1100" dirty="0">
                <a:latin typeface="Cascadia Code" panose="020B0609020000020004" pitchFamily="49" charset="0"/>
                <a:ea typeface="Cascadia Code" panose="020B0609020000020004" pitchFamily="49" charset="0"/>
                <a:cs typeface="Cascadia Code" panose="020B0609020000020004" pitchFamily="49" charset="0"/>
              </a:rPr>
              <a:t>=(28,28,1)),</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MaxPooling2D((2,2)),</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Conv2D(64,(3,3), activation='</a:t>
            </a:r>
            <a:r>
              <a:rPr lang="en-US" sz="1100" dirty="0" err="1">
                <a:latin typeface="Cascadia Code" panose="020B0609020000020004" pitchFamily="49" charset="0"/>
                <a:ea typeface="Cascadia Code" panose="020B0609020000020004" pitchFamily="49" charset="0"/>
                <a:cs typeface="Cascadia Code" panose="020B0609020000020004" pitchFamily="49" charset="0"/>
              </a:rPr>
              <a:t>relu</a:t>
            </a:r>
            <a:r>
              <a:rPr lang="en-US" sz="1100" dirty="0">
                <a:latin typeface="Cascadia Code" panose="020B0609020000020004" pitchFamily="49" charset="0"/>
                <a:ea typeface="Cascadia Code" panose="020B0609020000020004" pitchFamily="49" charset="0"/>
                <a:cs typeface="Cascadia Code" panose="020B0609020000020004" pitchFamily="49" charset="0"/>
              </a:rPr>
              <a:t>', padding='same'),</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MaxPooling2D((2,2)),</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Flatten(),</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    Dense(30,name='latent')</a:t>
            </a:r>
            <a:br>
              <a:rPr lang="en-US" sz="1100" dirty="0">
                <a:latin typeface="Cascadia Code" panose="020B0609020000020004" pitchFamily="49" charset="0"/>
                <a:ea typeface="Cascadia Code" panose="020B0609020000020004" pitchFamily="49" charset="0"/>
                <a:cs typeface="Cascadia Code" panose="020B0609020000020004" pitchFamily="49" charset="0"/>
              </a:rPr>
            </a:br>
            <a:r>
              <a:rPr lang="en-US" sz="1100" dirty="0">
                <a:latin typeface="Cascadia Code" panose="020B0609020000020004" pitchFamily="49" charset="0"/>
                <a:ea typeface="Cascadia Code" panose="020B0609020000020004" pitchFamily="49" charset="0"/>
                <a:cs typeface="Cascadia Code" panose="020B0609020000020004" pitchFamily="49" charset="0"/>
              </a:rPr>
              <a:t>])</a:t>
            </a:r>
            <a:br>
              <a:rPr lang="en-US" sz="1100" dirty="0">
                <a:latin typeface="Cascadia Code" panose="020B0609020000020004" pitchFamily="49" charset="0"/>
                <a:ea typeface="Cascadia Code" panose="020B0609020000020004" pitchFamily="49" charset="0"/>
                <a:cs typeface="Cascadia Code" panose="020B0609020000020004" pitchFamily="49" charset="0"/>
              </a:rPr>
            </a:br>
            <a:endParaRPr lang="en-IN" sz="1100" dirty="0">
              <a:latin typeface="Cascadia Code" panose="020B0609020000020004" pitchFamily="49" charset="0"/>
              <a:ea typeface="Cascadia Code" panose="020B0609020000020004" pitchFamily="49" charset="0"/>
              <a:cs typeface="Cascadia Code" panose="020B0609020000020004" pitchFamily="49" charset="0"/>
            </a:endParaRPr>
          </a:p>
          <a:p>
            <a:r>
              <a:rPr lang="en-US" sz="1400" dirty="0"/>
              <a:t>(a) Determine the output dimensions after each layer. Show your calculations. [3]</a:t>
            </a:r>
          </a:p>
          <a:p>
            <a:r>
              <a:rPr lang="en-US" sz="1400" dirty="0"/>
              <a:t>(b) Explain why the latent layer contains only 30 neurons. What role does it play in representation learning? [2]</a:t>
            </a:r>
          </a:p>
          <a:p>
            <a:r>
              <a:rPr lang="en-US" sz="1400" dirty="0"/>
              <a:t>(c) Calculate the number of trainable parameters in the first convolutional layer. [2]</a:t>
            </a:r>
          </a:p>
          <a:p>
            <a:r>
              <a:rPr lang="en-US" sz="1400" dirty="0"/>
              <a:t>(d) Explain what would happen if both </a:t>
            </a:r>
            <a:r>
              <a:rPr lang="en-US" sz="1400" dirty="0" err="1"/>
              <a:t>MaxPooling</a:t>
            </a:r>
            <a:r>
              <a:rPr lang="en-US" sz="1400" dirty="0"/>
              <a:t> layers were removed. Discuss effects on latent representation, computational complexity, and reconstruction quality. [3]</a:t>
            </a:r>
            <a:br>
              <a:rPr lang="en-US" dirty="0"/>
            </a:br>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normAutofit/>
          </a:bodyPr>
          <a:lstStyle/>
          <a:p>
            <a:r>
              <a:rPr lang="en-US" sz="2400" dirty="0"/>
              <a:t>Assignment Related Question Example</a:t>
            </a:r>
            <a:endParaRPr lang="en-IN" sz="2400" dirty="0"/>
          </a:p>
        </p:txBody>
      </p:sp>
    </p:spTree>
    <p:extLst>
      <p:ext uri="{BB962C8B-B14F-4D97-AF65-F5344CB8AC3E}">
        <p14:creationId xmlns:p14="http://schemas.microsoft.com/office/powerpoint/2010/main" val="1070075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p:txBody>
          <a:bodyPr/>
          <a:lstStyle/>
          <a:p>
            <a:r>
              <a:rPr lang="en-US" sz="1400" dirty="0"/>
              <a:t>Original:</a:t>
            </a:r>
            <a:endParaRPr lang="en-IN" dirty="0"/>
          </a:p>
          <a:p>
            <a:pPr marL="438150" lvl="1" indent="0">
              <a:buNone/>
            </a:pPr>
            <a:r>
              <a:rPr lang="en-US" dirty="0">
                <a:latin typeface="Cascadia Code" panose="020B0609020000020004" pitchFamily="49" charset="0"/>
                <a:ea typeface="Cascadia Code" panose="020B0609020000020004" pitchFamily="49" charset="0"/>
                <a:cs typeface="Cascadia Code" panose="020B0609020000020004" pitchFamily="49" charset="0"/>
              </a:rPr>
              <a:t>Conv2D(32,(3,3),activation='</a:t>
            </a:r>
            <a:r>
              <a:rPr lang="en-US" dirty="0" err="1">
                <a:latin typeface="Cascadia Code" panose="020B0609020000020004" pitchFamily="49" charset="0"/>
                <a:ea typeface="Cascadia Code" panose="020B0609020000020004" pitchFamily="49" charset="0"/>
                <a:cs typeface="Cascadia Code" panose="020B0609020000020004" pitchFamily="49" charset="0"/>
              </a:rPr>
              <a:t>relu</a:t>
            </a:r>
            <a:r>
              <a:rPr lang="en-US" dirty="0">
                <a:latin typeface="Cascadia Code" panose="020B0609020000020004" pitchFamily="49" charset="0"/>
                <a:ea typeface="Cascadia Code" panose="020B0609020000020004" pitchFamily="49" charset="0"/>
                <a:cs typeface="Cascadia Code" panose="020B0609020000020004" pitchFamily="49" charset="0"/>
              </a:rPr>
              <a:t>')</a:t>
            </a:r>
            <a:br>
              <a:rPr lang="en-US" dirty="0">
                <a:latin typeface="Cascadia Code" panose="020B0609020000020004" pitchFamily="49" charset="0"/>
                <a:ea typeface="Cascadia Code" panose="020B0609020000020004" pitchFamily="49" charset="0"/>
                <a:cs typeface="Cascadia Code" panose="020B0609020000020004" pitchFamily="49" charset="0"/>
              </a:rPr>
            </a:br>
            <a:r>
              <a:rPr lang="en-US" dirty="0">
                <a:latin typeface="Cascadia Code" panose="020B0609020000020004" pitchFamily="49" charset="0"/>
                <a:ea typeface="Cascadia Code" panose="020B0609020000020004" pitchFamily="49" charset="0"/>
                <a:cs typeface="Cascadia Code" panose="020B0609020000020004" pitchFamily="49" charset="0"/>
              </a:rPr>
              <a:t>Conv2D(64,(3,3),activation='</a:t>
            </a:r>
            <a:r>
              <a:rPr lang="en-US" dirty="0" err="1">
                <a:latin typeface="Cascadia Code" panose="020B0609020000020004" pitchFamily="49" charset="0"/>
                <a:ea typeface="Cascadia Code" panose="020B0609020000020004" pitchFamily="49" charset="0"/>
                <a:cs typeface="Cascadia Code" panose="020B0609020000020004" pitchFamily="49" charset="0"/>
              </a:rPr>
              <a:t>relu</a:t>
            </a:r>
            <a:r>
              <a:rPr lang="en-US" dirty="0">
                <a:latin typeface="Cascadia Code" panose="020B0609020000020004" pitchFamily="49" charset="0"/>
                <a:ea typeface="Cascadia Code" panose="020B0609020000020004" pitchFamily="49" charset="0"/>
                <a:cs typeface="Cascadia Code" panose="020B0609020000020004" pitchFamily="49" charset="0"/>
              </a:rPr>
              <a:t>')</a:t>
            </a:r>
            <a:endParaRPr lang="en-IN" dirty="0"/>
          </a:p>
          <a:p>
            <a:r>
              <a:rPr lang="en-US" sz="1200" dirty="0"/>
              <a:t>Modified:</a:t>
            </a:r>
            <a:endParaRPr lang="en-IN" sz="1200" dirty="0"/>
          </a:p>
          <a:p>
            <a:pPr marL="438150" lvl="1" indent="0">
              <a:buNone/>
            </a:pPr>
            <a:r>
              <a:rPr lang="en-US" sz="1400" dirty="0">
                <a:latin typeface="Cascadia Code" panose="020B0609020000020004" pitchFamily="49" charset="0"/>
                <a:ea typeface="Cascadia Code" panose="020B0609020000020004" pitchFamily="49" charset="0"/>
                <a:cs typeface="Cascadia Code" panose="020B0609020000020004" pitchFamily="49" charset="0"/>
              </a:rPr>
              <a:t>Conv2D(32,(7,7),activation='</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relu</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br>
              <a:rPr lang="en-US" sz="1400" dirty="0">
                <a:latin typeface="Cascadia Code" panose="020B0609020000020004" pitchFamily="49" charset="0"/>
                <a:ea typeface="Cascadia Code" panose="020B0609020000020004" pitchFamily="49" charset="0"/>
                <a:cs typeface="Cascadia Code" panose="020B0609020000020004" pitchFamily="49" charset="0"/>
              </a:rPr>
            </a:br>
            <a:r>
              <a:rPr lang="en-US" sz="1400" dirty="0">
                <a:latin typeface="Cascadia Code" panose="020B0609020000020004" pitchFamily="49" charset="0"/>
                <a:ea typeface="Cascadia Code" panose="020B0609020000020004" pitchFamily="49" charset="0"/>
                <a:cs typeface="Cascadia Code" panose="020B0609020000020004" pitchFamily="49" charset="0"/>
              </a:rPr>
              <a:t>Conv2D(64,(7,7),activation='</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relu</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pPr marL="438150" lvl="1" indent="0">
              <a:buNone/>
            </a:pPr>
            <a:endParaRPr lang="en-IN" sz="1400" dirty="0">
              <a:latin typeface="Cascadia Code" panose="020B0609020000020004" pitchFamily="49" charset="0"/>
              <a:ea typeface="Cascadia Code" panose="020B0609020000020004" pitchFamily="49" charset="0"/>
              <a:cs typeface="Cascadia Code" panose="020B0609020000020004" pitchFamily="49" charset="0"/>
            </a:endParaRPr>
          </a:p>
          <a:p>
            <a:r>
              <a:rPr lang="en-US" dirty="0"/>
              <a:t> (a) How will the number of trainable parameters change? [2]</a:t>
            </a:r>
          </a:p>
          <a:p>
            <a:r>
              <a:rPr lang="en-US" dirty="0"/>
              <a:t>(b) How will training time be affected? [2]</a:t>
            </a:r>
          </a:p>
          <a:p>
            <a:r>
              <a:rPr lang="en-US" dirty="0"/>
              <a:t>(c) How will the receptive field change? [2]</a:t>
            </a:r>
          </a:p>
          <a:p>
            <a:r>
              <a:rPr lang="en-US" dirty="0"/>
              <a:t>(d) Discuss possible positive and negative effects on reconstruction accuracy. [4]</a:t>
            </a:r>
            <a:br>
              <a:rPr lang="en-US" dirty="0"/>
            </a:br>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normAutofit/>
          </a:bodyPr>
          <a:lstStyle/>
          <a:p>
            <a:r>
              <a:rPr lang="en-US" sz="2400" dirty="0"/>
              <a:t>Assignment Related Question Example</a:t>
            </a:r>
            <a:endParaRPr lang="en-IN" sz="2400" dirty="0"/>
          </a:p>
        </p:txBody>
      </p:sp>
    </p:spTree>
    <p:extLst>
      <p:ext uri="{BB962C8B-B14F-4D97-AF65-F5344CB8AC3E}">
        <p14:creationId xmlns:p14="http://schemas.microsoft.com/office/powerpoint/2010/main" val="2778456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a:xfrm>
            <a:off x="304800" y="1026914"/>
            <a:ext cx="8229600" cy="3394472"/>
          </a:xfrm>
        </p:spPr>
        <p:txBody>
          <a:bodyPr/>
          <a:lstStyle/>
          <a:p>
            <a:pPr marL="457200" lvl="0" indent="-285750">
              <a:buFont typeface="Arial" panose="020B0604020202020204" pitchFamily="34" charset="0"/>
              <a:buChar char="•"/>
            </a:pPr>
            <a:r>
              <a:rPr lang="en-US" sz="1400" dirty="0"/>
              <a:t>Consider a fully connected autoencoder (each hidden node is connected to all inputs and all outputs) with two dimensional binary input and one hidden layer with sigmoid activation function.</a:t>
            </a:r>
            <a:r>
              <a:rPr lang="en-IN" sz="1400" dirty="0"/>
              <a:t> </a:t>
            </a:r>
            <a:r>
              <a:rPr lang="en-US" sz="1400" dirty="0"/>
              <a:t>At iteration t, the weights are shown in the following autoencoder architecture along with the input vector (x1=1, x2=0). All bias values are zero. Assume learning rate = 0.25 and momentum constant = 0.75. Also assume at t-1, w1= -0.5, w2=0.5, w3=0.5 and w4= -0.5.</a:t>
            </a:r>
          </a:p>
          <a:p>
            <a:pPr marL="171450" lvl="0" indent="0"/>
            <a:endParaRPr lang="en-US" sz="1400" dirty="0"/>
          </a:p>
          <a:p>
            <a:pPr marL="400050" lvl="0" indent="-228600">
              <a:buSzPct val="100000"/>
              <a:buFont typeface="+mj-lt"/>
              <a:buAutoNum type="alphaLcPeriod"/>
            </a:pPr>
            <a:r>
              <a:rPr lang="en-US" sz="1200" dirty="0"/>
              <a:t>What activation function will you choose at the output node?</a:t>
            </a:r>
          </a:p>
          <a:p>
            <a:pPr marL="400050" lvl="0" indent="-228600">
              <a:buSzPct val="100000"/>
              <a:buFont typeface="+mj-lt"/>
              <a:buAutoNum type="alphaLcPeriod"/>
            </a:pPr>
            <a:endParaRPr lang="en-IN" sz="1200" dirty="0"/>
          </a:p>
          <a:p>
            <a:pPr marL="400050" lvl="0" indent="-228600">
              <a:buSzPct val="100000"/>
              <a:buFont typeface="+mj-lt"/>
              <a:buAutoNum type="alphaLcPeriod"/>
            </a:pPr>
            <a:r>
              <a:rPr lang="en-US" sz="1200" dirty="0"/>
              <a:t>What loss function will you choose for training this autoencoder? </a:t>
            </a:r>
          </a:p>
          <a:p>
            <a:pPr marL="400050" lvl="0" indent="-228600">
              <a:buSzPct val="100000"/>
              <a:buFont typeface="+mj-lt"/>
              <a:buAutoNum type="alphaLcPeriod"/>
            </a:pPr>
            <a:endParaRPr lang="en-IN" sz="1200" dirty="0"/>
          </a:p>
          <a:p>
            <a:pPr marL="400050" lvl="0" indent="-228600">
              <a:buSzPct val="100000"/>
              <a:buFont typeface="+mj-lt"/>
              <a:buAutoNum type="alphaLcPeriod"/>
            </a:pPr>
            <a:r>
              <a:rPr lang="en-US" sz="1200" dirty="0"/>
              <a:t>What will be the value of loss function at iteration t? </a:t>
            </a:r>
          </a:p>
          <a:p>
            <a:pPr marL="400050" lvl="0" indent="-228600">
              <a:buSzPct val="100000"/>
              <a:buFont typeface="+mj-lt"/>
              <a:buAutoNum type="alphaLcPeriod"/>
            </a:pPr>
            <a:endParaRPr lang="en-IN" sz="1200" dirty="0"/>
          </a:p>
          <a:p>
            <a:pPr marL="400050" lvl="0" indent="-228600">
              <a:buSzPct val="100000"/>
              <a:buFont typeface="+mj-lt"/>
              <a:buAutoNum type="alphaLcPeriod"/>
            </a:pPr>
            <a:r>
              <a:rPr lang="en-US" sz="1200" dirty="0"/>
              <a:t>What will be the weights w1 and w3 in iteration t+1 assuming </a:t>
            </a:r>
            <a:r>
              <a:rPr lang="en-US" sz="1200" dirty="0" err="1"/>
              <a:t>ordinaryradient</a:t>
            </a:r>
            <a:r>
              <a:rPr lang="en-US" sz="1200" dirty="0"/>
              <a:t> descent? </a:t>
            </a:r>
            <a:endParaRPr lang="en-US" sz="1050" dirty="0"/>
          </a:p>
          <a:p>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lstStyle/>
          <a:p>
            <a:r>
              <a:rPr lang="en-US" dirty="0"/>
              <a:t>AE Question Example</a:t>
            </a:r>
            <a:endParaRPr lang="en-IN" dirty="0"/>
          </a:p>
        </p:txBody>
      </p:sp>
      <p:pic>
        <p:nvPicPr>
          <p:cNvPr id="1026" name="Picture 2">
            <a:extLst>
              <a:ext uri="{FF2B5EF4-FFF2-40B4-BE49-F238E27FC236}">
                <a16:creationId xmlns:a16="http://schemas.microsoft.com/office/drawing/2014/main" id="{9B5AD12D-AED4-41B2-A5C7-D67A44CD8D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266950"/>
            <a:ext cx="2144713" cy="190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8542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a:xfrm>
            <a:off x="304800" y="971550"/>
            <a:ext cx="6615853" cy="3394472"/>
          </a:xfrm>
        </p:spPr>
        <p:txBody>
          <a:bodyPr/>
          <a:lstStyle/>
          <a:p>
            <a:pPr marL="457200" indent="-285750">
              <a:buFont typeface="Arial" panose="020B0604020202020204" pitchFamily="34" charset="0"/>
              <a:buChar char="•"/>
            </a:pP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Assume the following MADE is used to calculate p(x</a:t>
            </a:r>
            <a:r>
              <a:rPr lang="en-US" alt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p(x</a:t>
            </a:r>
            <a:r>
              <a:rPr lang="en-US" alt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|x1), p(x</a:t>
            </a:r>
            <a:r>
              <a:rPr lang="en-US" alt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3</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|x</a:t>
            </a:r>
            <a:r>
              <a:rPr lang="en-US" alt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x</a:t>
            </a:r>
            <a:r>
              <a:rPr lang="en-US" altLang="en-US" baseline="-30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x</a:t>
            </a:r>
            <a:r>
              <a:rPr lang="en-US" altLang="en-US" baseline="-30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a:t>
            </a:r>
            <a:r>
              <a:rPr lang="en-US" alt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the data value at time t and x1 arrives first and so on as shown on the figure. All node numbering is given. Design all the necessary masks and show the final connections. Show all steps.</a:t>
            </a:r>
            <a:endParaRPr lang="en-US" altLang="en-US" sz="2800" dirty="0">
              <a:solidFill>
                <a:schemeClr val="tx1"/>
              </a:solidFill>
              <a:latin typeface="Arial" panose="020B0604020202020204" pitchFamily="34" charset="0"/>
            </a:endParaRPr>
          </a:p>
          <a:p>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lstStyle/>
          <a:p>
            <a:r>
              <a:rPr lang="en-US" dirty="0"/>
              <a:t>AR Model Question Example</a:t>
            </a:r>
            <a:endParaRPr lang="en-IN" dirty="0"/>
          </a:p>
        </p:txBody>
      </p:sp>
      <p:pic>
        <p:nvPicPr>
          <p:cNvPr id="2049" name="Picture 1">
            <a:extLst>
              <a:ext uri="{FF2B5EF4-FFF2-40B4-BE49-F238E27FC236}">
                <a16:creationId xmlns:a16="http://schemas.microsoft.com/office/drawing/2014/main" id="{C30286CD-7EFE-4311-AAF4-E49EEB520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1056216"/>
            <a:ext cx="2286000" cy="3572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112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728FB2-26D7-46DF-BA48-DDED7E47357B}"/>
              </a:ext>
            </a:extLst>
          </p:cNvPr>
          <p:cNvSpPr>
            <a:spLocks noGrp="1"/>
          </p:cNvSpPr>
          <p:nvPr>
            <p:ph type="body" idx="1"/>
          </p:nvPr>
        </p:nvSpPr>
        <p:spPr/>
        <p:txBody>
          <a:bodyPr/>
          <a:lstStyle/>
          <a:p>
            <a:pPr marL="457200" lvl="0" indent="-285750">
              <a:buFont typeface="Arial" panose="020B0604020202020204" pitchFamily="34" charset="0"/>
              <a:buChar char="•"/>
            </a:pPr>
            <a:r>
              <a:rPr lang="en-US" sz="1400" dirty="0"/>
              <a:t>Consider transforming a uniform base density defined on z ∈ [0, 1] using the function x = f[z] = z</a:t>
            </a:r>
            <a:r>
              <a:rPr lang="en-US" sz="1400" baseline="30000" dirty="0"/>
              <a:t>2 </a:t>
            </a:r>
            <a:r>
              <a:rPr lang="en-US" sz="1400" dirty="0"/>
              <a:t>is a flow model. Find an expression for the transformed distribution </a:t>
            </a:r>
            <a:r>
              <a:rPr lang="en-US" sz="1400" dirty="0" err="1"/>
              <a:t>Pr</a:t>
            </a:r>
            <a:r>
              <a:rPr lang="en-US" sz="1400" dirty="0"/>
              <a:t>(x).</a:t>
            </a:r>
            <a:endParaRPr lang="en-IN" sz="1400" dirty="0"/>
          </a:p>
          <a:p>
            <a:pPr marL="457200" indent="-285750">
              <a:buFont typeface="Arial" panose="020B0604020202020204" pitchFamily="34" charset="0"/>
              <a:buChar char="•"/>
            </a:pPr>
            <a:endParaRPr lang="en-IN" sz="1400" dirty="0"/>
          </a:p>
          <a:p>
            <a:r>
              <a:rPr lang="en-US" sz="1400" dirty="0"/>
              <a:t> </a:t>
            </a:r>
          </a:p>
          <a:p>
            <a:endParaRPr lang="en-US" sz="1400" dirty="0"/>
          </a:p>
          <a:p>
            <a:endParaRPr lang="en-US" sz="1400" dirty="0"/>
          </a:p>
          <a:p>
            <a:endParaRPr lang="en-US" sz="1400" dirty="0"/>
          </a:p>
          <a:p>
            <a:endParaRPr lang="en-IN" sz="1400" dirty="0"/>
          </a:p>
          <a:p>
            <a:r>
              <a:rPr lang="en-US" sz="1400" dirty="0"/>
              <a:t> </a:t>
            </a:r>
            <a:endParaRPr lang="en-IN" sz="1400" dirty="0"/>
          </a:p>
          <a:p>
            <a:pPr marL="457200" lvl="0" indent="-285750">
              <a:buFont typeface="Arial" panose="020B0604020202020204" pitchFamily="34" charset="0"/>
              <a:buChar char="•"/>
            </a:pPr>
            <a:r>
              <a:rPr lang="en-US" sz="1400" dirty="0"/>
              <a:t>Are the following functions invertible or not? Why?</a:t>
            </a:r>
            <a:endParaRPr lang="en-IN" sz="1400" dirty="0"/>
          </a:p>
          <a:p>
            <a:pPr marL="781050" lvl="2" indent="0">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z=f(x)=x</a:t>
            </a:r>
            <a:r>
              <a:rPr lang="en-US" sz="1600" baseline="30000" dirty="0">
                <a:latin typeface="Cascadia Code" panose="020B0609020000020004" pitchFamily="49" charset="0"/>
                <a:ea typeface="Cascadia Code" panose="020B0609020000020004" pitchFamily="49" charset="0"/>
                <a:cs typeface="Cascadia Code" panose="020B0609020000020004" pitchFamily="49" charset="0"/>
              </a:rPr>
              <a:t>3 </a:t>
            </a:r>
            <a:r>
              <a:rPr lang="en-US" sz="1600" dirty="0">
                <a:latin typeface="Cascadia Code" panose="020B0609020000020004" pitchFamily="49" charset="0"/>
                <a:ea typeface="Cascadia Code" panose="020B0609020000020004" pitchFamily="49" charset="0"/>
                <a:cs typeface="Cascadia Code" panose="020B0609020000020004" pitchFamily="49" charset="0"/>
              </a:rPr>
              <a:t>– x</a:t>
            </a:r>
            <a:r>
              <a:rPr lang="en-US" sz="1600" baseline="30000" dirty="0">
                <a:latin typeface="Cascadia Code" panose="020B0609020000020004" pitchFamily="49" charset="0"/>
                <a:ea typeface="Cascadia Code" panose="020B0609020000020004" pitchFamily="49" charset="0"/>
                <a:cs typeface="Cascadia Code" panose="020B0609020000020004" pitchFamily="49" charset="0"/>
              </a:rPr>
              <a:t>5 </a:t>
            </a:r>
            <a:r>
              <a:rPr lang="en-US" sz="1600" dirty="0">
                <a:latin typeface="Cascadia Code" panose="020B0609020000020004" pitchFamily="49" charset="0"/>
                <a:ea typeface="Cascadia Code" panose="020B0609020000020004" pitchFamily="49" charset="0"/>
                <a:cs typeface="Cascadia Code" panose="020B0609020000020004" pitchFamily="49" charset="0"/>
              </a:rPr>
              <a:t>+ 2x</a:t>
            </a:r>
            <a:r>
              <a:rPr lang="en-US" sz="1600" baseline="30000" dirty="0">
                <a:latin typeface="Cascadia Code" panose="020B0609020000020004" pitchFamily="49" charset="0"/>
                <a:ea typeface="Cascadia Code" panose="020B0609020000020004" pitchFamily="49" charset="0"/>
                <a:cs typeface="Cascadia Code" panose="020B0609020000020004" pitchFamily="49" charset="0"/>
              </a:rPr>
              <a:t>7 </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pPr marL="781050" lvl="2" indent="0">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z=f(x)=exp(-|x|)</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pPr marL="781050" lvl="2" indent="0">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z=f(x)=x</a:t>
            </a:r>
            <a:r>
              <a:rPr lang="en-US" sz="1600" baseline="30000" dirty="0">
                <a:latin typeface="Cascadia Code" panose="020B0609020000020004" pitchFamily="49" charset="0"/>
                <a:ea typeface="Cascadia Code" panose="020B0609020000020004" pitchFamily="49" charset="0"/>
                <a:cs typeface="Cascadia Code" panose="020B0609020000020004" pitchFamily="49" charset="0"/>
              </a:rPr>
              <a:t>2 </a:t>
            </a:r>
            <a:r>
              <a:rPr lang="en-US" sz="1600" dirty="0">
                <a:latin typeface="Cascadia Code" panose="020B0609020000020004" pitchFamily="49" charset="0"/>
                <a:ea typeface="Cascadia Code" panose="020B0609020000020004" pitchFamily="49" charset="0"/>
                <a:cs typeface="Cascadia Code" panose="020B0609020000020004" pitchFamily="49" charset="0"/>
              </a:rPr>
              <a:t>– x</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endParaRPr lang="en-IN" dirty="0"/>
          </a:p>
        </p:txBody>
      </p:sp>
      <p:sp>
        <p:nvSpPr>
          <p:cNvPr id="3" name="Text Placeholder 2">
            <a:extLst>
              <a:ext uri="{FF2B5EF4-FFF2-40B4-BE49-F238E27FC236}">
                <a16:creationId xmlns:a16="http://schemas.microsoft.com/office/drawing/2014/main" id="{BCC1D0DF-FAC7-4DA6-9960-8CE867FADED0}"/>
              </a:ext>
            </a:extLst>
          </p:cNvPr>
          <p:cNvSpPr>
            <a:spLocks noGrp="1"/>
          </p:cNvSpPr>
          <p:nvPr>
            <p:ph type="body" idx="2"/>
          </p:nvPr>
        </p:nvSpPr>
        <p:spPr/>
        <p:txBody>
          <a:bodyPr/>
          <a:lstStyle/>
          <a:p>
            <a:r>
              <a:rPr lang="en-US" dirty="0"/>
              <a:t>Flow Question Example</a:t>
            </a:r>
            <a:endParaRPr lang="en-IN" dirty="0"/>
          </a:p>
        </p:txBody>
      </p:sp>
    </p:spTree>
    <p:extLst>
      <p:ext uri="{BB962C8B-B14F-4D97-AF65-F5344CB8AC3E}">
        <p14:creationId xmlns:p14="http://schemas.microsoft.com/office/powerpoint/2010/main" val="45697079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38670</TotalTime>
  <Words>783</Words>
  <Application>Microsoft Office PowerPoint</Application>
  <PresentationFormat>On-screen Show (16:9)</PresentationFormat>
  <Paragraphs>58</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Arial</vt:lpstr>
      <vt:lpstr>Calibri</vt:lpstr>
      <vt:lpstr>Cascadia Code</vt:lpstr>
      <vt:lpstr>Tahoma</vt:lpstr>
      <vt:lpstr>Times New Roman</vt:lpstr>
      <vt:lpstr>Trebuchet MS</vt:lpstr>
      <vt:lpstr>1_Office Theme</vt:lpstr>
      <vt:lpstr>2_Office Theme</vt:lpstr>
      <vt:lpstr>Unsupervised Deep Learning ZG533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Biases and Fairness</dc:title>
  <dc:creator>bits</dc:creator>
  <cp:lastModifiedBy>Hema Medi</cp:lastModifiedBy>
  <cp:revision>262</cp:revision>
  <dcterms:created xsi:type="dcterms:W3CDTF">2021-03-10T15:42:36Z</dcterms:created>
  <dcterms:modified xsi:type="dcterms:W3CDTF">2026-09-01T13:04:36Z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LastSaved">
    <vt:filetime>2021-03-10T00:00:00Z</vt:filetime>
  </property>
</Properties>
</file>